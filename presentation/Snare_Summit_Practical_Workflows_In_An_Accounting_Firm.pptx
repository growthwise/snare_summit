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4" d="100"/>
          <a:sy n="154" d="100"/>
        </p:scale>
        <p:origin x="492"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0567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3747"/>
        </a:solidFill>
        <a:effectLst/>
      </p:bgPr>
    </p:bg>
    <p:spTree>
      <p:nvGrpSpPr>
        <p:cNvPr id="1" name=""/>
        <p:cNvGrpSpPr/>
        <p:nvPr/>
      </p:nvGrpSpPr>
      <p:grpSpPr>
        <a:xfrm>
          <a:off x="0" y="0"/>
          <a:ext cx="0" cy="0"/>
          <a:chOff x="0" y="0"/>
          <a:chExt cx="0" cy="0"/>
        </a:xfrm>
      </p:grpSpPr>
      <p:sp>
        <p:nvSpPr>
          <p:cNvPr id="2" name="Shape 0"/>
          <p:cNvSpPr/>
          <p:nvPr/>
        </p:nvSpPr>
        <p:spPr>
          <a:xfrm>
            <a:off x="10725912" y="-1280160"/>
            <a:ext cx="3108960" cy="3108960"/>
          </a:xfrm>
          <a:prstGeom prst="ellipse">
            <a:avLst/>
          </a:prstGeom>
          <a:solidFill>
            <a:srgbClr val="FF7800"/>
          </a:solidFill>
          <a:ln/>
        </p:spPr>
        <p:txBody>
          <a:bodyPr/>
          <a:lstStyle/>
          <a:p>
            <a:endParaRPr lang="en-US"/>
          </a:p>
        </p:txBody>
      </p:sp>
      <p:sp>
        <p:nvSpPr>
          <p:cNvPr id="3" name="Shape 1"/>
          <p:cNvSpPr/>
          <p:nvPr/>
        </p:nvSpPr>
        <p:spPr>
          <a:xfrm>
            <a:off x="-1463040" y="5394960"/>
            <a:ext cx="2560320" cy="2560320"/>
          </a:xfrm>
          <a:prstGeom prst="ellipse">
            <a:avLst/>
          </a:prstGeom>
          <a:solidFill>
            <a:srgbClr val="6FA73F"/>
          </a:solidFill>
          <a:ln/>
        </p:spPr>
        <p:txBody>
          <a:bodyPr/>
          <a:lstStyle/>
          <a:p>
            <a:endParaRPr lang="en-US"/>
          </a:p>
        </p:txBody>
      </p:sp>
      <p:sp>
        <p:nvSpPr>
          <p:cNvPr id="5" name="Text 3"/>
          <p:cNvSpPr/>
          <p:nvPr/>
        </p:nvSpPr>
        <p:spPr>
          <a:xfrm>
            <a:off x="548640" y="2331720"/>
            <a:ext cx="9601200" cy="1737360"/>
          </a:xfrm>
          <a:prstGeom prst="rect">
            <a:avLst/>
          </a:prstGeom>
          <a:noFill/>
          <a:ln/>
        </p:spPr>
        <p:txBody>
          <a:bodyPr wrap="square" rtlCol="0" anchor="ctr"/>
          <a:lstStyle/>
          <a:p>
            <a:pPr marL="0" indent="0" algn="l">
              <a:lnSpc>
                <a:spcPts val="4600"/>
              </a:lnSpc>
              <a:buNone/>
            </a:pPr>
            <a:r>
              <a:rPr lang="en-US" sz="4200" b="1" dirty="0">
                <a:solidFill>
                  <a:srgbClr val="FFFFFF"/>
                </a:solidFill>
                <a:latin typeface="Poppins" pitchFamily="34" charset="0"/>
                <a:ea typeface="Poppins" pitchFamily="34" charset="-122"/>
                <a:cs typeface="Poppins" pitchFamily="34" charset="-120"/>
              </a:rPr>
              <a:t>Practical Workflows in an </a:t>
            </a:r>
            <a:r>
              <a:rPr lang="en-US" sz="4200" b="1" dirty="0">
                <a:solidFill>
                  <a:srgbClr val="FF7800"/>
                </a:solidFill>
                <a:latin typeface="Poppins" pitchFamily="34" charset="0"/>
                <a:ea typeface="Poppins" pitchFamily="34" charset="-122"/>
                <a:cs typeface="Poppins" pitchFamily="34" charset="-120"/>
              </a:rPr>
              <a:t>Accounting Firm</a:t>
            </a:r>
            <a:endParaRPr lang="en-US" sz="4200" dirty="0"/>
          </a:p>
        </p:txBody>
      </p:sp>
      <p:sp>
        <p:nvSpPr>
          <p:cNvPr id="6" name="Text 4"/>
          <p:cNvSpPr/>
          <p:nvPr/>
        </p:nvSpPr>
        <p:spPr>
          <a:xfrm>
            <a:off x="548640" y="3794760"/>
            <a:ext cx="7498080" cy="822960"/>
          </a:xfrm>
          <a:prstGeom prst="rect">
            <a:avLst/>
          </a:prstGeom>
          <a:noFill/>
          <a:ln/>
        </p:spPr>
        <p:txBody>
          <a:bodyPr wrap="square" rtlCol="0" anchor="ctr"/>
          <a:lstStyle/>
          <a:p>
            <a:pPr marL="0" indent="0" algn="l">
              <a:lnSpc>
                <a:spcPts val="2100"/>
              </a:lnSpc>
              <a:buNone/>
            </a:pPr>
            <a:r>
              <a:rPr lang="en-US" sz="1500" dirty="0">
                <a:solidFill>
                  <a:srgbClr val="C6CCD4"/>
                </a:solidFill>
                <a:latin typeface="Poppins" pitchFamily="34" charset="0"/>
                <a:ea typeface="Poppins" pitchFamily="34" charset="-122"/>
                <a:cs typeface="Poppins" pitchFamily="34" charset="-120"/>
              </a:rPr>
              <a:t>Eliminate. Automate. Delegate. A simple framework for changing the way your firm works — with a real example, start to finish.</a:t>
            </a:r>
            <a:endParaRPr lang="en-US" sz="1500" dirty="0"/>
          </a:p>
        </p:txBody>
      </p:sp>
      <p:pic>
        <p:nvPicPr>
          <p:cNvPr id="9" name="Picture 8">
            <a:extLst>
              <a:ext uri="{FF2B5EF4-FFF2-40B4-BE49-F238E27FC236}">
                <a16:creationId xmlns:a16="http://schemas.microsoft.com/office/drawing/2014/main" id="{86FFFA8D-934C-288C-5610-4FA5AEF14EC3}"/>
              </a:ext>
            </a:extLst>
          </p:cNvPr>
          <p:cNvPicPr>
            <a:picLocks noChangeAspect="1"/>
          </p:cNvPicPr>
          <p:nvPr/>
        </p:nvPicPr>
        <p:blipFill>
          <a:blip r:embed="rId3"/>
          <a:stretch>
            <a:fillRect/>
          </a:stretch>
        </p:blipFill>
        <p:spPr>
          <a:xfrm>
            <a:off x="548640" y="1034813"/>
            <a:ext cx="2560321" cy="7939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WHAT WE'LL COVER</a:t>
            </a:r>
            <a:endParaRPr lang="en-US" sz="1100" dirty="0"/>
          </a:p>
        </p:txBody>
      </p:sp>
      <p:sp>
        <p:nvSpPr>
          <p:cNvPr id="3" name="Text 1"/>
          <p:cNvSpPr/>
          <p:nvPr/>
        </p:nvSpPr>
        <p:spPr>
          <a:xfrm>
            <a:off x="548640" y="777240"/>
            <a:ext cx="9144000" cy="640080"/>
          </a:xfrm>
          <a:prstGeom prst="rect">
            <a:avLst/>
          </a:prstGeom>
          <a:noFill/>
          <a:ln/>
        </p:spPr>
        <p:txBody>
          <a:bodyPr wrap="square" rtlCol="0" anchor="ctr"/>
          <a:lstStyle/>
          <a:p>
            <a:pPr marL="0" indent="0">
              <a:buNone/>
            </a:pPr>
            <a:r>
              <a:rPr lang="en-US" sz="2800" b="1" dirty="0">
                <a:solidFill>
                  <a:srgbClr val="2B3747"/>
                </a:solidFill>
                <a:latin typeface="Poppins" pitchFamily="34" charset="0"/>
                <a:ea typeface="Poppins" pitchFamily="34" charset="-122"/>
                <a:cs typeface="Poppins" pitchFamily="34" charset="-120"/>
              </a:rPr>
              <a:t>Your next 60 minutes.</a:t>
            </a:r>
            <a:endParaRPr lang="en-US" sz="2800" dirty="0"/>
          </a:p>
        </p:txBody>
      </p:sp>
      <p:sp>
        <p:nvSpPr>
          <p:cNvPr id="4" name="Shape 2"/>
          <p:cNvSpPr/>
          <p:nvPr/>
        </p:nvSpPr>
        <p:spPr>
          <a:xfrm>
            <a:off x="548640" y="1828800"/>
            <a:ext cx="2606040" cy="3566160"/>
          </a:xfrm>
          <a:prstGeom prst="roundRect">
            <a:avLst>
              <a:gd name="adj" fmla="val 2807"/>
            </a:avLst>
          </a:prstGeom>
          <a:solidFill>
            <a:srgbClr val="FFFFFF"/>
          </a:solidFill>
          <a:ln w="12700">
            <a:solidFill>
              <a:srgbClr val="D9D2C3"/>
            </a:solidFill>
            <a:prstDash val="solid"/>
          </a:ln>
        </p:spPr>
        <p:txBody>
          <a:bodyPr/>
          <a:lstStyle/>
          <a:p>
            <a:endParaRPr lang="en-US"/>
          </a:p>
        </p:txBody>
      </p:sp>
      <p:sp>
        <p:nvSpPr>
          <p:cNvPr id="5" name="Text 3"/>
          <p:cNvSpPr/>
          <p:nvPr/>
        </p:nvSpPr>
        <p:spPr>
          <a:xfrm>
            <a:off x="777240" y="2103120"/>
            <a:ext cx="1371600" cy="457200"/>
          </a:xfrm>
          <a:prstGeom prst="rect">
            <a:avLst/>
          </a:prstGeom>
          <a:noFill/>
          <a:ln/>
        </p:spPr>
        <p:txBody>
          <a:bodyPr wrap="square" rtlCol="0" anchor="ctr"/>
          <a:lstStyle/>
          <a:p>
            <a:pPr marL="0" indent="0">
              <a:buNone/>
            </a:pPr>
            <a:r>
              <a:rPr lang="en-US" sz="2000" b="1" dirty="0">
                <a:solidFill>
                  <a:srgbClr val="FF7800"/>
                </a:solidFill>
                <a:latin typeface="Poppins" pitchFamily="34" charset="0"/>
                <a:ea typeface="Poppins" pitchFamily="34" charset="-122"/>
                <a:cs typeface="Poppins" pitchFamily="34" charset="-120"/>
              </a:rPr>
              <a:t>01</a:t>
            </a:r>
            <a:endParaRPr lang="en-US" sz="2000" dirty="0"/>
          </a:p>
        </p:txBody>
      </p:sp>
      <p:sp>
        <p:nvSpPr>
          <p:cNvPr id="6" name="Text 4"/>
          <p:cNvSpPr/>
          <p:nvPr/>
        </p:nvSpPr>
        <p:spPr>
          <a:xfrm>
            <a:off x="777240" y="2697480"/>
            <a:ext cx="2148840" cy="640080"/>
          </a:xfrm>
          <a:prstGeom prst="rect">
            <a:avLst/>
          </a:prstGeom>
          <a:noFill/>
          <a:ln/>
        </p:spPr>
        <p:txBody>
          <a:bodyPr wrap="square" rtlCol="0" anchor="ctr"/>
          <a:lstStyle/>
          <a:p>
            <a:pPr marL="0" indent="0">
              <a:lnSpc>
                <a:spcPts val="1800"/>
              </a:lnSpc>
              <a:buNone/>
            </a:pPr>
            <a:r>
              <a:rPr lang="en-US" sz="1500" b="1" dirty="0">
                <a:solidFill>
                  <a:srgbClr val="2B3747"/>
                </a:solidFill>
                <a:latin typeface="Poppins" pitchFamily="34" charset="0"/>
                <a:ea typeface="Poppins" pitchFamily="34" charset="-122"/>
                <a:cs typeface="Poppins" pitchFamily="34" charset="-120"/>
              </a:rPr>
              <a:t>Foundations</a:t>
            </a:r>
            <a:endParaRPr lang="en-US" sz="1500" dirty="0"/>
          </a:p>
        </p:txBody>
      </p:sp>
      <p:sp>
        <p:nvSpPr>
          <p:cNvPr id="7" name="Text 5"/>
          <p:cNvSpPr/>
          <p:nvPr/>
        </p:nvSpPr>
        <p:spPr>
          <a:xfrm>
            <a:off x="777240" y="3429000"/>
            <a:ext cx="2148840" cy="1737360"/>
          </a:xfrm>
          <a:prstGeom prst="rect">
            <a:avLst/>
          </a:prstGeom>
          <a:noFill/>
          <a:ln/>
        </p:spPr>
        <p:txBody>
          <a:bodyPr wrap="square" rtlCol="0" anchor="ctr"/>
          <a:lstStyle/>
          <a:p>
            <a:pPr>
              <a:lnSpc>
                <a:spcPts val="1500"/>
              </a:lnSpc>
            </a:pPr>
            <a:r>
              <a:rPr lang="en-US" sz="1100" dirty="0">
                <a:solidFill>
                  <a:srgbClr val="6B7684"/>
                </a:solidFill>
                <a:latin typeface="Poppins" pitchFamily="34" charset="0"/>
                <a:ea typeface="Poppins" pitchFamily="34" charset="-122"/>
                <a:cs typeface="Poppins" pitchFamily="34" charset="-120"/>
              </a:rPr>
              <a:t>Eliminate, Automate, Delegate - the framework we use for every workflow:</a:t>
            </a:r>
            <a:endParaRPr lang="en-US" sz="1100" dirty="0"/>
          </a:p>
        </p:txBody>
      </p:sp>
      <p:sp>
        <p:nvSpPr>
          <p:cNvPr id="8" name="Shape 6"/>
          <p:cNvSpPr/>
          <p:nvPr/>
        </p:nvSpPr>
        <p:spPr>
          <a:xfrm>
            <a:off x="3383280" y="1828800"/>
            <a:ext cx="2606040" cy="3566160"/>
          </a:xfrm>
          <a:prstGeom prst="roundRect">
            <a:avLst>
              <a:gd name="adj" fmla="val 2807"/>
            </a:avLst>
          </a:prstGeom>
          <a:solidFill>
            <a:srgbClr val="FFFFFF"/>
          </a:solidFill>
          <a:ln w="12700">
            <a:solidFill>
              <a:srgbClr val="D9D2C3"/>
            </a:solidFill>
            <a:prstDash val="solid"/>
          </a:ln>
        </p:spPr>
        <p:txBody>
          <a:bodyPr/>
          <a:lstStyle/>
          <a:p>
            <a:endParaRPr lang="en-US"/>
          </a:p>
        </p:txBody>
      </p:sp>
      <p:sp>
        <p:nvSpPr>
          <p:cNvPr id="9" name="Text 7"/>
          <p:cNvSpPr/>
          <p:nvPr/>
        </p:nvSpPr>
        <p:spPr>
          <a:xfrm>
            <a:off x="3611880" y="2103120"/>
            <a:ext cx="1371600" cy="457200"/>
          </a:xfrm>
          <a:prstGeom prst="rect">
            <a:avLst/>
          </a:prstGeom>
          <a:noFill/>
          <a:ln/>
        </p:spPr>
        <p:txBody>
          <a:bodyPr wrap="square" rtlCol="0" anchor="ctr"/>
          <a:lstStyle/>
          <a:p>
            <a:pPr marL="0" indent="0">
              <a:buNone/>
            </a:pPr>
            <a:r>
              <a:rPr lang="en-US" sz="2000" b="1" dirty="0">
                <a:solidFill>
                  <a:srgbClr val="FF7800"/>
                </a:solidFill>
                <a:latin typeface="Poppins" pitchFamily="34" charset="0"/>
                <a:ea typeface="Poppins" pitchFamily="34" charset="-122"/>
                <a:cs typeface="Poppins" pitchFamily="34" charset="-120"/>
              </a:rPr>
              <a:t>02</a:t>
            </a:r>
            <a:endParaRPr lang="en-US" sz="2000" dirty="0"/>
          </a:p>
        </p:txBody>
      </p:sp>
      <p:sp>
        <p:nvSpPr>
          <p:cNvPr id="10" name="Text 8"/>
          <p:cNvSpPr/>
          <p:nvPr/>
        </p:nvSpPr>
        <p:spPr>
          <a:xfrm>
            <a:off x="3611880" y="2697480"/>
            <a:ext cx="2148840" cy="640080"/>
          </a:xfrm>
          <a:prstGeom prst="rect">
            <a:avLst/>
          </a:prstGeom>
          <a:noFill/>
          <a:ln/>
        </p:spPr>
        <p:txBody>
          <a:bodyPr wrap="square" rtlCol="0" anchor="ctr"/>
          <a:lstStyle/>
          <a:p>
            <a:pPr marL="0" indent="0">
              <a:lnSpc>
                <a:spcPts val="1800"/>
              </a:lnSpc>
              <a:buNone/>
            </a:pPr>
            <a:r>
              <a:rPr lang="en-US" sz="1500" b="1" dirty="0">
                <a:solidFill>
                  <a:srgbClr val="2B3747"/>
                </a:solidFill>
                <a:latin typeface="Poppins" pitchFamily="34" charset="0"/>
                <a:ea typeface="Poppins" pitchFamily="34" charset="-122"/>
                <a:cs typeface="Poppins" pitchFamily="34" charset="-120"/>
              </a:rPr>
              <a:t>Our System</a:t>
            </a:r>
            <a:endParaRPr lang="en-US" sz="1500" dirty="0"/>
          </a:p>
        </p:txBody>
      </p:sp>
      <p:sp>
        <p:nvSpPr>
          <p:cNvPr id="11" name="Text 9"/>
          <p:cNvSpPr/>
          <p:nvPr/>
        </p:nvSpPr>
        <p:spPr>
          <a:xfrm>
            <a:off x="3611880" y="3429000"/>
            <a:ext cx="2148840" cy="1737360"/>
          </a:xfrm>
          <a:prstGeom prst="rect">
            <a:avLst/>
          </a:prstGeom>
          <a:noFill/>
          <a:ln/>
        </p:spPr>
        <p:txBody>
          <a:bodyPr wrap="square" rtlCol="0" anchor="ctr"/>
          <a:lstStyle/>
          <a:p>
            <a:pPr marL="0" indent="0">
              <a:lnSpc>
                <a:spcPts val="1500"/>
              </a:lnSpc>
              <a:buNone/>
            </a:pPr>
            <a:r>
              <a:rPr lang="en-US" sz="1100" dirty="0">
                <a:solidFill>
                  <a:srgbClr val="6B7684"/>
                </a:solidFill>
                <a:latin typeface="Poppins" pitchFamily="34" charset="0"/>
                <a:ea typeface="Poppins" pitchFamily="34" charset="-122"/>
                <a:cs typeface="Poppins" pitchFamily="34" charset="-120"/>
              </a:rPr>
              <a:t>Research, Build, Test - how we actually action a change, step by step.</a:t>
            </a:r>
            <a:endParaRPr lang="en-US" sz="1100" dirty="0"/>
          </a:p>
        </p:txBody>
      </p:sp>
      <p:sp>
        <p:nvSpPr>
          <p:cNvPr id="12" name="Shape 10"/>
          <p:cNvSpPr/>
          <p:nvPr/>
        </p:nvSpPr>
        <p:spPr>
          <a:xfrm>
            <a:off x="6217920" y="1828800"/>
            <a:ext cx="2606040" cy="3566160"/>
          </a:xfrm>
          <a:prstGeom prst="roundRect">
            <a:avLst>
              <a:gd name="adj" fmla="val 2807"/>
            </a:avLst>
          </a:prstGeom>
          <a:solidFill>
            <a:srgbClr val="FFFFFF"/>
          </a:solidFill>
          <a:ln w="12700">
            <a:solidFill>
              <a:srgbClr val="D9D2C3"/>
            </a:solidFill>
            <a:prstDash val="solid"/>
          </a:ln>
        </p:spPr>
        <p:txBody>
          <a:bodyPr/>
          <a:lstStyle/>
          <a:p>
            <a:endParaRPr lang="en-US"/>
          </a:p>
        </p:txBody>
      </p:sp>
      <p:sp>
        <p:nvSpPr>
          <p:cNvPr id="13" name="Text 11"/>
          <p:cNvSpPr/>
          <p:nvPr/>
        </p:nvSpPr>
        <p:spPr>
          <a:xfrm>
            <a:off x="6446520" y="2103120"/>
            <a:ext cx="1371600" cy="457200"/>
          </a:xfrm>
          <a:prstGeom prst="rect">
            <a:avLst/>
          </a:prstGeom>
          <a:noFill/>
          <a:ln/>
        </p:spPr>
        <p:txBody>
          <a:bodyPr wrap="square" rtlCol="0" anchor="ctr"/>
          <a:lstStyle/>
          <a:p>
            <a:pPr marL="0" indent="0">
              <a:buNone/>
            </a:pPr>
            <a:r>
              <a:rPr lang="en-US" sz="2000" b="1" dirty="0">
                <a:solidFill>
                  <a:srgbClr val="FF7800"/>
                </a:solidFill>
                <a:latin typeface="Poppins" pitchFamily="34" charset="0"/>
                <a:ea typeface="Poppins" pitchFamily="34" charset="-122"/>
                <a:cs typeface="Poppins" pitchFamily="34" charset="-120"/>
              </a:rPr>
              <a:t>03</a:t>
            </a:r>
            <a:endParaRPr lang="en-US" sz="2000" dirty="0"/>
          </a:p>
        </p:txBody>
      </p:sp>
      <p:sp>
        <p:nvSpPr>
          <p:cNvPr id="14" name="Text 12"/>
          <p:cNvSpPr/>
          <p:nvPr/>
        </p:nvSpPr>
        <p:spPr>
          <a:xfrm>
            <a:off x="6446520" y="2697480"/>
            <a:ext cx="2148840" cy="640080"/>
          </a:xfrm>
          <a:prstGeom prst="rect">
            <a:avLst/>
          </a:prstGeom>
          <a:noFill/>
          <a:ln/>
        </p:spPr>
        <p:txBody>
          <a:bodyPr wrap="square" rtlCol="0" anchor="ctr"/>
          <a:lstStyle/>
          <a:p>
            <a:pPr marL="0" indent="0">
              <a:lnSpc>
                <a:spcPts val="1800"/>
              </a:lnSpc>
              <a:buNone/>
            </a:pPr>
            <a:r>
              <a:rPr lang="en-US" sz="1500" b="1" dirty="0">
                <a:solidFill>
                  <a:srgbClr val="2B3747"/>
                </a:solidFill>
                <a:latin typeface="Poppins" pitchFamily="34" charset="0"/>
                <a:ea typeface="Poppins" pitchFamily="34" charset="-122"/>
                <a:cs typeface="Poppins" pitchFamily="34" charset="-120"/>
              </a:rPr>
              <a:t>A Real Example</a:t>
            </a:r>
            <a:endParaRPr lang="en-US" sz="1500" dirty="0"/>
          </a:p>
        </p:txBody>
      </p:sp>
      <p:sp>
        <p:nvSpPr>
          <p:cNvPr id="15" name="Text 13"/>
          <p:cNvSpPr/>
          <p:nvPr/>
        </p:nvSpPr>
        <p:spPr>
          <a:xfrm>
            <a:off x="6446520" y="3429000"/>
            <a:ext cx="2148840" cy="1737360"/>
          </a:xfrm>
          <a:prstGeom prst="rect">
            <a:avLst/>
          </a:prstGeom>
          <a:noFill/>
          <a:ln/>
        </p:spPr>
        <p:txBody>
          <a:bodyPr wrap="square" rtlCol="0" anchor="ctr"/>
          <a:lstStyle/>
          <a:p>
            <a:pPr marL="0" indent="0">
              <a:lnSpc>
                <a:spcPts val="1500"/>
              </a:lnSpc>
              <a:buNone/>
            </a:pPr>
            <a:r>
              <a:rPr lang="en-US" sz="1100" dirty="0">
                <a:solidFill>
                  <a:srgbClr val="6B7684"/>
                </a:solidFill>
                <a:latin typeface="Poppins" pitchFamily="34" charset="0"/>
                <a:ea typeface="Poppins" pitchFamily="34" charset="-122"/>
                <a:cs typeface="Poppins" pitchFamily="34" charset="-120"/>
              </a:rPr>
              <a:t>BAS working paper reviews- what we tried, what failed, and what worked.</a:t>
            </a:r>
            <a:endParaRPr lang="en-US" sz="1100" dirty="0"/>
          </a:p>
        </p:txBody>
      </p:sp>
      <p:sp>
        <p:nvSpPr>
          <p:cNvPr id="16" name="Shape 14"/>
          <p:cNvSpPr/>
          <p:nvPr/>
        </p:nvSpPr>
        <p:spPr>
          <a:xfrm>
            <a:off x="9052560" y="1828800"/>
            <a:ext cx="2606040" cy="3566160"/>
          </a:xfrm>
          <a:prstGeom prst="roundRect">
            <a:avLst>
              <a:gd name="adj" fmla="val 2807"/>
            </a:avLst>
          </a:prstGeom>
          <a:solidFill>
            <a:srgbClr val="FFFFFF"/>
          </a:solidFill>
          <a:ln w="12700">
            <a:solidFill>
              <a:srgbClr val="D9D2C3"/>
            </a:solidFill>
            <a:prstDash val="solid"/>
          </a:ln>
        </p:spPr>
        <p:txBody>
          <a:bodyPr/>
          <a:lstStyle/>
          <a:p>
            <a:endParaRPr lang="en-US"/>
          </a:p>
        </p:txBody>
      </p:sp>
      <p:sp>
        <p:nvSpPr>
          <p:cNvPr id="17" name="Text 15"/>
          <p:cNvSpPr/>
          <p:nvPr/>
        </p:nvSpPr>
        <p:spPr>
          <a:xfrm>
            <a:off x="9281160" y="2103120"/>
            <a:ext cx="1371600" cy="457200"/>
          </a:xfrm>
          <a:prstGeom prst="rect">
            <a:avLst/>
          </a:prstGeom>
          <a:noFill/>
          <a:ln/>
        </p:spPr>
        <p:txBody>
          <a:bodyPr wrap="square" rtlCol="0" anchor="ctr"/>
          <a:lstStyle/>
          <a:p>
            <a:pPr marL="0" indent="0">
              <a:buNone/>
            </a:pPr>
            <a:r>
              <a:rPr lang="en-US" sz="2000" b="1" dirty="0">
                <a:solidFill>
                  <a:srgbClr val="FF7800"/>
                </a:solidFill>
                <a:latin typeface="Poppins" pitchFamily="34" charset="0"/>
                <a:ea typeface="Poppins" pitchFamily="34" charset="-122"/>
                <a:cs typeface="Poppins" pitchFamily="34" charset="-120"/>
              </a:rPr>
              <a:t>04</a:t>
            </a:r>
            <a:endParaRPr lang="en-US" sz="2000" dirty="0"/>
          </a:p>
        </p:txBody>
      </p:sp>
      <p:sp>
        <p:nvSpPr>
          <p:cNvPr id="18" name="Text 16"/>
          <p:cNvSpPr/>
          <p:nvPr/>
        </p:nvSpPr>
        <p:spPr>
          <a:xfrm>
            <a:off x="9281160" y="2697480"/>
            <a:ext cx="2148840" cy="640080"/>
          </a:xfrm>
          <a:prstGeom prst="rect">
            <a:avLst/>
          </a:prstGeom>
          <a:noFill/>
          <a:ln/>
        </p:spPr>
        <p:txBody>
          <a:bodyPr wrap="square" rtlCol="0" anchor="ctr"/>
          <a:lstStyle/>
          <a:p>
            <a:pPr marL="0" indent="0">
              <a:lnSpc>
                <a:spcPts val="1800"/>
              </a:lnSpc>
              <a:buNone/>
            </a:pPr>
            <a:r>
              <a:rPr lang="en-US" sz="1500" b="1" dirty="0">
                <a:solidFill>
                  <a:srgbClr val="2B3747"/>
                </a:solidFill>
                <a:latin typeface="Poppins" pitchFamily="34" charset="0"/>
                <a:ea typeface="Poppins" pitchFamily="34" charset="-122"/>
                <a:cs typeface="Poppins" pitchFamily="34" charset="-120"/>
              </a:rPr>
              <a:t>Your Turn</a:t>
            </a:r>
            <a:endParaRPr lang="en-US" sz="1500" dirty="0"/>
          </a:p>
        </p:txBody>
      </p:sp>
      <p:sp>
        <p:nvSpPr>
          <p:cNvPr id="19" name="Text 17"/>
          <p:cNvSpPr/>
          <p:nvPr/>
        </p:nvSpPr>
        <p:spPr>
          <a:xfrm>
            <a:off x="9281160" y="3429000"/>
            <a:ext cx="2148840" cy="1737360"/>
          </a:xfrm>
          <a:prstGeom prst="rect">
            <a:avLst/>
          </a:prstGeom>
          <a:noFill/>
          <a:ln/>
        </p:spPr>
        <p:txBody>
          <a:bodyPr wrap="square" rtlCol="0" anchor="ctr"/>
          <a:lstStyle/>
          <a:p>
            <a:pPr marL="0" indent="0">
              <a:lnSpc>
                <a:spcPts val="1500"/>
              </a:lnSpc>
              <a:buNone/>
            </a:pPr>
            <a:r>
              <a:rPr lang="en-US" sz="1100" dirty="0">
                <a:solidFill>
                  <a:srgbClr val="6B7684"/>
                </a:solidFill>
                <a:latin typeface="Poppins" pitchFamily="34" charset="0"/>
                <a:ea typeface="Poppins" pitchFamily="34" charset="-122"/>
                <a:cs typeface="Poppins" pitchFamily="34" charset="-120"/>
              </a:rPr>
              <a:t>A 5-minute exercise to apply this to one workflow in your own firm.</a:t>
            </a:r>
            <a:endParaRPr lang="en-US" sz="1100" dirty="0"/>
          </a:p>
        </p:txBody>
      </p:sp>
      <p:sp>
        <p:nvSpPr>
          <p:cNvPr id="20" name="Text 18"/>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INTRODUCTION</a:t>
            </a:r>
            <a:endParaRPr lang="en-US" sz="900" dirty="0"/>
          </a:p>
        </p:txBody>
      </p:sp>
      <p:sp>
        <p:nvSpPr>
          <p:cNvPr id="21" name="Text 19"/>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G'DAY</a:t>
            </a:r>
            <a:endParaRPr lang="en-US" sz="1100" dirty="0"/>
          </a:p>
        </p:txBody>
      </p:sp>
      <p:sp>
        <p:nvSpPr>
          <p:cNvPr id="3" name="Text 1"/>
          <p:cNvSpPr/>
          <p:nvPr/>
        </p:nvSpPr>
        <p:spPr>
          <a:xfrm>
            <a:off x="548640" y="777240"/>
            <a:ext cx="9601200" cy="640080"/>
          </a:xfrm>
          <a:prstGeom prst="rect">
            <a:avLst/>
          </a:prstGeom>
          <a:noFill/>
          <a:ln/>
        </p:spPr>
        <p:txBody>
          <a:bodyPr wrap="square" rtlCol="0" anchor="ctr"/>
          <a:lstStyle/>
          <a:p>
            <a:pPr marL="0" indent="0">
              <a:buNone/>
            </a:pPr>
            <a:r>
              <a:rPr lang="en-US" sz="2800" b="1" dirty="0">
                <a:solidFill>
                  <a:srgbClr val="2B3747"/>
                </a:solidFill>
                <a:latin typeface="Poppins" pitchFamily="34" charset="0"/>
                <a:ea typeface="Poppins" pitchFamily="34" charset="-122"/>
                <a:cs typeface="Poppins" pitchFamily="34" charset="-120"/>
              </a:rPr>
              <a:t>I'm Beau, from Growthwise.</a:t>
            </a:r>
            <a:endParaRPr lang="en-US" sz="2800" dirty="0"/>
          </a:p>
        </p:txBody>
      </p:sp>
      <p:sp>
        <p:nvSpPr>
          <p:cNvPr id="4" name="Text 2"/>
          <p:cNvSpPr/>
          <p:nvPr/>
        </p:nvSpPr>
        <p:spPr>
          <a:xfrm>
            <a:off x="548640" y="1600200"/>
            <a:ext cx="6035040" cy="1554480"/>
          </a:xfrm>
          <a:prstGeom prst="rect">
            <a:avLst/>
          </a:prstGeom>
          <a:noFill/>
          <a:ln/>
        </p:spPr>
        <p:txBody>
          <a:bodyPr wrap="square" rtlCol="0" anchor="ctr"/>
          <a:lstStyle/>
          <a:p>
            <a:pPr marL="0" indent="0">
              <a:lnSpc>
                <a:spcPts val="2000"/>
              </a:lnSpc>
              <a:buNone/>
            </a:pPr>
            <a:r>
              <a:rPr lang="en-US" sz="1400" dirty="0">
                <a:solidFill>
                  <a:srgbClr val="6B7684"/>
                </a:solidFill>
                <a:latin typeface="Poppins" pitchFamily="34" charset="0"/>
                <a:ea typeface="Poppins" pitchFamily="34" charset="-122"/>
                <a:cs typeface="Poppins" pitchFamily="34" charset="-120"/>
              </a:rPr>
              <a:t>We're an accounting and advisory firm based in Newcastle, Australia. I look after our internal systems and processes. My job is finding better ways for our team to work.</a:t>
            </a:r>
            <a:endParaRPr lang="en-US" sz="1400" dirty="0"/>
          </a:p>
        </p:txBody>
      </p:sp>
      <p:sp>
        <p:nvSpPr>
          <p:cNvPr id="5" name="Shape 3"/>
          <p:cNvSpPr/>
          <p:nvPr/>
        </p:nvSpPr>
        <p:spPr>
          <a:xfrm>
            <a:off x="548640" y="3337560"/>
            <a:ext cx="6035040" cy="2148840"/>
          </a:xfrm>
          <a:prstGeom prst="roundRect">
            <a:avLst>
              <a:gd name="adj" fmla="val 3404"/>
            </a:avLst>
          </a:prstGeom>
          <a:solidFill>
            <a:srgbClr val="2B3747"/>
          </a:solidFill>
          <a:ln/>
        </p:spPr>
        <p:txBody>
          <a:bodyPr/>
          <a:lstStyle/>
          <a:p>
            <a:endParaRPr lang="en-US"/>
          </a:p>
        </p:txBody>
      </p:sp>
      <p:sp>
        <p:nvSpPr>
          <p:cNvPr id="6" name="Text 4"/>
          <p:cNvSpPr/>
          <p:nvPr/>
        </p:nvSpPr>
        <p:spPr>
          <a:xfrm>
            <a:off x="868680" y="3566160"/>
            <a:ext cx="5486400" cy="365760"/>
          </a:xfrm>
          <a:prstGeom prst="rect">
            <a:avLst/>
          </a:prstGeom>
          <a:noFill/>
          <a:ln/>
        </p:spPr>
        <p:txBody>
          <a:bodyPr wrap="square" rtlCol="0" anchor="ctr"/>
          <a:lstStyle/>
          <a:p>
            <a:pPr marL="0" indent="0">
              <a:buNone/>
            </a:pPr>
            <a:r>
              <a:rPr lang="en-US" sz="1200" b="1" dirty="0">
                <a:solidFill>
                  <a:srgbClr val="C6CCD4"/>
                </a:solidFill>
                <a:latin typeface="Poppins" pitchFamily="34" charset="0"/>
                <a:ea typeface="Poppins" pitchFamily="34" charset="-122"/>
                <a:cs typeface="Poppins" pitchFamily="34" charset="-120"/>
              </a:rPr>
              <a:t>Three principles guide every workflow we touch:</a:t>
            </a:r>
            <a:endParaRPr lang="en-US" sz="1200" dirty="0"/>
          </a:p>
        </p:txBody>
      </p:sp>
      <p:sp>
        <p:nvSpPr>
          <p:cNvPr id="7" name="Text 5"/>
          <p:cNvSpPr/>
          <p:nvPr/>
        </p:nvSpPr>
        <p:spPr>
          <a:xfrm>
            <a:off x="868680" y="4023360"/>
            <a:ext cx="1737360" cy="457200"/>
          </a:xfrm>
          <a:prstGeom prst="rect">
            <a:avLst/>
          </a:prstGeom>
          <a:noFill/>
          <a:ln/>
        </p:spPr>
        <p:txBody>
          <a:bodyPr wrap="square" rtlCol="0" anchor="ctr"/>
          <a:lstStyle/>
          <a:p>
            <a:pPr marL="0" indent="0">
              <a:buNone/>
            </a:pPr>
            <a:r>
              <a:rPr lang="en-US" sz="1800" b="1" dirty="0">
                <a:solidFill>
                  <a:schemeClr val="bg1"/>
                </a:solidFill>
                <a:latin typeface="Poppins" pitchFamily="34" charset="0"/>
                <a:ea typeface="Poppins" pitchFamily="34" charset="-122"/>
                <a:cs typeface="Poppins" pitchFamily="34" charset="-120"/>
              </a:rPr>
              <a:t>Eliminate</a:t>
            </a:r>
            <a:endParaRPr lang="en-US" sz="1800" dirty="0">
              <a:solidFill>
                <a:schemeClr val="bg1"/>
              </a:solidFill>
            </a:endParaRPr>
          </a:p>
        </p:txBody>
      </p:sp>
      <p:sp>
        <p:nvSpPr>
          <p:cNvPr id="8" name="Text 6"/>
          <p:cNvSpPr/>
          <p:nvPr/>
        </p:nvSpPr>
        <p:spPr>
          <a:xfrm>
            <a:off x="2743200" y="4023360"/>
            <a:ext cx="1737360" cy="457200"/>
          </a:xfrm>
          <a:prstGeom prst="rect">
            <a:avLst/>
          </a:prstGeom>
          <a:noFill/>
          <a:ln/>
        </p:spPr>
        <p:txBody>
          <a:bodyPr wrap="square" rtlCol="0" anchor="ctr"/>
          <a:lstStyle/>
          <a:p>
            <a:pPr marL="0" indent="0">
              <a:buNone/>
            </a:pPr>
            <a:r>
              <a:rPr lang="en-US" sz="1800" b="1" dirty="0">
                <a:solidFill>
                  <a:srgbClr val="FFFFFF"/>
                </a:solidFill>
                <a:latin typeface="Poppins" pitchFamily="34" charset="0"/>
                <a:ea typeface="Poppins" pitchFamily="34" charset="-122"/>
                <a:cs typeface="Poppins" pitchFamily="34" charset="-120"/>
              </a:rPr>
              <a:t>Automate</a:t>
            </a:r>
            <a:endParaRPr lang="en-US" sz="1800" dirty="0"/>
          </a:p>
        </p:txBody>
      </p:sp>
      <p:sp>
        <p:nvSpPr>
          <p:cNvPr id="9" name="Text 7"/>
          <p:cNvSpPr/>
          <p:nvPr/>
        </p:nvSpPr>
        <p:spPr>
          <a:xfrm>
            <a:off x="4617720" y="4023360"/>
            <a:ext cx="1737360" cy="457200"/>
          </a:xfrm>
          <a:prstGeom prst="rect">
            <a:avLst/>
          </a:prstGeom>
          <a:noFill/>
          <a:ln/>
        </p:spPr>
        <p:txBody>
          <a:bodyPr wrap="square" rtlCol="0" anchor="ctr"/>
          <a:lstStyle/>
          <a:p>
            <a:pPr marL="0" indent="0">
              <a:buNone/>
            </a:pPr>
            <a:r>
              <a:rPr lang="en-US" sz="1800" b="1" dirty="0">
                <a:solidFill>
                  <a:srgbClr val="FFFFFF"/>
                </a:solidFill>
                <a:latin typeface="Poppins" pitchFamily="34" charset="0"/>
                <a:ea typeface="Poppins" pitchFamily="34" charset="-122"/>
                <a:cs typeface="Poppins" pitchFamily="34" charset="-120"/>
              </a:rPr>
              <a:t>Delegate</a:t>
            </a:r>
            <a:endParaRPr lang="en-US" sz="1800" dirty="0"/>
          </a:p>
        </p:txBody>
      </p:sp>
      <p:sp>
        <p:nvSpPr>
          <p:cNvPr id="10" name="Text 8"/>
          <p:cNvSpPr/>
          <p:nvPr/>
        </p:nvSpPr>
        <p:spPr>
          <a:xfrm>
            <a:off x="868680" y="4754880"/>
            <a:ext cx="5303520" cy="548640"/>
          </a:xfrm>
          <a:prstGeom prst="rect">
            <a:avLst/>
          </a:prstGeom>
          <a:noFill/>
          <a:ln/>
        </p:spPr>
        <p:txBody>
          <a:bodyPr wrap="square" rtlCol="0" anchor="ctr"/>
          <a:lstStyle/>
          <a:p>
            <a:pPr marL="0" indent="0">
              <a:buNone/>
            </a:pPr>
            <a:r>
              <a:rPr lang="en-US" sz="1100" i="1" dirty="0">
                <a:solidFill>
                  <a:srgbClr val="9AA5B1"/>
                </a:solidFill>
                <a:latin typeface="Poppins" pitchFamily="34" charset="0"/>
                <a:ea typeface="Poppins" pitchFamily="34" charset="-122"/>
                <a:cs typeface="Poppins" pitchFamily="34" charset="-120"/>
              </a:rPr>
              <a:t>More on each of these shortly.</a:t>
            </a:r>
            <a:endParaRPr lang="en-US" sz="1100" dirty="0"/>
          </a:p>
        </p:txBody>
      </p:sp>
      <p:sp>
        <p:nvSpPr>
          <p:cNvPr id="11" name="Shape 9"/>
          <p:cNvSpPr/>
          <p:nvPr/>
        </p:nvSpPr>
        <p:spPr>
          <a:xfrm>
            <a:off x="6793992" y="1577340"/>
            <a:ext cx="4754880" cy="3886200"/>
          </a:xfrm>
          <a:prstGeom prst="roundRect">
            <a:avLst>
              <a:gd name="adj" fmla="val 1882"/>
            </a:avLst>
          </a:prstGeom>
          <a:solidFill>
            <a:srgbClr val="FFFFFF"/>
          </a:solidFill>
          <a:ln w="12700">
            <a:solidFill>
              <a:srgbClr val="D9D2C3"/>
            </a:solidFill>
            <a:prstDash val="solid"/>
          </a:ln>
        </p:spPr>
        <p:txBody>
          <a:bodyPr/>
          <a:lstStyle/>
          <a:p>
            <a:endParaRPr lang="en-US"/>
          </a:p>
        </p:txBody>
      </p:sp>
      <p:sp>
        <p:nvSpPr>
          <p:cNvPr id="12" name="Text 10"/>
          <p:cNvSpPr/>
          <p:nvPr/>
        </p:nvSpPr>
        <p:spPr>
          <a:xfrm>
            <a:off x="7178040" y="1920240"/>
            <a:ext cx="4114800" cy="320040"/>
          </a:xfrm>
          <a:prstGeom prst="rect">
            <a:avLst/>
          </a:prstGeom>
          <a:noFill/>
          <a:ln/>
        </p:spPr>
        <p:txBody>
          <a:bodyPr wrap="square" rtlCol="0" anchor="ctr"/>
          <a:lstStyle/>
          <a:p>
            <a:pPr marL="0" indent="0">
              <a:buNone/>
            </a:pPr>
            <a:r>
              <a:rPr lang="en-US" sz="1000" b="1" kern="0" spc="100" dirty="0">
                <a:solidFill>
                  <a:srgbClr val="FF7800"/>
                </a:solidFill>
                <a:latin typeface="Poppins" pitchFamily="34" charset="0"/>
                <a:ea typeface="Poppins" pitchFamily="34" charset="-122"/>
                <a:cs typeface="Poppins" pitchFamily="34" charset="-120"/>
              </a:rPr>
              <a:t>WANT TO SEE IT IN ACTION?</a:t>
            </a:r>
            <a:endParaRPr lang="en-US" sz="1000" dirty="0"/>
          </a:p>
        </p:txBody>
      </p:sp>
      <p:sp>
        <p:nvSpPr>
          <p:cNvPr id="13" name="Text 11"/>
          <p:cNvSpPr/>
          <p:nvPr/>
        </p:nvSpPr>
        <p:spPr>
          <a:xfrm>
            <a:off x="7178040" y="2331720"/>
            <a:ext cx="4114800" cy="731520"/>
          </a:xfrm>
          <a:prstGeom prst="rect">
            <a:avLst/>
          </a:prstGeom>
          <a:noFill/>
          <a:ln/>
        </p:spPr>
        <p:txBody>
          <a:bodyPr wrap="square" rtlCol="0" anchor="ctr"/>
          <a:lstStyle/>
          <a:p>
            <a:pPr marL="0" indent="0">
              <a:lnSpc>
                <a:spcPts val="1700"/>
              </a:lnSpc>
              <a:buNone/>
            </a:pPr>
            <a:r>
              <a:rPr lang="en-US" sz="1300" b="1" dirty="0">
                <a:solidFill>
                  <a:srgbClr val="2B3747"/>
                </a:solidFill>
                <a:latin typeface="Poppins" pitchFamily="34" charset="0"/>
                <a:ea typeface="Poppins" pitchFamily="34" charset="-122"/>
                <a:cs typeface="Poppins" pitchFamily="34" charset="-120"/>
              </a:rPr>
              <a:t>Today I'm talking through the thinking, not doing live demos.</a:t>
            </a:r>
            <a:endParaRPr lang="en-US" sz="1300" dirty="0"/>
          </a:p>
        </p:txBody>
      </p:sp>
      <p:sp>
        <p:nvSpPr>
          <p:cNvPr id="14" name="Text 12"/>
          <p:cNvSpPr/>
          <p:nvPr/>
        </p:nvSpPr>
        <p:spPr>
          <a:xfrm>
            <a:off x="7178040" y="3108960"/>
            <a:ext cx="4114800" cy="365760"/>
          </a:xfrm>
          <a:prstGeom prst="rect">
            <a:avLst/>
          </a:prstGeom>
          <a:noFill/>
          <a:ln/>
        </p:spPr>
        <p:txBody>
          <a:bodyPr wrap="square" rtlCol="0" anchor="ctr"/>
          <a:lstStyle/>
          <a:p>
            <a:pPr marL="0" indent="0">
              <a:buNone/>
            </a:pPr>
            <a:r>
              <a:rPr lang="en-US" sz="1100" dirty="0">
                <a:solidFill>
                  <a:srgbClr val="6B7684"/>
                </a:solidFill>
                <a:latin typeface="Poppins" pitchFamily="34" charset="0"/>
                <a:ea typeface="Poppins" pitchFamily="34" charset="-122"/>
                <a:cs typeface="Poppins" pitchFamily="34" charset="-120"/>
              </a:rPr>
              <a:t>For AI demos in full, check the chat for links to:</a:t>
            </a:r>
            <a:endParaRPr lang="en-US" sz="1100" dirty="0"/>
          </a:p>
        </p:txBody>
      </p:sp>
      <p:sp>
        <p:nvSpPr>
          <p:cNvPr id="15" name="Text 13"/>
          <p:cNvSpPr/>
          <p:nvPr/>
        </p:nvSpPr>
        <p:spPr>
          <a:xfrm>
            <a:off x="7178040" y="3520440"/>
            <a:ext cx="4114800" cy="320040"/>
          </a:xfrm>
          <a:prstGeom prst="rect">
            <a:avLst/>
          </a:prstGeom>
          <a:noFill/>
          <a:ln/>
        </p:spPr>
        <p:txBody>
          <a:bodyPr wrap="square" rtlCol="0" anchor="ctr"/>
          <a:lstStyle/>
          <a:p>
            <a:pPr marL="0" indent="0">
              <a:buNone/>
            </a:pPr>
            <a:r>
              <a:rPr lang="en-US" sz="1200" b="1" dirty="0">
                <a:solidFill>
                  <a:srgbClr val="2B3747"/>
                </a:solidFill>
                <a:latin typeface="Poppins" pitchFamily="34" charset="0"/>
                <a:ea typeface="Poppins" pitchFamily="34" charset="-122"/>
                <a:cs typeface="Poppins" pitchFamily="34" charset="-120"/>
              </a:rPr>
              <a:t>•  Our YouTube playlist</a:t>
            </a:r>
            <a:endParaRPr lang="en-US" sz="1200" dirty="0"/>
          </a:p>
        </p:txBody>
      </p:sp>
      <p:sp>
        <p:nvSpPr>
          <p:cNvPr id="16" name="Text 14"/>
          <p:cNvSpPr/>
          <p:nvPr/>
        </p:nvSpPr>
        <p:spPr>
          <a:xfrm>
            <a:off x="7178040" y="3886200"/>
            <a:ext cx="4114800" cy="320040"/>
          </a:xfrm>
          <a:prstGeom prst="rect">
            <a:avLst/>
          </a:prstGeom>
          <a:noFill/>
          <a:ln/>
        </p:spPr>
        <p:txBody>
          <a:bodyPr wrap="square" rtlCol="0" anchor="ctr"/>
          <a:lstStyle/>
          <a:p>
            <a:pPr marL="0" indent="0">
              <a:buNone/>
            </a:pPr>
            <a:r>
              <a:rPr lang="en-US" sz="1200" b="1" dirty="0">
                <a:solidFill>
                  <a:srgbClr val="2B3747"/>
                </a:solidFill>
                <a:latin typeface="Poppins" pitchFamily="34" charset="0"/>
                <a:ea typeface="Poppins" pitchFamily="34" charset="-122"/>
                <a:cs typeface="Poppins" pitchFamily="34" charset="-120"/>
              </a:rPr>
              <a:t>•  Recent LinkedIn videos (@</a:t>
            </a:r>
            <a:r>
              <a:rPr lang="en-US" sz="1200" b="1" dirty="0" err="1">
                <a:solidFill>
                  <a:srgbClr val="2B3747"/>
                </a:solidFill>
                <a:latin typeface="Poppins" pitchFamily="34" charset="0"/>
                <a:ea typeface="Poppins" pitchFamily="34" charset="-122"/>
                <a:cs typeface="Poppins" pitchFamily="34" charset="-120"/>
              </a:rPr>
              <a:t>beaugaudron</a:t>
            </a:r>
            <a:r>
              <a:rPr lang="en-US" sz="1200" b="1" dirty="0">
                <a:solidFill>
                  <a:srgbClr val="2B3747"/>
                </a:solidFill>
                <a:latin typeface="Poppins" pitchFamily="34" charset="0"/>
                <a:ea typeface="Poppins" pitchFamily="34" charset="-122"/>
                <a:cs typeface="Poppins" pitchFamily="34" charset="-120"/>
              </a:rPr>
              <a:t>)</a:t>
            </a:r>
          </a:p>
        </p:txBody>
      </p:sp>
      <p:sp>
        <p:nvSpPr>
          <p:cNvPr id="17" name="Text 15"/>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INTRODUCTION</a:t>
            </a:r>
            <a:endParaRPr lang="en-US" sz="900" dirty="0"/>
          </a:p>
        </p:txBody>
      </p:sp>
      <p:sp>
        <p:nvSpPr>
          <p:cNvPr id="18" name="Text 16"/>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02</a:t>
            </a:r>
            <a:endParaRPr lang="en-US" sz="900" dirty="0"/>
          </a:p>
        </p:txBody>
      </p:sp>
      <p:sp>
        <p:nvSpPr>
          <p:cNvPr id="19" name="Text 14">
            <a:extLst>
              <a:ext uri="{FF2B5EF4-FFF2-40B4-BE49-F238E27FC236}">
                <a16:creationId xmlns:a16="http://schemas.microsoft.com/office/drawing/2014/main" id="{32F078ED-8E85-2281-0DDB-56C0E6EA35B7}"/>
              </a:ext>
            </a:extLst>
          </p:cNvPr>
          <p:cNvSpPr/>
          <p:nvPr/>
        </p:nvSpPr>
        <p:spPr>
          <a:xfrm>
            <a:off x="7178040" y="4255979"/>
            <a:ext cx="4114800" cy="320040"/>
          </a:xfrm>
          <a:prstGeom prst="rect">
            <a:avLst/>
          </a:prstGeom>
          <a:noFill/>
          <a:ln/>
        </p:spPr>
        <p:txBody>
          <a:bodyPr wrap="square" rtlCol="0" anchor="ctr"/>
          <a:lstStyle/>
          <a:p>
            <a:pPr marL="0" indent="0">
              <a:buNone/>
            </a:pPr>
            <a:r>
              <a:rPr lang="en-US" sz="1200" b="1" dirty="0">
                <a:solidFill>
                  <a:srgbClr val="2B3747"/>
                </a:solidFill>
                <a:latin typeface="Poppins" pitchFamily="34" charset="0"/>
                <a:ea typeface="Poppins" pitchFamily="34" charset="-122"/>
                <a:cs typeface="Poppins" pitchFamily="34" charset="-120"/>
              </a:rPr>
              <a:t>• Skill template (Link Shared Later ;-) )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BEFORE WE DIVE IN</a:t>
            </a:r>
            <a:endParaRPr lang="en-US" sz="1100" dirty="0"/>
          </a:p>
        </p:txBody>
      </p:sp>
      <p:sp>
        <p:nvSpPr>
          <p:cNvPr id="3" name="Text 1"/>
          <p:cNvSpPr/>
          <p:nvPr/>
        </p:nvSpPr>
        <p:spPr>
          <a:xfrm>
            <a:off x="548640" y="777240"/>
            <a:ext cx="10058400" cy="640080"/>
          </a:xfrm>
          <a:prstGeom prst="rect">
            <a:avLst/>
          </a:prstGeom>
          <a:noFill/>
          <a:ln/>
        </p:spPr>
        <p:txBody>
          <a:bodyPr wrap="square" rtlCol="0" anchor="ctr"/>
          <a:lstStyle/>
          <a:p>
            <a:pPr marL="0" indent="0">
              <a:buNone/>
            </a:pPr>
            <a:r>
              <a:rPr lang="en-US" sz="2600" b="1" dirty="0">
                <a:solidFill>
                  <a:srgbClr val="2B3747"/>
                </a:solidFill>
                <a:latin typeface="Poppins" pitchFamily="34" charset="0"/>
                <a:ea typeface="Poppins" pitchFamily="34" charset="-122"/>
                <a:cs typeface="Poppins" pitchFamily="34" charset="-120"/>
              </a:rPr>
              <a:t>Three workflows we've already changed.</a:t>
            </a:r>
            <a:endParaRPr lang="en-US" sz="2600" dirty="0"/>
          </a:p>
        </p:txBody>
      </p:sp>
      <p:sp>
        <p:nvSpPr>
          <p:cNvPr id="4" name="Shape 2"/>
          <p:cNvSpPr/>
          <p:nvPr/>
        </p:nvSpPr>
        <p:spPr>
          <a:xfrm>
            <a:off x="548640" y="1828800"/>
            <a:ext cx="3520440" cy="3566160"/>
          </a:xfrm>
          <a:prstGeom prst="roundRect">
            <a:avLst>
              <a:gd name="adj" fmla="val 2078"/>
            </a:avLst>
          </a:prstGeom>
          <a:solidFill>
            <a:srgbClr val="FFFFFF"/>
          </a:solidFill>
          <a:ln w="12700">
            <a:solidFill>
              <a:srgbClr val="D9D2C3"/>
            </a:solidFill>
            <a:prstDash val="solid"/>
          </a:ln>
        </p:spPr>
        <p:txBody>
          <a:bodyPr/>
          <a:lstStyle/>
          <a:p>
            <a:endParaRPr lang="en-US"/>
          </a:p>
        </p:txBody>
      </p:sp>
      <p:sp>
        <p:nvSpPr>
          <p:cNvPr id="5" name="Text 3"/>
          <p:cNvSpPr/>
          <p:nvPr/>
        </p:nvSpPr>
        <p:spPr>
          <a:xfrm>
            <a:off x="822960" y="2103120"/>
            <a:ext cx="1371600" cy="457200"/>
          </a:xfrm>
          <a:prstGeom prst="rect">
            <a:avLst/>
          </a:prstGeom>
          <a:noFill/>
          <a:ln/>
        </p:spPr>
        <p:txBody>
          <a:bodyPr wrap="square" rtlCol="0" anchor="ctr"/>
          <a:lstStyle/>
          <a:p>
            <a:pPr marL="0" indent="0">
              <a:buNone/>
            </a:pPr>
            <a:r>
              <a:rPr lang="en-US" sz="2000" b="1" dirty="0">
                <a:solidFill>
                  <a:srgbClr val="FF7800"/>
                </a:solidFill>
                <a:latin typeface="Poppins" pitchFamily="34" charset="0"/>
                <a:ea typeface="Poppins" pitchFamily="34" charset="-122"/>
                <a:cs typeface="Poppins" pitchFamily="34" charset="-120"/>
              </a:rPr>
              <a:t>01</a:t>
            </a:r>
            <a:endParaRPr lang="en-US" sz="2000" dirty="0"/>
          </a:p>
        </p:txBody>
      </p:sp>
      <p:sp>
        <p:nvSpPr>
          <p:cNvPr id="6" name="Text 4"/>
          <p:cNvSpPr/>
          <p:nvPr/>
        </p:nvSpPr>
        <p:spPr>
          <a:xfrm>
            <a:off x="822960" y="2697480"/>
            <a:ext cx="2971800" cy="914400"/>
          </a:xfrm>
          <a:prstGeom prst="rect">
            <a:avLst/>
          </a:prstGeom>
          <a:noFill/>
          <a:ln/>
        </p:spPr>
        <p:txBody>
          <a:bodyPr wrap="square" rtlCol="0" anchor="ctr"/>
          <a:lstStyle/>
          <a:p>
            <a:pPr marL="0" indent="0">
              <a:lnSpc>
                <a:spcPts val="2000"/>
              </a:lnSpc>
              <a:buNone/>
            </a:pPr>
            <a:r>
              <a:rPr lang="en-US" sz="1600" b="1" dirty="0">
                <a:solidFill>
                  <a:srgbClr val="2B3747"/>
                </a:solidFill>
                <a:latin typeface="Poppins" pitchFamily="34" charset="0"/>
                <a:ea typeface="Poppins" pitchFamily="34" charset="-122"/>
                <a:cs typeface="Poppins" pitchFamily="34" charset="-120"/>
              </a:rPr>
              <a:t>Automated client communication</a:t>
            </a:r>
            <a:endParaRPr lang="en-US" sz="1600" dirty="0"/>
          </a:p>
        </p:txBody>
      </p:sp>
      <p:sp>
        <p:nvSpPr>
          <p:cNvPr id="7" name="Text 5"/>
          <p:cNvSpPr/>
          <p:nvPr/>
        </p:nvSpPr>
        <p:spPr>
          <a:xfrm>
            <a:off x="822960" y="3703320"/>
            <a:ext cx="2971800" cy="1463040"/>
          </a:xfrm>
          <a:prstGeom prst="rect">
            <a:avLst/>
          </a:prstGeom>
          <a:noFill/>
          <a:ln/>
        </p:spPr>
        <p:txBody>
          <a:bodyPr wrap="square" rtlCol="0" anchor="ctr"/>
          <a:lstStyle/>
          <a:p>
            <a:pPr marL="0" indent="0">
              <a:lnSpc>
                <a:spcPts val="1500"/>
              </a:lnSpc>
              <a:buNone/>
            </a:pPr>
            <a:r>
              <a:rPr lang="en-US" sz="1150" dirty="0">
                <a:solidFill>
                  <a:srgbClr val="6B7684"/>
                </a:solidFill>
                <a:latin typeface="Poppins" pitchFamily="34" charset="0"/>
                <a:ea typeface="Poppins" pitchFamily="34" charset="-122"/>
                <a:cs typeface="Poppins" pitchFamily="34" charset="-120"/>
              </a:rPr>
              <a:t>Removing manual follow-ups and status chasing from our team's plate entirely.</a:t>
            </a:r>
            <a:endParaRPr lang="en-US" sz="1150" dirty="0"/>
          </a:p>
        </p:txBody>
      </p:sp>
      <p:sp>
        <p:nvSpPr>
          <p:cNvPr id="8" name="Shape 6"/>
          <p:cNvSpPr/>
          <p:nvPr/>
        </p:nvSpPr>
        <p:spPr>
          <a:xfrm>
            <a:off x="4297680" y="1828800"/>
            <a:ext cx="3520440" cy="3566160"/>
          </a:xfrm>
          <a:prstGeom prst="roundRect">
            <a:avLst>
              <a:gd name="adj" fmla="val 2078"/>
            </a:avLst>
          </a:prstGeom>
          <a:solidFill>
            <a:srgbClr val="2B3747"/>
          </a:solidFill>
          <a:ln/>
        </p:spPr>
        <p:txBody>
          <a:bodyPr/>
          <a:lstStyle/>
          <a:p>
            <a:endParaRPr lang="en-US"/>
          </a:p>
        </p:txBody>
      </p:sp>
      <p:sp>
        <p:nvSpPr>
          <p:cNvPr id="9" name="Text 7"/>
          <p:cNvSpPr/>
          <p:nvPr/>
        </p:nvSpPr>
        <p:spPr>
          <a:xfrm>
            <a:off x="4572000" y="2103120"/>
            <a:ext cx="1371600" cy="457200"/>
          </a:xfrm>
          <a:prstGeom prst="rect">
            <a:avLst/>
          </a:prstGeom>
          <a:noFill/>
          <a:ln/>
        </p:spPr>
        <p:txBody>
          <a:bodyPr wrap="square" rtlCol="0" anchor="ctr"/>
          <a:lstStyle/>
          <a:p>
            <a:pPr marL="0" indent="0">
              <a:buNone/>
            </a:pPr>
            <a:r>
              <a:rPr lang="en-US" sz="2000" b="1" dirty="0">
                <a:solidFill>
                  <a:srgbClr val="FF7800"/>
                </a:solidFill>
                <a:latin typeface="Poppins" pitchFamily="34" charset="0"/>
                <a:ea typeface="Poppins" pitchFamily="34" charset="-122"/>
                <a:cs typeface="Poppins" pitchFamily="34" charset="-120"/>
              </a:rPr>
              <a:t>02</a:t>
            </a:r>
            <a:endParaRPr lang="en-US" sz="2000" dirty="0"/>
          </a:p>
        </p:txBody>
      </p:sp>
      <p:sp>
        <p:nvSpPr>
          <p:cNvPr id="10" name="Text 8"/>
          <p:cNvSpPr/>
          <p:nvPr/>
        </p:nvSpPr>
        <p:spPr>
          <a:xfrm>
            <a:off x="4572000" y="2697480"/>
            <a:ext cx="2971800" cy="914400"/>
          </a:xfrm>
          <a:prstGeom prst="rect">
            <a:avLst/>
          </a:prstGeom>
          <a:noFill/>
          <a:ln/>
        </p:spPr>
        <p:txBody>
          <a:bodyPr wrap="square" rtlCol="0" anchor="ctr"/>
          <a:lstStyle/>
          <a:p>
            <a:pPr marL="0" indent="0">
              <a:lnSpc>
                <a:spcPts val="2000"/>
              </a:lnSpc>
              <a:buNone/>
            </a:pPr>
            <a:r>
              <a:rPr lang="en-US" sz="1600" b="1" dirty="0">
                <a:solidFill>
                  <a:srgbClr val="FFFFFF"/>
                </a:solidFill>
                <a:latin typeface="Poppins" pitchFamily="34" charset="0"/>
                <a:ea typeface="Poppins" pitchFamily="34" charset="-122"/>
                <a:cs typeface="Poppins" pitchFamily="34" charset="-120"/>
              </a:rPr>
              <a:t>Review agents</a:t>
            </a:r>
            <a:endParaRPr lang="en-US" sz="1600" dirty="0"/>
          </a:p>
        </p:txBody>
      </p:sp>
      <p:sp>
        <p:nvSpPr>
          <p:cNvPr id="11" name="Text 9"/>
          <p:cNvSpPr/>
          <p:nvPr/>
        </p:nvSpPr>
        <p:spPr>
          <a:xfrm>
            <a:off x="4572000" y="3703320"/>
            <a:ext cx="2971800" cy="1463040"/>
          </a:xfrm>
          <a:prstGeom prst="rect">
            <a:avLst/>
          </a:prstGeom>
          <a:noFill/>
          <a:ln/>
        </p:spPr>
        <p:txBody>
          <a:bodyPr wrap="square" rtlCol="0" anchor="ctr"/>
          <a:lstStyle/>
          <a:p>
            <a:pPr marL="0" indent="0">
              <a:lnSpc>
                <a:spcPts val="1500"/>
              </a:lnSpc>
              <a:buNone/>
            </a:pPr>
            <a:r>
              <a:rPr lang="en-US" sz="1150" dirty="0">
                <a:solidFill>
                  <a:srgbClr val="C6CCD4"/>
                </a:solidFill>
                <a:latin typeface="Poppins" pitchFamily="34" charset="0"/>
                <a:ea typeface="Poppins" pitchFamily="34" charset="-122"/>
                <a:cs typeface="Poppins" pitchFamily="34" charset="-120"/>
              </a:rPr>
              <a:t>A first-pass reviewer that flags what to check or tells a story about what's happening in a client's business. This is our deep-dive today.</a:t>
            </a:r>
            <a:endParaRPr lang="en-US" sz="1150" dirty="0"/>
          </a:p>
        </p:txBody>
      </p:sp>
      <p:sp>
        <p:nvSpPr>
          <p:cNvPr id="12" name="Text 10"/>
          <p:cNvSpPr/>
          <p:nvPr/>
        </p:nvSpPr>
        <p:spPr>
          <a:xfrm>
            <a:off x="4572000" y="4892040"/>
            <a:ext cx="2971800" cy="274320"/>
          </a:xfrm>
          <a:prstGeom prst="rect">
            <a:avLst/>
          </a:prstGeom>
          <a:noFill/>
          <a:ln/>
        </p:spPr>
        <p:txBody>
          <a:bodyPr wrap="square" rtlCol="0" anchor="ctr"/>
          <a:lstStyle/>
          <a:p>
            <a:pPr marL="0" indent="0">
              <a:buNone/>
            </a:pPr>
            <a:r>
              <a:rPr lang="en-US" sz="900" b="1" kern="0" spc="100" dirty="0">
                <a:solidFill>
                  <a:srgbClr val="6FA73F"/>
                </a:solidFill>
                <a:latin typeface="Poppins" pitchFamily="34" charset="0"/>
                <a:ea typeface="Poppins" pitchFamily="34" charset="-122"/>
                <a:cs typeface="Poppins" pitchFamily="34" charset="-120"/>
              </a:rPr>
              <a:t>GOING DEEPER TODAY</a:t>
            </a:r>
            <a:endParaRPr lang="en-US" sz="900" dirty="0"/>
          </a:p>
        </p:txBody>
      </p:sp>
      <p:sp>
        <p:nvSpPr>
          <p:cNvPr id="13" name="Shape 11"/>
          <p:cNvSpPr/>
          <p:nvPr/>
        </p:nvSpPr>
        <p:spPr>
          <a:xfrm>
            <a:off x="8046720" y="1828800"/>
            <a:ext cx="3520440" cy="3566160"/>
          </a:xfrm>
          <a:prstGeom prst="roundRect">
            <a:avLst>
              <a:gd name="adj" fmla="val 2078"/>
            </a:avLst>
          </a:prstGeom>
          <a:solidFill>
            <a:srgbClr val="FFFFFF"/>
          </a:solidFill>
          <a:ln w="12700">
            <a:solidFill>
              <a:srgbClr val="D9D2C3"/>
            </a:solidFill>
            <a:prstDash val="solid"/>
          </a:ln>
        </p:spPr>
        <p:txBody>
          <a:bodyPr/>
          <a:lstStyle/>
          <a:p>
            <a:endParaRPr lang="en-US"/>
          </a:p>
        </p:txBody>
      </p:sp>
      <p:sp>
        <p:nvSpPr>
          <p:cNvPr id="14" name="Text 12"/>
          <p:cNvSpPr/>
          <p:nvPr/>
        </p:nvSpPr>
        <p:spPr>
          <a:xfrm>
            <a:off x="8321040" y="2103120"/>
            <a:ext cx="1371600" cy="457200"/>
          </a:xfrm>
          <a:prstGeom prst="rect">
            <a:avLst/>
          </a:prstGeom>
          <a:noFill/>
          <a:ln/>
        </p:spPr>
        <p:txBody>
          <a:bodyPr wrap="square" rtlCol="0" anchor="ctr"/>
          <a:lstStyle/>
          <a:p>
            <a:pPr marL="0" indent="0">
              <a:buNone/>
            </a:pPr>
            <a:r>
              <a:rPr lang="en-US" sz="2000" b="1" dirty="0">
                <a:solidFill>
                  <a:srgbClr val="FF7800"/>
                </a:solidFill>
                <a:latin typeface="Poppins" pitchFamily="34" charset="0"/>
                <a:ea typeface="Poppins" pitchFamily="34" charset="-122"/>
                <a:cs typeface="Poppins" pitchFamily="34" charset="-120"/>
              </a:rPr>
              <a:t>03</a:t>
            </a:r>
            <a:endParaRPr lang="en-US" sz="2000" dirty="0"/>
          </a:p>
        </p:txBody>
      </p:sp>
      <p:sp>
        <p:nvSpPr>
          <p:cNvPr id="15" name="Text 13"/>
          <p:cNvSpPr/>
          <p:nvPr/>
        </p:nvSpPr>
        <p:spPr>
          <a:xfrm>
            <a:off x="8321040" y="2697480"/>
            <a:ext cx="2971800" cy="914400"/>
          </a:xfrm>
          <a:prstGeom prst="rect">
            <a:avLst/>
          </a:prstGeom>
          <a:noFill/>
          <a:ln/>
        </p:spPr>
        <p:txBody>
          <a:bodyPr wrap="square" rtlCol="0" anchor="ctr"/>
          <a:lstStyle/>
          <a:p>
            <a:pPr marL="0" indent="0">
              <a:lnSpc>
                <a:spcPts val="2000"/>
              </a:lnSpc>
              <a:buNone/>
            </a:pPr>
            <a:r>
              <a:rPr lang="en-US" sz="1600" b="1" dirty="0">
                <a:solidFill>
                  <a:srgbClr val="2B3747"/>
                </a:solidFill>
                <a:latin typeface="Poppins" pitchFamily="34" charset="0"/>
                <a:ea typeface="Poppins" pitchFamily="34" charset="-122"/>
                <a:cs typeface="Poppins" pitchFamily="34" charset="-120"/>
              </a:rPr>
              <a:t>Automated job status movements</a:t>
            </a:r>
            <a:endParaRPr lang="en-US" sz="1600" dirty="0"/>
          </a:p>
        </p:txBody>
      </p:sp>
      <p:sp>
        <p:nvSpPr>
          <p:cNvPr id="16" name="Text 14"/>
          <p:cNvSpPr/>
          <p:nvPr/>
        </p:nvSpPr>
        <p:spPr>
          <a:xfrm>
            <a:off x="8321040" y="3703320"/>
            <a:ext cx="2971800" cy="1463040"/>
          </a:xfrm>
          <a:prstGeom prst="rect">
            <a:avLst/>
          </a:prstGeom>
          <a:noFill/>
          <a:ln/>
        </p:spPr>
        <p:txBody>
          <a:bodyPr wrap="square" rtlCol="0" anchor="ctr"/>
          <a:lstStyle/>
          <a:p>
            <a:pPr marL="0" indent="0">
              <a:lnSpc>
                <a:spcPts val="1500"/>
              </a:lnSpc>
              <a:buNone/>
            </a:pPr>
            <a:r>
              <a:rPr lang="en-US" sz="1150" dirty="0">
                <a:solidFill>
                  <a:srgbClr val="6B7684"/>
                </a:solidFill>
                <a:latin typeface="Poppins" pitchFamily="34" charset="0"/>
                <a:ea typeface="Poppins" pitchFamily="34" charset="-122"/>
                <a:cs typeface="Poppins" pitchFamily="34" charset="-120"/>
              </a:rPr>
              <a:t>Jobs move through Karbon based on criteria, not on someone remembering to drag a card.</a:t>
            </a:r>
            <a:endParaRPr lang="en-US" sz="1150" dirty="0"/>
          </a:p>
        </p:txBody>
      </p:sp>
      <p:sp>
        <p:nvSpPr>
          <p:cNvPr id="17" name="Text 15"/>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INTRODUCTION</a:t>
            </a:r>
            <a:endParaRPr lang="en-US" sz="900" dirty="0"/>
          </a:p>
        </p:txBody>
      </p:sp>
      <p:sp>
        <p:nvSpPr>
          <p:cNvPr id="18" name="Text 16"/>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EXAMPLE ONE OF THREE</a:t>
            </a:r>
            <a:endParaRPr lang="en-US" sz="1100" dirty="0"/>
          </a:p>
        </p:txBody>
      </p:sp>
      <p:sp>
        <p:nvSpPr>
          <p:cNvPr id="3" name="Text 1"/>
          <p:cNvSpPr/>
          <p:nvPr/>
        </p:nvSpPr>
        <p:spPr>
          <a:xfrm>
            <a:off x="548640" y="777240"/>
            <a:ext cx="5212080" cy="914400"/>
          </a:xfrm>
          <a:prstGeom prst="rect">
            <a:avLst/>
          </a:prstGeom>
          <a:noFill/>
          <a:ln/>
        </p:spPr>
        <p:txBody>
          <a:bodyPr wrap="square" rtlCol="0" anchor="ctr"/>
          <a:lstStyle/>
          <a:p>
            <a:pPr marL="0" indent="0">
              <a:lnSpc>
                <a:spcPts val="2900"/>
              </a:lnSpc>
              <a:buNone/>
            </a:pPr>
            <a:r>
              <a:rPr lang="en-US" sz="2400" b="1" dirty="0">
                <a:solidFill>
                  <a:srgbClr val="2B3747"/>
                </a:solidFill>
                <a:latin typeface="Poppins" pitchFamily="34" charset="0"/>
                <a:ea typeface="Poppins" pitchFamily="34" charset="-122"/>
                <a:cs typeface="Poppins" pitchFamily="34" charset="-120"/>
              </a:rPr>
              <a:t>Automated client communication.</a:t>
            </a:r>
            <a:endParaRPr lang="en-US" sz="2400" dirty="0"/>
          </a:p>
        </p:txBody>
      </p:sp>
      <p:sp>
        <p:nvSpPr>
          <p:cNvPr id="4" name="Shape 2"/>
          <p:cNvSpPr/>
          <p:nvPr/>
        </p:nvSpPr>
        <p:spPr>
          <a:xfrm>
            <a:off x="548640" y="1947672"/>
            <a:ext cx="128016" cy="128016"/>
          </a:xfrm>
          <a:prstGeom prst="ellipse">
            <a:avLst/>
          </a:prstGeom>
          <a:solidFill>
            <a:srgbClr val="FF7800"/>
          </a:solidFill>
          <a:ln/>
        </p:spPr>
        <p:txBody>
          <a:bodyPr/>
          <a:lstStyle/>
          <a:p>
            <a:endParaRPr lang="en-US"/>
          </a:p>
        </p:txBody>
      </p:sp>
      <p:sp>
        <p:nvSpPr>
          <p:cNvPr id="5" name="Text 3"/>
          <p:cNvSpPr/>
          <p:nvPr/>
        </p:nvSpPr>
        <p:spPr>
          <a:xfrm>
            <a:off x="822960" y="1783080"/>
            <a:ext cx="4937760" cy="365760"/>
          </a:xfrm>
          <a:prstGeom prst="rect">
            <a:avLst/>
          </a:prstGeom>
          <a:noFill/>
          <a:ln/>
        </p:spPr>
        <p:txBody>
          <a:bodyPr wrap="square" rtlCol="0" anchor="ctr"/>
          <a:lstStyle/>
          <a:p>
            <a:pPr marL="0" indent="0">
              <a:lnSpc>
                <a:spcPts val="1700"/>
              </a:lnSpc>
              <a:buNone/>
            </a:pPr>
            <a:r>
              <a:rPr lang="en-US" sz="1350" b="1" dirty="0">
                <a:solidFill>
                  <a:srgbClr val="2B3747"/>
                </a:solidFill>
                <a:latin typeface="Poppins" pitchFamily="34" charset="0"/>
                <a:ea typeface="Poppins" pitchFamily="34" charset="-122"/>
                <a:cs typeface="Poppins" pitchFamily="34" charset="-120"/>
              </a:rPr>
              <a:t>Pulls the ready state straight from Xero</a:t>
            </a:r>
            <a:endParaRPr lang="en-US" sz="1350" dirty="0"/>
          </a:p>
        </p:txBody>
      </p:sp>
      <p:sp>
        <p:nvSpPr>
          <p:cNvPr id="6" name="Text 4"/>
          <p:cNvSpPr/>
          <p:nvPr/>
        </p:nvSpPr>
        <p:spPr>
          <a:xfrm>
            <a:off x="822960" y="2176272"/>
            <a:ext cx="4937760" cy="685800"/>
          </a:xfrm>
          <a:prstGeom prst="rect">
            <a:avLst/>
          </a:prstGeom>
          <a:noFill/>
          <a:ln/>
        </p:spPr>
        <p:txBody>
          <a:bodyPr wrap="square" rtlCol="0" anchor="ctr"/>
          <a:lstStyle/>
          <a:p>
            <a:pPr marL="0" indent="0">
              <a:lnSpc>
                <a:spcPts val="1500"/>
              </a:lnSpc>
              <a:buNone/>
            </a:pPr>
            <a:r>
              <a:rPr lang="en-US" sz="1150" dirty="0">
                <a:solidFill>
                  <a:srgbClr val="6B7684"/>
                </a:solidFill>
                <a:latin typeface="Poppins" pitchFamily="34" charset="0"/>
                <a:ea typeface="Poppins" pitchFamily="34" charset="-122"/>
                <a:cs typeface="Poppins" pitchFamily="34" charset="-120"/>
              </a:rPr>
              <a:t>Every client's reconciliation status, checked automatically — no one logging in client by client.</a:t>
            </a:r>
            <a:endParaRPr lang="en-US" sz="1150" dirty="0"/>
          </a:p>
        </p:txBody>
      </p:sp>
      <p:sp>
        <p:nvSpPr>
          <p:cNvPr id="7" name="Shape 5"/>
          <p:cNvSpPr/>
          <p:nvPr/>
        </p:nvSpPr>
        <p:spPr>
          <a:xfrm>
            <a:off x="548640" y="3118104"/>
            <a:ext cx="128016" cy="128016"/>
          </a:xfrm>
          <a:prstGeom prst="ellipse">
            <a:avLst/>
          </a:prstGeom>
          <a:solidFill>
            <a:srgbClr val="FF7800"/>
          </a:solidFill>
          <a:ln/>
        </p:spPr>
        <p:txBody>
          <a:bodyPr/>
          <a:lstStyle/>
          <a:p>
            <a:endParaRPr lang="en-US"/>
          </a:p>
        </p:txBody>
      </p:sp>
      <p:sp>
        <p:nvSpPr>
          <p:cNvPr id="8" name="Text 6"/>
          <p:cNvSpPr/>
          <p:nvPr/>
        </p:nvSpPr>
        <p:spPr>
          <a:xfrm>
            <a:off x="822960" y="2953512"/>
            <a:ext cx="4937760" cy="365760"/>
          </a:xfrm>
          <a:prstGeom prst="rect">
            <a:avLst/>
          </a:prstGeom>
          <a:noFill/>
          <a:ln/>
        </p:spPr>
        <p:txBody>
          <a:bodyPr wrap="square" rtlCol="0" anchor="ctr"/>
          <a:lstStyle/>
          <a:p>
            <a:pPr marL="0" indent="0">
              <a:lnSpc>
                <a:spcPts val="1700"/>
              </a:lnSpc>
              <a:buNone/>
            </a:pPr>
            <a:r>
              <a:rPr lang="en-US" sz="1350" b="1" dirty="0">
                <a:solidFill>
                  <a:srgbClr val="2B3747"/>
                </a:solidFill>
                <a:latin typeface="Poppins" pitchFamily="34" charset="0"/>
                <a:ea typeface="Poppins" pitchFamily="34" charset="-122"/>
                <a:cs typeface="Poppins" pitchFamily="34" charset="-120"/>
              </a:rPr>
              <a:t>Drafts the chase-up message for you</a:t>
            </a:r>
            <a:endParaRPr lang="en-US" sz="1350" dirty="0"/>
          </a:p>
        </p:txBody>
      </p:sp>
      <p:sp>
        <p:nvSpPr>
          <p:cNvPr id="9" name="Text 7"/>
          <p:cNvSpPr/>
          <p:nvPr/>
        </p:nvSpPr>
        <p:spPr>
          <a:xfrm>
            <a:off x="822960" y="3346704"/>
            <a:ext cx="4937760" cy="685800"/>
          </a:xfrm>
          <a:prstGeom prst="rect">
            <a:avLst/>
          </a:prstGeom>
          <a:noFill/>
          <a:ln/>
        </p:spPr>
        <p:txBody>
          <a:bodyPr wrap="square" rtlCol="0" anchor="ctr"/>
          <a:lstStyle/>
          <a:p>
            <a:pPr marL="0" indent="0">
              <a:lnSpc>
                <a:spcPts val="1500"/>
              </a:lnSpc>
              <a:buNone/>
            </a:pPr>
            <a:r>
              <a:rPr lang="en-US" sz="1150" dirty="0">
                <a:solidFill>
                  <a:srgbClr val="6B7684"/>
                </a:solidFill>
                <a:latin typeface="Poppins" pitchFamily="34" charset="0"/>
                <a:ea typeface="Poppins" pitchFamily="34" charset="-122"/>
                <a:cs typeface="Poppins" pitchFamily="34" charset="-120"/>
              </a:rPr>
              <a:t>Anyone marked “Not Ready” gets a preset SMS, ready to send in one click.</a:t>
            </a:r>
            <a:endParaRPr lang="en-US" sz="1150" dirty="0"/>
          </a:p>
        </p:txBody>
      </p:sp>
      <p:sp>
        <p:nvSpPr>
          <p:cNvPr id="10" name="Shape 8"/>
          <p:cNvSpPr/>
          <p:nvPr/>
        </p:nvSpPr>
        <p:spPr>
          <a:xfrm>
            <a:off x="548640" y="4288536"/>
            <a:ext cx="128016" cy="128016"/>
          </a:xfrm>
          <a:prstGeom prst="ellipse">
            <a:avLst/>
          </a:prstGeom>
          <a:solidFill>
            <a:srgbClr val="FF7800"/>
          </a:solidFill>
          <a:ln/>
        </p:spPr>
        <p:txBody>
          <a:bodyPr/>
          <a:lstStyle/>
          <a:p>
            <a:endParaRPr lang="en-US"/>
          </a:p>
        </p:txBody>
      </p:sp>
      <p:sp>
        <p:nvSpPr>
          <p:cNvPr id="11" name="Text 9"/>
          <p:cNvSpPr/>
          <p:nvPr/>
        </p:nvSpPr>
        <p:spPr>
          <a:xfrm>
            <a:off x="822960" y="4123944"/>
            <a:ext cx="4937760" cy="365760"/>
          </a:xfrm>
          <a:prstGeom prst="rect">
            <a:avLst/>
          </a:prstGeom>
          <a:noFill/>
          <a:ln/>
        </p:spPr>
        <p:txBody>
          <a:bodyPr wrap="square" rtlCol="0" anchor="ctr"/>
          <a:lstStyle/>
          <a:p>
            <a:pPr marL="0" indent="0">
              <a:lnSpc>
                <a:spcPts val="1700"/>
              </a:lnSpc>
              <a:buNone/>
            </a:pPr>
            <a:r>
              <a:rPr lang="en-US" sz="1350" b="1" dirty="0">
                <a:solidFill>
                  <a:srgbClr val="2B3747"/>
                </a:solidFill>
                <a:latin typeface="Poppins" pitchFamily="34" charset="0"/>
                <a:ea typeface="Poppins" pitchFamily="34" charset="-122"/>
                <a:cs typeface="Poppins" pitchFamily="34" charset="-120"/>
              </a:rPr>
              <a:t>Removes the manual chasing entirely</a:t>
            </a:r>
            <a:endParaRPr lang="en-US" sz="1350" dirty="0"/>
          </a:p>
        </p:txBody>
      </p:sp>
      <p:sp>
        <p:nvSpPr>
          <p:cNvPr id="12" name="Text 10"/>
          <p:cNvSpPr/>
          <p:nvPr/>
        </p:nvSpPr>
        <p:spPr>
          <a:xfrm>
            <a:off x="822960" y="4517136"/>
            <a:ext cx="4937760" cy="685800"/>
          </a:xfrm>
          <a:prstGeom prst="rect">
            <a:avLst/>
          </a:prstGeom>
          <a:noFill/>
          <a:ln/>
        </p:spPr>
        <p:txBody>
          <a:bodyPr wrap="square" rtlCol="0" anchor="ctr"/>
          <a:lstStyle/>
          <a:p>
            <a:pPr marL="0" indent="0">
              <a:lnSpc>
                <a:spcPts val="1500"/>
              </a:lnSpc>
              <a:buNone/>
            </a:pPr>
            <a:r>
              <a:rPr lang="en-US" sz="1150" dirty="0">
                <a:solidFill>
                  <a:srgbClr val="6B7684"/>
                </a:solidFill>
                <a:latin typeface="Poppins" pitchFamily="34" charset="0"/>
                <a:ea typeface="Poppins" pitchFamily="34" charset="-122"/>
                <a:cs typeface="Poppins" pitchFamily="34" charset="-120"/>
              </a:rPr>
              <a:t>The team isn't remembering who to follow up — the system already knows.</a:t>
            </a:r>
            <a:endParaRPr lang="en-US" sz="1150" dirty="0"/>
          </a:p>
        </p:txBody>
      </p:sp>
      <p:pic>
        <p:nvPicPr>
          <p:cNvPr id="14" name="Image 0" descr="/home/claude/build/img_client_comms.png"/>
          <p:cNvPicPr>
            <a:picLocks noChangeAspect="1"/>
          </p:cNvPicPr>
          <p:nvPr/>
        </p:nvPicPr>
        <p:blipFill>
          <a:blip r:embed="rId3"/>
          <a:stretch>
            <a:fillRect/>
          </a:stretch>
        </p:blipFill>
        <p:spPr>
          <a:xfrm>
            <a:off x="5889867" y="457200"/>
            <a:ext cx="5933325" cy="5317558"/>
          </a:xfrm>
          <a:prstGeom prst="rect">
            <a:avLst/>
          </a:prstGeom>
        </p:spPr>
      </p:pic>
      <p:sp>
        <p:nvSpPr>
          <p:cNvPr id="15" name="Text 12"/>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INTRODUCTION</a:t>
            </a:r>
            <a:endParaRPr lang="en-US" sz="900" dirty="0"/>
          </a:p>
        </p:txBody>
      </p:sp>
      <p:sp>
        <p:nvSpPr>
          <p:cNvPr id="16" name="Text 13"/>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EXAMPLE THREE OF THREE</a:t>
            </a:r>
            <a:endParaRPr lang="en-US" sz="1100" dirty="0"/>
          </a:p>
        </p:txBody>
      </p:sp>
      <p:sp>
        <p:nvSpPr>
          <p:cNvPr id="3" name="Text 1"/>
          <p:cNvSpPr/>
          <p:nvPr/>
        </p:nvSpPr>
        <p:spPr>
          <a:xfrm>
            <a:off x="548640" y="777240"/>
            <a:ext cx="5212080" cy="914400"/>
          </a:xfrm>
          <a:prstGeom prst="rect">
            <a:avLst/>
          </a:prstGeom>
          <a:noFill/>
          <a:ln/>
        </p:spPr>
        <p:txBody>
          <a:bodyPr wrap="square" rtlCol="0" anchor="ctr"/>
          <a:lstStyle/>
          <a:p>
            <a:pPr marL="0" indent="0">
              <a:lnSpc>
                <a:spcPts val="2900"/>
              </a:lnSpc>
              <a:buNone/>
            </a:pPr>
            <a:r>
              <a:rPr lang="en-US" sz="2400" b="1" dirty="0">
                <a:solidFill>
                  <a:srgbClr val="2B3747"/>
                </a:solidFill>
                <a:latin typeface="Poppins" pitchFamily="34" charset="0"/>
                <a:ea typeface="Poppins" pitchFamily="34" charset="-122"/>
                <a:cs typeface="Poppins" pitchFamily="34" charset="-120"/>
              </a:rPr>
              <a:t>Automated job status movements.</a:t>
            </a:r>
            <a:endParaRPr lang="en-US" sz="2400" dirty="0"/>
          </a:p>
        </p:txBody>
      </p:sp>
      <p:sp>
        <p:nvSpPr>
          <p:cNvPr id="4" name="Shape 2"/>
          <p:cNvSpPr/>
          <p:nvPr/>
        </p:nvSpPr>
        <p:spPr>
          <a:xfrm>
            <a:off x="548640" y="1947672"/>
            <a:ext cx="128016" cy="128016"/>
          </a:xfrm>
          <a:prstGeom prst="ellipse">
            <a:avLst/>
          </a:prstGeom>
          <a:solidFill>
            <a:srgbClr val="FF7800"/>
          </a:solidFill>
          <a:ln/>
        </p:spPr>
        <p:txBody>
          <a:bodyPr/>
          <a:lstStyle/>
          <a:p>
            <a:endParaRPr lang="en-US"/>
          </a:p>
        </p:txBody>
      </p:sp>
      <p:sp>
        <p:nvSpPr>
          <p:cNvPr id="5" name="Text 3"/>
          <p:cNvSpPr/>
          <p:nvPr/>
        </p:nvSpPr>
        <p:spPr>
          <a:xfrm>
            <a:off x="822960" y="1783080"/>
            <a:ext cx="4937760" cy="365760"/>
          </a:xfrm>
          <a:prstGeom prst="rect">
            <a:avLst/>
          </a:prstGeom>
          <a:noFill/>
          <a:ln/>
        </p:spPr>
        <p:txBody>
          <a:bodyPr wrap="square" rtlCol="0" anchor="ctr"/>
          <a:lstStyle/>
          <a:p>
            <a:pPr marL="0" indent="0">
              <a:lnSpc>
                <a:spcPts val="1700"/>
              </a:lnSpc>
              <a:buNone/>
            </a:pPr>
            <a:r>
              <a:rPr lang="en-US" sz="1350" b="1" dirty="0">
                <a:solidFill>
                  <a:srgbClr val="2B3747"/>
                </a:solidFill>
                <a:latin typeface="Poppins" pitchFamily="34" charset="0"/>
                <a:ea typeface="Poppins" pitchFamily="34" charset="-122"/>
                <a:cs typeface="Poppins" pitchFamily="34" charset="-120"/>
              </a:rPr>
              <a:t>Same tool, a second job</a:t>
            </a:r>
            <a:endParaRPr lang="en-US" sz="1350" dirty="0"/>
          </a:p>
        </p:txBody>
      </p:sp>
      <p:sp>
        <p:nvSpPr>
          <p:cNvPr id="6" name="Text 4"/>
          <p:cNvSpPr/>
          <p:nvPr/>
        </p:nvSpPr>
        <p:spPr>
          <a:xfrm>
            <a:off x="822960" y="2176272"/>
            <a:ext cx="3984710" cy="685800"/>
          </a:xfrm>
          <a:prstGeom prst="rect">
            <a:avLst/>
          </a:prstGeom>
          <a:noFill/>
          <a:ln/>
        </p:spPr>
        <p:txBody>
          <a:bodyPr wrap="square" rtlCol="0" anchor="ctr"/>
          <a:lstStyle/>
          <a:p>
            <a:pPr marL="0" indent="0">
              <a:lnSpc>
                <a:spcPts val="1500"/>
              </a:lnSpc>
              <a:buNone/>
            </a:pPr>
            <a:r>
              <a:rPr lang="en-US" sz="1150" dirty="0">
                <a:solidFill>
                  <a:srgbClr val="6B7684"/>
                </a:solidFill>
                <a:latin typeface="Poppins" pitchFamily="34" charset="0"/>
                <a:ea typeface="Poppins" pitchFamily="34" charset="-122"/>
                <a:cs typeface="Poppins" pitchFamily="34" charset="-120"/>
              </a:rPr>
              <a:t>The reconciliation ready-state check also compares against each client's Karbon job.</a:t>
            </a:r>
            <a:endParaRPr lang="en-US" sz="1150" dirty="0"/>
          </a:p>
        </p:txBody>
      </p:sp>
      <p:sp>
        <p:nvSpPr>
          <p:cNvPr id="7" name="Shape 5"/>
          <p:cNvSpPr/>
          <p:nvPr/>
        </p:nvSpPr>
        <p:spPr>
          <a:xfrm>
            <a:off x="548640" y="3118104"/>
            <a:ext cx="128016" cy="128016"/>
          </a:xfrm>
          <a:prstGeom prst="ellipse">
            <a:avLst/>
          </a:prstGeom>
          <a:solidFill>
            <a:srgbClr val="FF7800"/>
          </a:solidFill>
          <a:ln/>
        </p:spPr>
        <p:txBody>
          <a:bodyPr/>
          <a:lstStyle/>
          <a:p>
            <a:endParaRPr lang="en-US"/>
          </a:p>
        </p:txBody>
      </p:sp>
      <p:sp>
        <p:nvSpPr>
          <p:cNvPr id="8" name="Text 6"/>
          <p:cNvSpPr/>
          <p:nvPr/>
        </p:nvSpPr>
        <p:spPr>
          <a:xfrm>
            <a:off x="822960" y="2953512"/>
            <a:ext cx="4126112" cy="365760"/>
          </a:xfrm>
          <a:prstGeom prst="rect">
            <a:avLst/>
          </a:prstGeom>
          <a:noFill/>
          <a:ln/>
        </p:spPr>
        <p:txBody>
          <a:bodyPr wrap="square" rtlCol="0" anchor="ctr"/>
          <a:lstStyle/>
          <a:p>
            <a:pPr marL="0" indent="0">
              <a:lnSpc>
                <a:spcPts val="1700"/>
              </a:lnSpc>
              <a:buNone/>
            </a:pPr>
            <a:r>
              <a:rPr lang="en-US" sz="1350" b="1" dirty="0">
                <a:solidFill>
                  <a:srgbClr val="2B3747"/>
                </a:solidFill>
                <a:latin typeface="Poppins" pitchFamily="34" charset="0"/>
                <a:ea typeface="Poppins" pitchFamily="34" charset="-122"/>
                <a:cs typeface="Poppins" pitchFamily="34" charset="-120"/>
              </a:rPr>
              <a:t>Status moves itself when the numbers clear</a:t>
            </a:r>
            <a:endParaRPr lang="en-US" sz="1350" dirty="0"/>
          </a:p>
        </p:txBody>
      </p:sp>
      <p:sp>
        <p:nvSpPr>
          <p:cNvPr id="9" name="Text 7"/>
          <p:cNvSpPr/>
          <p:nvPr/>
        </p:nvSpPr>
        <p:spPr>
          <a:xfrm>
            <a:off x="822960" y="3346704"/>
            <a:ext cx="3984710" cy="685800"/>
          </a:xfrm>
          <a:prstGeom prst="rect">
            <a:avLst/>
          </a:prstGeom>
          <a:noFill/>
          <a:ln/>
        </p:spPr>
        <p:txBody>
          <a:bodyPr wrap="square" rtlCol="0" anchor="ctr"/>
          <a:lstStyle/>
          <a:p>
            <a:pPr marL="0" indent="0">
              <a:lnSpc>
                <a:spcPts val="1500"/>
              </a:lnSpc>
              <a:buNone/>
            </a:pPr>
            <a:r>
              <a:rPr lang="en-US" sz="1150" dirty="0">
                <a:solidFill>
                  <a:srgbClr val="6B7684"/>
                </a:solidFill>
                <a:latin typeface="Poppins" pitchFamily="34" charset="0"/>
                <a:ea typeface="Poppins" pitchFamily="34" charset="-122"/>
                <a:cs typeface="Poppins" pitchFamily="34" charset="-120"/>
              </a:rPr>
              <a:t>Once a client is genuinely “Ready,” the matching Karbon job can be bulk-updated automatically.</a:t>
            </a:r>
            <a:endParaRPr lang="en-US" sz="1150" dirty="0"/>
          </a:p>
        </p:txBody>
      </p:sp>
      <p:sp>
        <p:nvSpPr>
          <p:cNvPr id="10" name="Shape 8"/>
          <p:cNvSpPr/>
          <p:nvPr/>
        </p:nvSpPr>
        <p:spPr>
          <a:xfrm>
            <a:off x="548640" y="4288536"/>
            <a:ext cx="128016" cy="128016"/>
          </a:xfrm>
          <a:prstGeom prst="ellipse">
            <a:avLst/>
          </a:prstGeom>
          <a:solidFill>
            <a:srgbClr val="FF7800"/>
          </a:solidFill>
          <a:ln/>
        </p:spPr>
        <p:txBody>
          <a:bodyPr/>
          <a:lstStyle/>
          <a:p>
            <a:endParaRPr lang="en-US"/>
          </a:p>
        </p:txBody>
      </p:sp>
      <p:sp>
        <p:nvSpPr>
          <p:cNvPr id="11" name="Text 9"/>
          <p:cNvSpPr/>
          <p:nvPr/>
        </p:nvSpPr>
        <p:spPr>
          <a:xfrm>
            <a:off x="822960" y="4123944"/>
            <a:ext cx="4937760" cy="365760"/>
          </a:xfrm>
          <a:prstGeom prst="rect">
            <a:avLst/>
          </a:prstGeom>
          <a:noFill/>
          <a:ln/>
        </p:spPr>
        <p:txBody>
          <a:bodyPr wrap="square" rtlCol="0" anchor="ctr"/>
          <a:lstStyle/>
          <a:p>
            <a:pPr marL="0" indent="0">
              <a:lnSpc>
                <a:spcPts val="1700"/>
              </a:lnSpc>
              <a:buNone/>
            </a:pPr>
            <a:r>
              <a:rPr lang="en-US" sz="1350" b="1" dirty="0">
                <a:solidFill>
                  <a:srgbClr val="2B3747"/>
                </a:solidFill>
                <a:latin typeface="Poppins" pitchFamily="34" charset="0"/>
                <a:ea typeface="Poppins" pitchFamily="34" charset="-122"/>
                <a:cs typeface="Poppins" pitchFamily="34" charset="-120"/>
              </a:rPr>
              <a:t>No one dragging cards on faith</a:t>
            </a:r>
            <a:endParaRPr lang="en-US" sz="1350" dirty="0"/>
          </a:p>
        </p:txBody>
      </p:sp>
      <p:sp>
        <p:nvSpPr>
          <p:cNvPr id="12" name="Text 10"/>
          <p:cNvSpPr/>
          <p:nvPr/>
        </p:nvSpPr>
        <p:spPr>
          <a:xfrm>
            <a:off x="822960" y="4517136"/>
            <a:ext cx="4126112" cy="685800"/>
          </a:xfrm>
          <a:prstGeom prst="rect">
            <a:avLst/>
          </a:prstGeom>
          <a:noFill/>
          <a:ln/>
        </p:spPr>
        <p:txBody>
          <a:bodyPr wrap="square" rtlCol="0" anchor="ctr"/>
          <a:lstStyle/>
          <a:p>
            <a:pPr marL="0" indent="0">
              <a:lnSpc>
                <a:spcPts val="1500"/>
              </a:lnSpc>
              <a:buNone/>
            </a:pPr>
            <a:r>
              <a:rPr lang="en-US" sz="1150" dirty="0">
                <a:solidFill>
                  <a:srgbClr val="6B7684"/>
                </a:solidFill>
                <a:latin typeface="Poppins" pitchFamily="34" charset="0"/>
                <a:ea typeface="Poppins" pitchFamily="34" charset="-122"/>
                <a:cs typeface="Poppins" pitchFamily="34" charset="-120"/>
              </a:rPr>
              <a:t>Jobs move because the data says they're ready — not because someone remembered to check.</a:t>
            </a:r>
            <a:endParaRPr lang="en-US" sz="1150" dirty="0"/>
          </a:p>
        </p:txBody>
      </p:sp>
      <p:pic>
        <p:nvPicPr>
          <p:cNvPr id="14" name="Image 0" descr="/home/claude/build/img_job_status.png"/>
          <p:cNvPicPr>
            <a:picLocks noChangeAspect="1"/>
          </p:cNvPicPr>
          <p:nvPr/>
        </p:nvPicPr>
        <p:blipFill>
          <a:blip r:embed="rId3"/>
          <a:stretch>
            <a:fillRect/>
          </a:stretch>
        </p:blipFill>
        <p:spPr>
          <a:xfrm>
            <a:off x="5359369" y="670104"/>
            <a:ext cx="6591700" cy="4039057"/>
          </a:xfrm>
          <a:prstGeom prst="rect">
            <a:avLst/>
          </a:prstGeom>
        </p:spPr>
      </p:pic>
      <p:sp>
        <p:nvSpPr>
          <p:cNvPr id="15" name="Text 12"/>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INTRODUCTION</a:t>
            </a:r>
            <a:endParaRPr lang="en-US" sz="900" dirty="0"/>
          </a:p>
        </p:txBody>
      </p:sp>
      <p:sp>
        <p:nvSpPr>
          <p:cNvPr id="16" name="Text 13"/>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B3747"/>
        </a:solidFill>
        <a:effectLst/>
      </p:bgPr>
    </p:bg>
    <p:spTree>
      <p:nvGrpSpPr>
        <p:cNvPr id="1" name=""/>
        <p:cNvGrpSpPr/>
        <p:nvPr/>
      </p:nvGrpSpPr>
      <p:grpSpPr>
        <a:xfrm>
          <a:off x="0" y="0"/>
          <a:ext cx="0" cy="0"/>
          <a:chOff x="0" y="0"/>
          <a:chExt cx="0" cy="0"/>
        </a:xfrm>
      </p:grpSpPr>
      <p:sp>
        <p:nvSpPr>
          <p:cNvPr id="2" name="Shape 0"/>
          <p:cNvSpPr/>
          <p:nvPr/>
        </p:nvSpPr>
        <p:spPr>
          <a:xfrm>
            <a:off x="10725912" y="-1280160"/>
            <a:ext cx="3108960" cy="3108960"/>
          </a:xfrm>
          <a:prstGeom prst="ellipse">
            <a:avLst/>
          </a:prstGeom>
          <a:solidFill>
            <a:srgbClr val="FF7800"/>
          </a:solidFill>
          <a:ln/>
        </p:spPr>
        <p:txBody>
          <a:bodyPr/>
          <a:lstStyle/>
          <a:p>
            <a:endParaRPr lang="en-US"/>
          </a:p>
        </p:txBody>
      </p:sp>
      <p:sp>
        <p:nvSpPr>
          <p:cNvPr id="3" name="Shape 1"/>
          <p:cNvSpPr/>
          <p:nvPr/>
        </p:nvSpPr>
        <p:spPr>
          <a:xfrm>
            <a:off x="-1463040" y="5394960"/>
            <a:ext cx="2560320" cy="2560320"/>
          </a:xfrm>
          <a:prstGeom prst="ellipse">
            <a:avLst/>
          </a:prstGeom>
          <a:solidFill>
            <a:srgbClr val="6FA73F"/>
          </a:solidFill>
          <a:ln/>
        </p:spPr>
        <p:txBody>
          <a:bodyPr/>
          <a:lstStyle/>
          <a:p>
            <a:endParaRPr lang="en-US"/>
          </a:p>
        </p:txBody>
      </p:sp>
      <p:sp>
        <p:nvSpPr>
          <p:cNvPr id="4" name="Text 2"/>
          <p:cNvSpPr/>
          <p:nvPr/>
        </p:nvSpPr>
        <p:spPr>
          <a:xfrm>
            <a:off x="548640" y="548640"/>
            <a:ext cx="54864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PART 01 OF 03</a:t>
            </a:r>
            <a:endParaRPr lang="en-US" sz="1100" dirty="0"/>
          </a:p>
        </p:txBody>
      </p:sp>
      <p:sp>
        <p:nvSpPr>
          <p:cNvPr id="5" name="Text 3"/>
          <p:cNvSpPr/>
          <p:nvPr/>
        </p:nvSpPr>
        <p:spPr>
          <a:xfrm>
            <a:off x="548640" y="2743200"/>
            <a:ext cx="9601200" cy="1463040"/>
          </a:xfrm>
          <a:prstGeom prst="rect">
            <a:avLst/>
          </a:prstGeom>
          <a:noFill/>
          <a:ln/>
        </p:spPr>
        <p:txBody>
          <a:bodyPr wrap="square" rtlCol="0" anchor="ctr"/>
          <a:lstStyle/>
          <a:p>
            <a:pPr marL="0" indent="0">
              <a:lnSpc>
                <a:spcPts val="4200"/>
              </a:lnSpc>
              <a:buNone/>
            </a:pPr>
            <a:r>
              <a:rPr lang="en-US" sz="3600" b="1" dirty="0">
                <a:solidFill>
                  <a:srgbClr val="FFFFFF"/>
                </a:solidFill>
                <a:latin typeface="Poppins" pitchFamily="34" charset="0"/>
                <a:ea typeface="Poppins" pitchFamily="34" charset="-122"/>
                <a:cs typeface="Poppins" pitchFamily="34" charset="-120"/>
              </a:rPr>
              <a:t>The framework: </a:t>
            </a:r>
            <a:r>
              <a:rPr lang="en-US" sz="3600" b="1" dirty="0">
                <a:solidFill>
                  <a:srgbClr val="FF7800"/>
                </a:solidFill>
                <a:latin typeface="Poppins" pitchFamily="34" charset="0"/>
                <a:ea typeface="Poppins" pitchFamily="34" charset="-122"/>
                <a:cs typeface="Poppins" pitchFamily="34" charset="-120"/>
              </a:rPr>
              <a:t>Eliminate, Automate, Delegate</a:t>
            </a:r>
            <a:endParaRPr lang="en-US" sz="3600" dirty="0"/>
          </a:p>
        </p:txBody>
      </p:sp>
      <p:sp>
        <p:nvSpPr>
          <p:cNvPr id="6" name="Text 4"/>
          <p:cNvSpPr/>
          <p:nvPr/>
        </p:nvSpPr>
        <p:spPr>
          <a:xfrm>
            <a:off x="548640" y="4114800"/>
            <a:ext cx="7315200" cy="548640"/>
          </a:xfrm>
          <a:prstGeom prst="rect">
            <a:avLst/>
          </a:prstGeom>
          <a:noFill/>
          <a:ln/>
        </p:spPr>
        <p:txBody>
          <a:bodyPr wrap="square" rtlCol="0" anchor="ctr"/>
          <a:lstStyle/>
          <a:p>
            <a:pPr marL="0" indent="0">
              <a:buNone/>
            </a:pPr>
            <a:r>
              <a:rPr lang="en-US" sz="1500" dirty="0">
                <a:solidFill>
                  <a:srgbClr val="C6CCD4"/>
                </a:solidFill>
                <a:latin typeface="Poppins" pitchFamily="34" charset="0"/>
                <a:ea typeface="Poppins" pitchFamily="34" charset="-122"/>
                <a:cs typeface="Poppins" pitchFamily="34" charset="-120"/>
              </a:rPr>
              <a:t>The three questions we ask before touching any workflow.</a:t>
            </a:r>
            <a:endParaRPr lang="en-US" sz="1500" dirty="0"/>
          </a:p>
        </p:txBody>
      </p:sp>
      <p:sp>
        <p:nvSpPr>
          <p:cNvPr id="8" name="Text 6"/>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9AA5B1"/>
                </a:solidFill>
                <a:latin typeface="Poppins" pitchFamily="34" charset="0"/>
                <a:ea typeface="Poppins" pitchFamily="34" charset="-122"/>
                <a:cs typeface="Poppins"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STEP ONE</a:t>
            </a:r>
            <a:endParaRPr lang="en-US" sz="1100" dirty="0"/>
          </a:p>
        </p:txBody>
      </p:sp>
      <p:sp>
        <p:nvSpPr>
          <p:cNvPr id="3" name="Text 1"/>
          <p:cNvSpPr/>
          <p:nvPr/>
        </p:nvSpPr>
        <p:spPr>
          <a:xfrm>
            <a:off x="548640" y="777240"/>
            <a:ext cx="9144000" cy="685800"/>
          </a:xfrm>
          <a:prstGeom prst="rect">
            <a:avLst/>
          </a:prstGeom>
          <a:noFill/>
          <a:ln/>
        </p:spPr>
        <p:txBody>
          <a:bodyPr wrap="square" rtlCol="0" anchor="ctr"/>
          <a:lstStyle/>
          <a:p>
            <a:pPr marL="0" indent="0">
              <a:buNone/>
            </a:pPr>
            <a:r>
              <a:rPr lang="en-US" sz="3000" b="1" dirty="0">
                <a:solidFill>
                  <a:srgbClr val="2B3747"/>
                </a:solidFill>
                <a:latin typeface="Poppins" pitchFamily="34" charset="0"/>
                <a:ea typeface="Poppins" pitchFamily="34" charset="-122"/>
                <a:cs typeface="Poppins" pitchFamily="34" charset="-120"/>
              </a:rPr>
              <a:t>Eliminate.</a:t>
            </a:r>
            <a:endParaRPr lang="en-US" sz="3000" dirty="0"/>
          </a:p>
        </p:txBody>
      </p:sp>
      <p:sp>
        <p:nvSpPr>
          <p:cNvPr id="4" name="Text 2"/>
          <p:cNvSpPr/>
          <p:nvPr/>
        </p:nvSpPr>
        <p:spPr>
          <a:xfrm>
            <a:off x="548640" y="1508760"/>
            <a:ext cx="7315200" cy="457200"/>
          </a:xfrm>
          <a:prstGeom prst="rect">
            <a:avLst/>
          </a:prstGeom>
          <a:noFill/>
          <a:ln/>
        </p:spPr>
        <p:txBody>
          <a:bodyPr wrap="square" rtlCol="0" anchor="ctr"/>
          <a:lstStyle/>
          <a:p>
            <a:pPr marL="0" indent="0">
              <a:buNone/>
            </a:pPr>
            <a:r>
              <a:rPr lang="en-US" sz="1500" i="1" dirty="0">
                <a:solidFill>
                  <a:srgbClr val="6B7684"/>
                </a:solidFill>
                <a:latin typeface="Poppins" pitchFamily="34" charset="0"/>
                <a:ea typeface="Poppins" pitchFamily="34" charset="-122"/>
                <a:cs typeface="Poppins" pitchFamily="34" charset="-120"/>
              </a:rPr>
              <a:t>Do we even need to do that at all?</a:t>
            </a:r>
            <a:endParaRPr lang="en-US" sz="1500" dirty="0"/>
          </a:p>
        </p:txBody>
      </p:sp>
      <p:sp>
        <p:nvSpPr>
          <p:cNvPr id="5" name="Shape 3"/>
          <p:cNvSpPr/>
          <p:nvPr/>
        </p:nvSpPr>
        <p:spPr>
          <a:xfrm>
            <a:off x="548640" y="2194560"/>
            <a:ext cx="10881360" cy="1051560"/>
          </a:xfrm>
          <a:prstGeom prst="roundRect">
            <a:avLst>
              <a:gd name="adj" fmla="val 6957"/>
            </a:avLst>
          </a:prstGeom>
          <a:solidFill>
            <a:srgbClr val="FFFFFF"/>
          </a:solidFill>
          <a:ln w="12700">
            <a:solidFill>
              <a:srgbClr val="D9D2C3"/>
            </a:solidFill>
            <a:prstDash val="solid"/>
          </a:ln>
        </p:spPr>
        <p:txBody>
          <a:bodyPr/>
          <a:lstStyle/>
          <a:p>
            <a:endParaRPr lang="en-US"/>
          </a:p>
        </p:txBody>
      </p:sp>
      <p:sp>
        <p:nvSpPr>
          <p:cNvPr id="6" name="Text 4"/>
          <p:cNvSpPr/>
          <p:nvPr/>
        </p:nvSpPr>
        <p:spPr>
          <a:xfrm>
            <a:off x="868680" y="2194560"/>
            <a:ext cx="10241280" cy="1051560"/>
          </a:xfrm>
          <a:prstGeom prst="rect">
            <a:avLst/>
          </a:prstGeom>
          <a:noFill/>
          <a:ln/>
        </p:spPr>
        <p:txBody>
          <a:bodyPr wrap="square" rtlCol="0" anchor="ctr"/>
          <a:lstStyle/>
          <a:p>
            <a:pPr marL="0" indent="0">
              <a:lnSpc>
                <a:spcPts val="1900"/>
              </a:lnSpc>
              <a:buNone/>
            </a:pPr>
            <a:r>
              <a:rPr lang="en-US" sz="1500" b="1" dirty="0">
                <a:solidFill>
                  <a:srgbClr val="2B3747"/>
                </a:solidFill>
                <a:latin typeface="Poppins" pitchFamily="34" charset="0"/>
                <a:ea typeface="Poppins" pitchFamily="34" charset="-122"/>
                <a:cs typeface="Poppins" pitchFamily="34" charset="-120"/>
              </a:rPr>
              <a:t>The step everyone glosses over — but it's often the easiest win in the room.</a:t>
            </a:r>
            <a:endParaRPr lang="en-US" sz="1500" dirty="0"/>
          </a:p>
        </p:txBody>
      </p:sp>
      <p:sp>
        <p:nvSpPr>
          <p:cNvPr id="7" name="Text 5"/>
          <p:cNvSpPr/>
          <p:nvPr/>
        </p:nvSpPr>
        <p:spPr>
          <a:xfrm>
            <a:off x="548640" y="3566160"/>
            <a:ext cx="6035040" cy="1463040"/>
          </a:xfrm>
          <a:prstGeom prst="rect">
            <a:avLst/>
          </a:prstGeom>
          <a:noFill/>
          <a:ln/>
        </p:spPr>
        <p:txBody>
          <a:bodyPr wrap="square" rtlCol="0" anchor="ctr"/>
          <a:lstStyle/>
          <a:p>
            <a:pPr marL="0" indent="0">
              <a:lnSpc>
                <a:spcPts val="1900"/>
              </a:lnSpc>
              <a:buNone/>
            </a:pPr>
            <a:r>
              <a:rPr lang="en-US" sz="1300" dirty="0">
                <a:solidFill>
                  <a:srgbClr val="6B7684"/>
                </a:solidFill>
                <a:latin typeface="Poppins" pitchFamily="34" charset="0"/>
                <a:ea typeface="Poppins" pitchFamily="34" charset="-122"/>
                <a:cs typeface="Poppins" pitchFamily="34" charset="-120"/>
              </a:rPr>
              <a:t>Before you automate or delegate a task, ask whether the task itself is still earning its place. Plenty of recurring work exists purely out of habit.</a:t>
            </a:r>
            <a:endParaRPr lang="en-US" sz="1300" dirty="0"/>
          </a:p>
        </p:txBody>
      </p:sp>
      <p:sp>
        <p:nvSpPr>
          <p:cNvPr id="8" name="Shape 6"/>
          <p:cNvSpPr/>
          <p:nvPr/>
        </p:nvSpPr>
        <p:spPr>
          <a:xfrm>
            <a:off x="6858000" y="3566160"/>
            <a:ext cx="4754880" cy="2286000"/>
          </a:xfrm>
          <a:prstGeom prst="roundRect">
            <a:avLst>
              <a:gd name="adj" fmla="val 3200"/>
            </a:avLst>
          </a:prstGeom>
          <a:solidFill>
            <a:srgbClr val="2B3747"/>
          </a:solidFill>
          <a:ln/>
        </p:spPr>
        <p:txBody>
          <a:bodyPr/>
          <a:lstStyle/>
          <a:p>
            <a:endParaRPr lang="en-US"/>
          </a:p>
        </p:txBody>
      </p:sp>
      <p:sp>
        <p:nvSpPr>
          <p:cNvPr id="9" name="Text 7"/>
          <p:cNvSpPr/>
          <p:nvPr/>
        </p:nvSpPr>
        <p:spPr>
          <a:xfrm>
            <a:off x="7178040" y="3794760"/>
            <a:ext cx="4114800" cy="274320"/>
          </a:xfrm>
          <a:prstGeom prst="rect">
            <a:avLst/>
          </a:prstGeom>
          <a:noFill/>
          <a:ln/>
        </p:spPr>
        <p:txBody>
          <a:bodyPr wrap="square" rtlCol="0" anchor="ctr"/>
          <a:lstStyle/>
          <a:p>
            <a:pPr marL="0" indent="0">
              <a:buNone/>
            </a:pPr>
            <a:r>
              <a:rPr lang="en-US" sz="1000" b="1" kern="0" spc="100" dirty="0">
                <a:solidFill>
                  <a:srgbClr val="6FA73F"/>
                </a:solidFill>
                <a:latin typeface="Poppins" pitchFamily="34" charset="0"/>
                <a:ea typeface="Poppins" pitchFamily="34" charset="-122"/>
                <a:cs typeface="Poppins" pitchFamily="34" charset="-120"/>
              </a:rPr>
              <a:t>TRY THIS</a:t>
            </a:r>
            <a:endParaRPr lang="en-US" sz="1000" dirty="0"/>
          </a:p>
        </p:txBody>
      </p:sp>
      <p:sp>
        <p:nvSpPr>
          <p:cNvPr id="10" name="Text 8"/>
          <p:cNvSpPr/>
          <p:nvPr/>
        </p:nvSpPr>
        <p:spPr>
          <a:xfrm>
            <a:off x="7178040" y="4114800"/>
            <a:ext cx="4114800" cy="731520"/>
          </a:xfrm>
          <a:prstGeom prst="rect">
            <a:avLst/>
          </a:prstGeom>
          <a:noFill/>
          <a:ln/>
        </p:spPr>
        <p:txBody>
          <a:bodyPr wrap="square" rtlCol="0" anchor="ctr"/>
          <a:lstStyle/>
          <a:p>
            <a:pPr marL="0" indent="0">
              <a:lnSpc>
                <a:spcPts val="1700"/>
              </a:lnSpc>
              <a:buNone/>
            </a:pPr>
            <a:r>
              <a:rPr lang="en-US" sz="1300" b="1" dirty="0">
                <a:solidFill>
                  <a:srgbClr val="FFFFFF"/>
                </a:solidFill>
                <a:latin typeface="Poppins" pitchFamily="34" charset="0"/>
                <a:ea typeface="Poppins" pitchFamily="34" charset="-122"/>
                <a:cs typeface="Poppins" pitchFamily="34" charset="-120"/>
              </a:rPr>
              <a:t>Think of something you have to go back &amp; forth with clients on that you would love to eliminate.</a:t>
            </a:r>
            <a:endParaRPr lang="en-US" sz="1300" dirty="0"/>
          </a:p>
        </p:txBody>
      </p:sp>
      <p:sp>
        <p:nvSpPr>
          <p:cNvPr id="11" name="Text 9"/>
          <p:cNvSpPr/>
          <p:nvPr/>
        </p:nvSpPr>
        <p:spPr>
          <a:xfrm>
            <a:off x="7178040" y="4892040"/>
            <a:ext cx="4114800" cy="822960"/>
          </a:xfrm>
          <a:prstGeom prst="rect">
            <a:avLst/>
          </a:prstGeom>
          <a:noFill/>
          <a:ln/>
        </p:spPr>
        <p:txBody>
          <a:bodyPr wrap="square" rtlCol="0" anchor="ctr"/>
          <a:lstStyle/>
          <a:p>
            <a:pPr marL="0" indent="0">
              <a:lnSpc>
                <a:spcPts val="1500"/>
              </a:lnSpc>
              <a:buNone/>
            </a:pPr>
            <a:r>
              <a:rPr lang="en-US" sz="1100" dirty="0">
                <a:solidFill>
                  <a:srgbClr val="C6CCD4"/>
                </a:solidFill>
                <a:latin typeface="Poppins" pitchFamily="34" charset="0"/>
                <a:ea typeface="Poppins" pitchFamily="34" charset="-122"/>
                <a:cs typeface="Poppins" pitchFamily="34" charset="-120"/>
              </a:rPr>
              <a:t>EXAMPLES : </a:t>
            </a:r>
          </a:p>
          <a:p>
            <a:pPr marL="0" indent="0">
              <a:lnSpc>
                <a:spcPts val="1500"/>
              </a:lnSpc>
              <a:buNone/>
            </a:pPr>
            <a:r>
              <a:rPr lang="en-US" sz="1100" dirty="0">
                <a:solidFill>
                  <a:srgbClr val="C6CCD4"/>
                </a:solidFill>
                <a:latin typeface="Poppins" pitchFamily="34" charset="0"/>
                <a:ea typeface="Poppins" pitchFamily="34" charset="-122"/>
                <a:cs typeface="Poppins" pitchFamily="34" charset="-120"/>
              </a:rPr>
              <a:t>Content Snare for chasing documents</a:t>
            </a:r>
            <a:br>
              <a:rPr lang="en-US" sz="1100" dirty="0">
                <a:solidFill>
                  <a:srgbClr val="C6CCD4"/>
                </a:solidFill>
                <a:latin typeface="Poppins" pitchFamily="34" charset="0"/>
                <a:ea typeface="Poppins" pitchFamily="34" charset="-122"/>
                <a:cs typeface="Poppins" pitchFamily="34" charset="-120"/>
              </a:rPr>
            </a:br>
            <a:r>
              <a:rPr lang="en-US" sz="1100" dirty="0">
                <a:solidFill>
                  <a:srgbClr val="C6CCD4"/>
                </a:solidFill>
                <a:latin typeface="Poppins" pitchFamily="34" charset="0"/>
                <a:ea typeface="Poppins" pitchFamily="34" charset="-122"/>
                <a:cs typeface="Poppins" pitchFamily="34" charset="-120"/>
              </a:rPr>
              <a:t>Calendly for booking appointments</a:t>
            </a:r>
            <a:endParaRPr lang="en-US" sz="1100" dirty="0"/>
          </a:p>
        </p:txBody>
      </p:sp>
      <p:sp>
        <p:nvSpPr>
          <p:cNvPr id="12" name="Text 10"/>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PART 01 · FRAMEWORK</a:t>
            </a:r>
            <a:endParaRPr lang="en-US" sz="900" dirty="0"/>
          </a:p>
        </p:txBody>
      </p:sp>
      <p:sp>
        <p:nvSpPr>
          <p:cNvPr id="13" name="Text 11"/>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STEP TWO</a:t>
            </a:r>
            <a:endParaRPr lang="en-US" sz="1100" dirty="0"/>
          </a:p>
        </p:txBody>
      </p:sp>
      <p:sp>
        <p:nvSpPr>
          <p:cNvPr id="3" name="Text 1"/>
          <p:cNvSpPr/>
          <p:nvPr/>
        </p:nvSpPr>
        <p:spPr>
          <a:xfrm>
            <a:off x="548640" y="777240"/>
            <a:ext cx="9144000" cy="685800"/>
          </a:xfrm>
          <a:prstGeom prst="rect">
            <a:avLst/>
          </a:prstGeom>
          <a:noFill/>
          <a:ln/>
        </p:spPr>
        <p:txBody>
          <a:bodyPr wrap="square" rtlCol="0" anchor="ctr"/>
          <a:lstStyle/>
          <a:p>
            <a:pPr marL="0" indent="0">
              <a:buNone/>
            </a:pPr>
            <a:r>
              <a:rPr lang="en-US" sz="3000" b="1" dirty="0">
                <a:solidFill>
                  <a:srgbClr val="2B3747"/>
                </a:solidFill>
                <a:latin typeface="Poppins" pitchFamily="34" charset="0"/>
                <a:ea typeface="Poppins" pitchFamily="34" charset="-122"/>
                <a:cs typeface="Poppins" pitchFamily="34" charset="-120"/>
              </a:rPr>
              <a:t>Automate.</a:t>
            </a:r>
            <a:endParaRPr lang="en-US" sz="3000" dirty="0"/>
          </a:p>
        </p:txBody>
      </p:sp>
      <p:sp>
        <p:nvSpPr>
          <p:cNvPr id="4" name="Text 2"/>
          <p:cNvSpPr/>
          <p:nvPr/>
        </p:nvSpPr>
        <p:spPr>
          <a:xfrm>
            <a:off x="548640" y="1508760"/>
            <a:ext cx="7315200" cy="457200"/>
          </a:xfrm>
          <a:prstGeom prst="rect">
            <a:avLst/>
          </a:prstGeom>
          <a:noFill/>
          <a:ln/>
        </p:spPr>
        <p:txBody>
          <a:bodyPr wrap="square" rtlCol="0" anchor="ctr"/>
          <a:lstStyle/>
          <a:p>
            <a:pPr marL="0" indent="0">
              <a:buNone/>
            </a:pPr>
            <a:r>
              <a:rPr lang="en-US" sz="1500" i="1" dirty="0">
                <a:solidFill>
                  <a:srgbClr val="6B7684"/>
                </a:solidFill>
                <a:latin typeface="Poppins" pitchFamily="34" charset="0"/>
                <a:ea typeface="Poppins" pitchFamily="34" charset="-122"/>
                <a:cs typeface="Poppins" pitchFamily="34" charset="-120"/>
              </a:rPr>
              <a:t>Get the system to do it, with no input.</a:t>
            </a:r>
            <a:endParaRPr lang="en-US" sz="1500" dirty="0"/>
          </a:p>
        </p:txBody>
      </p:sp>
      <p:sp>
        <p:nvSpPr>
          <p:cNvPr id="5" name="Shape 3"/>
          <p:cNvSpPr/>
          <p:nvPr/>
        </p:nvSpPr>
        <p:spPr>
          <a:xfrm>
            <a:off x="548640" y="2194560"/>
            <a:ext cx="10881360" cy="1051560"/>
          </a:xfrm>
          <a:prstGeom prst="roundRect">
            <a:avLst>
              <a:gd name="adj" fmla="val 6957"/>
            </a:avLst>
          </a:prstGeom>
          <a:solidFill>
            <a:srgbClr val="FFFFFF"/>
          </a:solidFill>
          <a:ln w="12700">
            <a:solidFill>
              <a:srgbClr val="D9D2C3"/>
            </a:solidFill>
            <a:prstDash val="solid"/>
          </a:ln>
        </p:spPr>
        <p:txBody>
          <a:bodyPr/>
          <a:lstStyle/>
          <a:p>
            <a:endParaRPr lang="en-US"/>
          </a:p>
        </p:txBody>
      </p:sp>
      <p:sp>
        <p:nvSpPr>
          <p:cNvPr id="6" name="Text 4"/>
          <p:cNvSpPr/>
          <p:nvPr/>
        </p:nvSpPr>
        <p:spPr>
          <a:xfrm>
            <a:off x="868680" y="2194560"/>
            <a:ext cx="10241280" cy="1051560"/>
          </a:xfrm>
          <a:prstGeom prst="rect">
            <a:avLst/>
          </a:prstGeom>
          <a:noFill/>
          <a:ln/>
        </p:spPr>
        <p:txBody>
          <a:bodyPr wrap="square" rtlCol="0" anchor="ctr"/>
          <a:lstStyle/>
          <a:p>
            <a:pPr marL="0" indent="0">
              <a:lnSpc>
                <a:spcPts val="1900"/>
              </a:lnSpc>
              <a:buNone/>
            </a:pPr>
            <a:r>
              <a:rPr lang="en-US" sz="1500" b="1" dirty="0">
                <a:solidFill>
                  <a:srgbClr val="2B3747"/>
                </a:solidFill>
                <a:latin typeface="Poppins" pitchFamily="34" charset="0"/>
                <a:ea typeface="Poppins" pitchFamily="34" charset="-122"/>
                <a:cs typeface="Poppins" pitchFamily="34" charset="-120"/>
              </a:rPr>
              <a:t>This isn't new — it's been around long before AI agents. But AI has made a lot more of it possible.</a:t>
            </a:r>
            <a:endParaRPr lang="en-US" sz="1500" dirty="0"/>
          </a:p>
        </p:txBody>
      </p:sp>
      <p:sp>
        <p:nvSpPr>
          <p:cNvPr id="7" name="Shape 5"/>
          <p:cNvSpPr/>
          <p:nvPr/>
        </p:nvSpPr>
        <p:spPr>
          <a:xfrm>
            <a:off x="548640" y="3520440"/>
            <a:ext cx="3520440" cy="2331720"/>
          </a:xfrm>
          <a:prstGeom prst="roundRect">
            <a:avLst>
              <a:gd name="adj" fmla="val 3137"/>
            </a:avLst>
          </a:prstGeom>
          <a:solidFill>
            <a:srgbClr val="FFFFFF"/>
          </a:solidFill>
          <a:ln w="12700">
            <a:solidFill>
              <a:srgbClr val="D9D2C3"/>
            </a:solidFill>
            <a:prstDash val="solid"/>
          </a:ln>
        </p:spPr>
        <p:txBody>
          <a:bodyPr/>
          <a:lstStyle/>
          <a:p>
            <a:endParaRPr lang="en-US"/>
          </a:p>
        </p:txBody>
      </p:sp>
      <p:sp>
        <p:nvSpPr>
          <p:cNvPr id="8" name="Shape 6"/>
          <p:cNvSpPr/>
          <p:nvPr/>
        </p:nvSpPr>
        <p:spPr>
          <a:xfrm>
            <a:off x="822960" y="3794760"/>
            <a:ext cx="411480" cy="411480"/>
          </a:xfrm>
          <a:prstGeom prst="ellipse">
            <a:avLst/>
          </a:prstGeom>
          <a:solidFill>
            <a:srgbClr val="FF7800"/>
          </a:solidFill>
          <a:ln/>
        </p:spPr>
        <p:txBody>
          <a:bodyPr/>
          <a:lstStyle/>
          <a:p>
            <a:endParaRPr lang="en-US"/>
          </a:p>
        </p:txBody>
      </p:sp>
      <p:sp>
        <p:nvSpPr>
          <p:cNvPr id="9" name="Text 7"/>
          <p:cNvSpPr/>
          <p:nvPr/>
        </p:nvSpPr>
        <p:spPr>
          <a:xfrm>
            <a:off x="822960" y="3794760"/>
            <a:ext cx="411480" cy="411480"/>
          </a:xfrm>
          <a:prstGeom prst="rect">
            <a:avLst/>
          </a:prstGeom>
          <a:noFill/>
          <a:ln/>
        </p:spPr>
        <p:txBody>
          <a:bodyPr wrap="square"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1</a:t>
            </a:r>
            <a:endParaRPr lang="en-US" sz="1400" dirty="0"/>
          </a:p>
        </p:txBody>
      </p:sp>
      <p:sp>
        <p:nvSpPr>
          <p:cNvPr id="10" name="Text 8"/>
          <p:cNvSpPr/>
          <p:nvPr/>
        </p:nvSpPr>
        <p:spPr>
          <a:xfrm>
            <a:off x="822960" y="4389120"/>
            <a:ext cx="2971800" cy="594360"/>
          </a:xfrm>
          <a:prstGeom prst="rect">
            <a:avLst/>
          </a:prstGeom>
          <a:noFill/>
          <a:ln/>
        </p:spPr>
        <p:txBody>
          <a:bodyPr wrap="square" rtlCol="0" anchor="ctr"/>
          <a:lstStyle/>
          <a:p>
            <a:pPr marL="0" indent="0">
              <a:lnSpc>
                <a:spcPts val="1700"/>
              </a:lnSpc>
              <a:buNone/>
            </a:pPr>
            <a:r>
              <a:rPr lang="en-US" sz="1350" b="1" dirty="0">
                <a:solidFill>
                  <a:srgbClr val="2B3747"/>
                </a:solidFill>
                <a:latin typeface="Poppins" pitchFamily="34" charset="0"/>
                <a:ea typeface="Poppins" pitchFamily="34" charset="-122"/>
                <a:cs typeface="Poppins" pitchFamily="34" charset="-120"/>
              </a:rPr>
              <a:t>No decisions required</a:t>
            </a:r>
            <a:endParaRPr lang="en-US" sz="1350" dirty="0"/>
          </a:p>
        </p:txBody>
      </p:sp>
      <p:sp>
        <p:nvSpPr>
          <p:cNvPr id="11" name="Text 9"/>
          <p:cNvSpPr/>
          <p:nvPr/>
        </p:nvSpPr>
        <p:spPr>
          <a:xfrm>
            <a:off x="822960" y="4983480"/>
            <a:ext cx="2971800" cy="822960"/>
          </a:xfrm>
          <a:prstGeom prst="rect">
            <a:avLst/>
          </a:prstGeom>
          <a:noFill/>
          <a:ln/>
        </p:spPr>
        <p:txBody>
          <a:bodyPr wrap="square" rtlCol="0" anchor="ctr"/>
          <a:lstStyle/>
          <a:p>
            <a:pPr marL="0" indent="0">
              <a:lnSpc>
                <a:spcPts val="1500"/>
              </a:lnSpc>
              <a:buNone/>
            </a:pPr>
            <a:r>
              <a:rPr lang="en-US" sz="1100" dirty="0">
                <a:solidFill>
                  <a:srgbClr val="6B7684"/>
                </a:solidFill>
                <a:latin typeface="Poppins" pitchFamily="34" charset="0"/>
                <a:ea typeface="Poppins" pitchFamily="34" charset="-122"/>
                <a:cs typeface="Poppins" pitchFamily="34" charset="-120"/>
              </a:rPr>
              <a:t>Rule-based, criteria-driven — the same input always gets the same output.</a:t>
            </a:r>
            <a:endParaRPr lang="en-US" sz="1100" dirty="0"/>
          </a:p>
        </p:txBody>
      </p:sp>
      <p:sp>
        <p:nvSpPr>
          <p:cNvPr id="12" name="Shape 10"/>
          <p:cNvSpPr/>
          <p:nvPr/>
        </p:nvSpPr>
        <p:spPr>
          <a:xfrm>
            <a:off x="4297680" y="3520440"/>
            <a:ext cx="3520440" cy="2331720"/>
          </a:xfrm>
          <a:prstGeom prst="roundRect">
            <a:avLst>
              <a:gd name="adj" fmla="val 3137"/>
            </a:avLst>
          </a:prstGeom>
          <a:solidFill>
            <a:srgbClr val="FFFFFF"/>
          </a:solidFill>
          <a:ln w="12700">
            <a:solidFill>
              <a:srgbClr val="D9D2C3"/>
            </a:solidFill>
            <a:prstDash val="solid"/>
          </a:ln>
        </p:spPr>
        <p:txBody>
          <a:bodyPr/>
          <a:lstStyle/>
          <a:p>
            <a:endParaRPr lang="en-US"/>
          </a:p>
        </p:txBody>
      </p:sp>
      <p:sp>
        <p:nvSpPr>
          <p:cNvPr id="13" name="Shape 11"/>
          <p:cNvSpPr/>
          <p:nvPr/>
        </p:nvSpPr>
        <p:spPr>
          <a:xfrm>
            <a:off x="4572000" y="3794760"/>
            <a:ext cx="411480" cy="411480"/>
          </a:xfrm>
          <a:prstGeom prst="ellipse">
            <a:avLst/>
          </a:prstGeom>
          <a:solidFill>
            <a:srgbClr val="FF7800"/>
          </a:solidFill>
          <a:ln/>
        </p:spPr>
        <p:txBody>
          <a:bodyPr/>
          <a:lstStyle/>
          <a:p>
            <a:endParaRPr lang="en-US"/>
          </a:p>
        </p:txBody>
      </p:sp>
      <p:sp>
        <p:nvSpPr>
          <p:cNvPr id="14" name="Text 12"/>
          <p:cNvSpPr/>
          <p:nvPr/>
        </p:nvSpPr>
        <p:spPr>
          <a:xfrm>
            <a:off x="4572000" y="3794760"/>
            <a:ext cx="411480" cy="411480"/>
          </a:xfrm>
          <a:prstGeom prst="rect">
            <a:avLst/>
          </a:prstGeom>
          <a:noFill/>
          <a:ln/>
        </p:spPr>
        <p:txBody>
          <a:bodyPr wrap="square"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2</a:t>
            </a:r>
            <a:endParaRPr lang="en-US" sz="1400" dirty="0"/>
          </a:p>
        </p:txBody>
      </p:sp>
      <p:sp>
        <p:nvSpPr>
          <p:cNvPr id="15" name="Text 13"/>
          <p:cNvSpPr/>
          <p:nvPr/>
        </p:nvSpPr>
        <p:spPr>
          <a:xfrm>
            <a:off x="4572000" y="4389120"/>
            <a:ext cx="2971800" cy="594360"/>
          </a:xfrm>
          <a:prstGeom prst="rect">
            <a:avLst/>
          </a:prstGeom>
          <a:noFill/>
          <a:ln/>
        </p:spPr>
        <p:txBody>
          <a:bodyPr wrap="square" rtlCol="0" anchor="ctr"/>
          <a:lstStyle/>
          <a:p>
            <a:pPr marL="0" indent="0">
              <a:lnSpc>
                <a:spcPts val="1700"/>
              </a:lnSpc>
              <a:buNone/>
            </a:pPr>
            <a:r>
              <a:rPr lang="en-US" sz="1350" b="1" dirty="0">
                <a:solidFill>
                  <a:srgbClr val="2B3747"/>
                </a:solidFill>
                <a:latin typeface="Poppins" pitchFamily="34" charset="0"/>
                <a:ea typeface="Poppins" pitchFamily="34" charset="-122"/>
                <a:cs typeface="Poppins" pitchFamily="34" charset="-120"/>
              </a:rPr>
              <a:t>Runs without a person watching</a:t>
            </a:r>
            <a:endParaRPr lang="en-US" sz="1350" dirty="0"/>
          </a:p>
        </p:txBody>
      </p:sp>
      <p:sp>
        <p:nvSpPr>
          <p:cNvPr id="16" name="Text 14"/>
          <p:cNvSpPr/>
          <p:nvPr/>
        </p:nvSpPr>
        <p:spPr>
          <a:xfrm>
            <a:off x="4572000" y="4983480"/>
            <a:ext cx="2971800" cy="822960"/>
          </a:xfrm>
          <a:prstGeom prst="rect">
            <a:avLst/>
          </a:prstGeom>
          <a:noFill/>
          <a:ln/>
        </p:spPr>
        <p:txBody>
          <a:bodyPr wrap="square" rtlCol="0" anchor="ctr"/>
          <a:lstStyle/>
          <a:p>
            <a:pPr marL="0" indent="0">
              <a:lnSpc>
                <a:spcPts val="1500"/>
              </a:lnSpc>
              <a:buNone/>
            </a:pPr>
            <a:r>
              <a:rPr lang="en-US" sz="1100" dirty="0">
                <a:solidFill>
                  <a:srgbClr val="6B7684"/>
                </a:solidFill>
                <a:latin typeface="Poppins" pitchFamily="34" charset="0"/>
                <a:ea typeface="Poppins" pitchFamily="34" charset="-122"/>
                <a:cs typeface="Poppins" pitchFamily="34" charset="-120"/>
              </a:rPr>
              <a:t>It should keep working whether someone remembers to check it or not.</a:t>
            </a:r>
            <a:endParaRPr lang="en-US" sz="1100" dirty="0"/>
          </a:p>
        </p:txBody>
      </p:sp>
      <p:sp>
        <p:nvSpPr>
          <p:cNvPr id="17" name="Shape 15"/>
          <p:cNvSpPr/>
          <p:nvPr/>
        </p:nvSpPr>
        <p:spPr>
          <a:xfrm>
            <a:off x="8046720" y="3520440"/>
            <a:ext cx="3520440" cy="2331720"/>
          </a:xfrm>
          <a:prstGeom prst="roundRect">
            <a:avLst>
              <a:gd name="adj" fmla="val 3137"/>
            </a:avLst>
          </a:prstGeom>
          <a:solidFill>
            <a:srgbClr val="FFFFFF"/>
          </a:solidFill>
          <a:ln w="12700">
            <a:solidFill>
              <a:srgbClr val="D9D2C3"/>
            </a:solidFill>
            <a:prstDash val="solid"/>
          </a:ln>
        </p:spPr>
        <p:txBody>
          <a:bodyPr/>
          <a:lstStyle/>
          <a:p>
            <a:endParaRPr lang="en-US"/>
          </a:p>
        </p:txBody>
      </p:sp>
      <p:sp>
        <p:nvSpPr>
          <p:cNvPr id="18" name="Shape 16"/>
          <p:cNvSpPr/>
          <p:nvPr/>
        </p:nvSpPr>
        <p:spPr>
          <a:xfrm>
            <a:off x="8321040" y="3794760"/>
            <a:ext cx="411480" cy="411480"/>
          </a:xfrm>
          <a:prstGeom prst="ellipse">
            <a:avLst/>
          </a:prstGeom>
          <a:solidFill>
            <a:srgbClr val="FF7800"/>
          </a:solidFill>
          <a:ln/>
        </p:spPr>
        <p:txBody>
          <a:bodyPr/>
          <a:lstStyle/>
          <a:p>
            <a:endParaRPr lang="en-US"/>
          </a:p>
        </p:txBody>
      </p:sp>
      <p:sp>
        <p:nvSpPr>
          <p:cNvPr id="19" name="Text 17"/>
          <p:cNvSpPr/>
          <p:nvPr/>
        </p:nvSpPr>
        <p:spPr>
          <a:xfrm>
            <a:off x="8321040" y="3794760"/>
            <a:ext cx="411480" cy="411480"/>
          </a:xfrm>
          <a:prstGeom prst="rect">
            <a:avLst/>
          </a:prstGeom>
          <a:noFill/>
          <a:ln/>
        </p:spPr>
        <p:txBody>
          <a:bodyPr wrap="square"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3</a:t>
            </a:r>
            <a:endParaRPr lang="en-US" sz="1400" dirty="0"/>
          </a:p>
        </p:txBody>
      </p:sp>
      <p:sp>
        <p:nvSpPr>
          <p:cNvPr id="20" name="Text 18"/>
          <p:cNvSpPr/>
          <p:nvPr/>
        </p:nvSpPr>
        <p:spPr>
          <a:xfrm>
            <a:off x="8321040" y="4389120"/>
            <a:ext cx="2971800" cy="594360"/>
          </a:xfrm>
          <a:prstGeom prst="rect">
            <a:avLst/>
          </a:prstGeom>
          <a:noFill/>
          <a:ln/>
        </p:spPr>
        <p:txBody>
          <a:bodyPr wrap="square" rtlCol="0" anchor="ctr"/>
          <a:lstStyle/>
          <a:p>
            <a:pPr marL="0" indent="0">
              <a:lnSpc>
                <a:spcPts val="1700"/>
              </a:lnSpc>
              <a:buNone/>
            </a:pPr>
            <a:r>
              <a:rPr lang="en-US" sz="1350" b="1" dirty="0">
                <a:solidFill>
                  <a:srgbClr val="2B3747"/>
                </a:solidFill>
                <a:latin typeface="Poppins" pitchFamily="34" charset="0"/>
                <a:ea typeface="Poppins" pitchFamily="34" charset="-122"/>
                <a:cs typeface="Poppins" pitchFamily="34" charset="-120"/>
              </a:rPr>
              <a:t>Frees up judgement time</a:t>
            </a:r>
            <a:endParaRPr lang="en-US" sz="1350" dirty="0"/>
          </a:p>
        </p:txBody>
      </p:sp>
      <p:sp>
        <p:nvSpPr>
          <p:cNvPr id="21" name="Text 19"/>
          <p:cNvSpPr/>
          <p:nvPr/>
        </p:nvSpPr>
        <p:spPr>
          <a:xfrm>
            <a:off x="8321040" y="4983480"/>
            <a:ext cx="2971800" cy="822960"/>
          </a:xfrm>
          <a:prstGeom prst="rect">
            <a:avLst/>
          </a:prstGeom>
          <a:noFill/>
          <a:ln/>
        </p:spPr>
        <p:txBody>
          <a:bodyPr wrap="square" rtlCol="0" anchor="ctr"/>
          <a:lstStyle/>
          <a:p>
            <a:pPr marL="0" indent="0">
              <a:lnSpc>
                <a:spcPts val="1500"/>
              </a:lnSpc>
              <a:buNone/>
            </a:pPr>
            <a:r>
              <a:rPr lang="en-US" sz="1100" dirty="0">
                <a:solidFill>
                  <a:srgbClr val="6B7684"/>
                </a:solidFill>
                <a:latin typeface="Poppins" pitchFamily="34" charset="0"/>
                <a:ea typeface="Poppins" pitchFamily="34" charset="-122"/>
                <a:cs typeface="Poppins" pitchFamily="34" charset="-120"/>
              </a:rPr>
              <a:t>Automating the repeatable work is what makes room for the advisory work.</a:t>
            </a:r>
            <a:endParaRPr lang="en-US" sz="1100" dirty="0"/>
          </a:p>
        </p:txBody>
      </p:sp>
      <p:sp>
        <p:nvSpPr>
          <p:cNvPr id="22" name="Text 20"/>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PART 01 · FRAMEWORK</a:t>
            </a:r>
            <a:endParaRPr lang="en-US" sz="900" dirty="0"/>
          </a:p>
        </p:txBody>
      </p:sp>
      <p:sp>
        <p:nvSpPr>
          <p:cNvPr id="23" name="Text 21"/>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STEP THREE</a:t>
            </a:r>
            <a:endParaRPr lang="en-US" sz="1100" dirty="0"/>
          </a:p>
        </p:txBody>
      </p:sp>
      <p:sp>
        <p:nvSpPr>
          <p:cNvPr id="3" name="Text 1"/>
          <p:cNvSpPr/>
          <p:nvPr/>
        </p:nvSpPr>
        <p:spPr>
          <a:xfrm>
            <a:off x="548640" y="777240"/>
            <a:ext cx="9144000" cy="685800"/>
          </a:xfrm>
          <a:prstGeom prst="rect">
            <a:avLst/>
          </a:prstGeom>
          <a:noFill/>
          <a:ln/>
        </p:spPr>
        <p:txBody>
          <a:bodyPr wrap="square" rtlCol="0" anchor="ctr"/>
          <a:lstStyle/>
          <a:p>
            <a:pPr marL="0" indent="0">
              <a:buNone/>
            </a:pPr>
            <a:r>
              <a:rPr lang="en-US" sz="3000" b="1" dirty="0">
                <a:solidFill>
                  <a:srgbClr val="2B3747"/>
                </a:solidFill>
                <a:latin typeface="Poppins" pitchFamily="34" charset="0"/>
                <a:ea typeface="Poppins" pitchFamily="34" charset="-122"/>
                <a:cs typeface="Poppins" pitchFamily="34" charset="-120"/>
              </a:rPr>
              <a:t>Delegate.</a:t>
            </a:r>
            <a:endParaRPr lang="en-US" sz="3000" dirty="0"/>
          </a:p>
        </p:txBody>
      </p:sp>
      <p:sp>
        <p:nvSpPr>
          <p:cNvPr id="4" name="Text 2"/>
          <p:cNvSpPr/>
          <p:nvPr/>
        </p:nvSpPr>
        <p:spPr>
          <a:xfrm>
            <a:off x="548640" y="1508760"/>
            <a:ext cx="7772400" cy="457200"/>
          </a:xfrm>
          <a:prstGeom prst="rect">
            <a:avLst/>
          </a:prstGeom>
          <a:noFill/>
          <a:ln/>
        </p:spPr>
        <p:txBody>
          <a:bodyPr wrap="square" rtlCol="0" anchor="ctr"/>
          <a:lstStyle/>
          <a:p>
            <a:pPr marL="0" indent="0">
              <a:buNone/>
            </a:pPr>
            <a:r>
              <a:rPr lang="en-US" sz="1500" i="1" dirty="0">
                <a:solidFill>
                  <a:srgbClr val="6B7684"/>
                </a:solidFill>
                <a:latin typeface="Poppins" pitchFamily="34" charset="0"/>
                <a:ea typeface="Poppins" pitchFamily="34" charset="-122"/>
                <a:cs typeface="Poppins" pitchFamily="34" charset="-120"/>
              </a:rPr>
              <a:t>Hand off what's left to a person, or a system.</a:t>
            </a:r>
            <a:endParaRPr lang="en-US" sz="1500" dirty="0"/>
          </a:p>
        </p:txBody>
      </p:sp>
      <p:sp>
        <p:nvSpPr>
          <p:cNvPr id="5" name="Shape 3"/>
          <p:cNvSpPr/>
          <p:nvPr/>
        </p:nvSpPr>
        <p:spPr>
          <a:xfrm>
            <a:off x="548640" y="2194560"/>
            <a:ext cx="10881360" cy="1051560"/>
          </a:xfrm>
          <a:prstGeom prst="roundRect">
            <a:avLst>
              <a:gd name="adj" fmla="val 6957"/>
            </a:avLst>
          </a:prstGeom>
          <a:solidFill>
            <a:srgbClr val="FFFFFF"/>
          </a:solidFill>
          <a:ln w="12700">
            <a:solidFill>
              <a:srgbClr val="D9D2C3"/>
            </a:solidFill>
            <a:prstDash val="solid"/>
          </a:ln>
        </p:spPr>
        <p:txBody>
          <a:bodyPr/>
          <a:lstStyle/>
          <a:p>
            <a:endParaRPr lang="en-US"/>
          </a:p>
        </p:txBody>
      </p:sp>
      <p:sp>
        <p:nvSpPr>
          <p:cNvPr id="6" name="Text 4"/>
          <p:cNvSpPr/>
          <p:nvPr/>
        </p:nvSpPr>
        <p:spPr>
          <a:xfrm>
            <a:off x="868680" y="2194560"/>
            <a:ext cx="10241280" cy="1051560"/>
          </a:xfrm>
          <a:prstGeom prst="rect">
            <a:avLst/>
          </a:prstGeom>
          <a:noFill/>
          <a:ln/>
        </p:spPr>
        <p:txBody>
          <a:bodyPr wrap="square" rtlCol="0" anchor="ctr"/>
          <a:lstStyle/>
          <a:p>
            <a:pPr marL="0" indent="0">
              <a:lnSpc>
                <a:spcPts val="1900"/>
              </a:lnSpc>
              <a:buNone/>
            </a:pPr>
            <a:r>
              <a:rPr lang="en-US" sz="1500" b="1" dirty="0">
                <a:solidFill>
                  <a:srgbClr val="2B3747"/>
                </a:solidFill>
                <a:latin typeface="Poppins" pitchFamily="34" charset="0"/>
                <a:ea typeface="Poppins" pitchFamily="34" charset="-122"/>
                <a:cs typeface="Poppins" pitchFamily="34" charset="-120"/>
              </a:rPr>
              <a:t>Whatever can't be eliminated or easily automated still needs a home — a person, or a system you trust to own it.</a:t>
            </a:r>
            <a:endParaRPr lang="en-US" sz="1500" dirty="0"/>
          </a:p>
        </p:txBody>
      </p:sp>
      <p:sp>
        <p:nvSpPr>
          <p:cNvPr id="7" name="Shape 5"/>
          <p:cNvSpPr/>
          <p:nvPr/>
        </p:nvSpPr>
        <p:spPr>
          <a:xfrm>
            <a:off x="548640" y="3520440"/>
            <a:ext cx="5257800" cy="2331720"/>
          </a:xfrm>
          <a:prstGeom prst="roundRect">
            <a:avLst>
              <a:gd name="adj" fmla="val 3137"/>
            </a:avLst>
          </a:prstGeom>
          <a:solidFill>
            <a:srgbClr val="FFFFFF"/>
          </a:solidFill>
          <a:ln w="12700">
            <a:solidFill>
              <a:srgbClr val="D9D2C3"/>
            </a:solidFill>
            <a:prstDash val="solid"/>
          </a:ln>
        </p:spPr>
        <p:txBody>
          <a:bodyPr/>
          <a:lstStyle/>
          <a:p>
            <a:endParaRPr lang="en-US"/>
          </a:p>
        </p:txBody>
      </p:sp>
      <p:sp>
        <p:nvSpPr>
          <p:cNvPr id="8" name="Text 6"/>
          <p:cNvSpPr/>
          <p:nvPr/>
        </p:nvSpPr>
        <p:spPr>
          <a:xfrm>
            <a:off x="868680" y="3749040"/>
            <a:ext cx="4663440" cy="320040"/>
          </a:xfrm>
          <a:prstGeom prst="rect">
            <a:avLst/>
          </a:prstGeom>
          <a:noFill/>
          <a:ln/>
        </p:spPr>
        <p:txBody>
          <a:bodyPr wrap="square" rtlCol="0" anchor="ctr"/>
          <a:lstStyle/>
          <a:p>
            <a:pPr marL="0" indent="0">
              <a:buNone/>
            </a:pPr>
            <a:r>
              <a:rPr lang="en-US" sz="1000" b="1" kern="0" spc="100" dirty="0">
                <a:solidFill>
                  <a:srgbClr val="FF7800"/>
                </a:solidFill>
                <a:latin typeface="Poppins" pitchFamily="34" charset="0"/>
                <a:ea typeface="Poppins" pitchFamily="34" charset="-122"/>
                <a:cs typeface="Poppins" pitchFamily="34" charset="-120"/>
              </a:rPr>
              <a:t>DELEGATE TO A PERSON</a:t>
            </a:r>
            <a:endParaRPr lang="en-US" sz="1000" dirty="0"/>
          </a:p>
        </p:txBody>
      </p:sp>
      <p:sp>
        <p:nvSpPr>
          <p:cNvPr id="9" name="Text 7"/>
          <p:cNvSpPr/>
          <p:nvPr/>
        </p:nvSpPr>
        <p:spPr>
          <a:xfrm>
            <a:off x="868680" y="4160520"/>
            <a:ext cx="4663440" cy="1463040"/>
          </a:xfrm>
          <a:prstGeom prst="rect">
            <a:avLst/>
          </a:prstGeom>
          <a:noFill/>
          <a:ln/>
        </p:spPr>
        <p:txBody>
          <a:bodyPr wrap="square" rtlCol="0" anchor="ctr"/>
          <a:lstStyle/>
          <a:p>
            <a:pPr marL="0" indent="0">
              <a:lnSpc>
                <a:spcPts val="1700"/>
              </a:lnSpc>
              <a:buNone/>
            </a:pPr>
            <a:r>
              <a:rPr lang="en-US" sz="1250" dirty="0">
                <a:solidFill>
                  <a:srgbClr val="6B7684"/>
                </a:solidFill>
                <a:latin typeface="Poppins" pitchFamily="34" charset="0"/>
                <a:ea typeface="Poppins" pitchFamily="34" charset="-122"/>
                <a:cs typeface="Poppins" pitchFamily="34" charset="-120"/>
              </a:rPr>
              <a:t>Best when the work needs judgement, relationship context, or accountability that a system can't hold yet.</a:t>
            </a:r>
            <a:endParaRPr lang="en-US" sz="1250" dirty="0"/>
          </a:p>
        </p:txBody>
      </p:sp>
      <p:sp>
        <p:nvSpPr>
          <p:cNvPr id="10" name="Shape 8"/>
          <p:cNvSpPr/>
          <p:nvPr/>
        </p:nvSpPr>
        <p:spPr>
          <a:xfrm>
            <a:off x="6035040" y="3520440"/>
            <a:ext cx="5394960" cy="2331720"/>
          </a:xfrm>
          <a:prstGeom prst="roundRect">
            <a:avLst>
              <a:gd name="adj" fmla="val 3137"/>
            </a:avLst>
          </a:prstGeom>
          <a:solidFill>
            <a:srgbClr val="2B3747"/>
          </a:solidFill>
          <a:ln/>
        </p:spPr>
        <p:txBody>
          <a:bodyPr/>
          <a:lstStyle/>
          <a:p>
            <a:endParaRPr lang="en-US"/>
          </a:p>
        </p:txBody>
      </p:sp>
      <p:sp>
        <p:nvSpPr>
          <p:cNvPr id="11" name="Text 9"/>
          <p:cNvSpPr/>
          <p:nvPr/>
        </p:nvSpPr>
        <p:spPr>
          <a:xfrm>
            <a:off x="6355080" y="3749040"/>
            <a:ext cx="4754880" cy="320040"/>
          </a:xfrm>
          <a:prstGeom prst="rect">
            <a:avLst/>
          </a:prstGeom>
          <a:noFill/>
          <a:ln/>
        </p:spPr>
        <p:txBody>
          <a:bodyPr wrap="square" rtlCol="0" anchor="ctr"/>
          <a:lstStyle/>
          <a:p>
            <a:pPr marL="0" indent="0">
              <a:buNone/>
            </a:pPr>
            <a:r>
              <a:rPr lang="en-US" sz="1000" b="1" kern="0" spc="100" dirty="0">
                <a:solidFill>
                  <a:srgbClr val="6FA73F"/>
                </a:solidFill>
                <a:latin typeface="Poppins" pitchFamily="34" charset="0"/>
                <a:ea typeface="Poppins" pitchFamily="34" charset="-122"/>
                <a:cs typeface="Poppins" pitchFamily="34" charset="-120"/>
              </a:rPr>
              <a:t>DELEGATE TO A SYSTEM</a:t>
            </a:r>
            <a:endParaRPr lang="en-US" sz="1000" dirty="0"/>
          </a:p>
        </p:txBody>
      </p:sp>
      <p:sp>
        <p:nvSpPr>
          <p:cNvPr id="12" name="Text 10"/>
          <p:cNvSpPr/>
          <p:nvPr/>
        </p:nvSpPr>
        <p:spPr>
          <a:xfrm>
            <a:off x="6355080" y="4160520"/>
            <a:ext cx="4754880" cy="1463040"/>
          </a:xfrm>
          <a:prstGeom prst="rect">
            <a:avLst/>
          </a:prstGeom>
          <a:noFill/>
          <a:ln/>
        </p:spPr>
        <p:txBody>
          <a:bodyPr wrap="square" rtlCol="0" anchor="ctr"/>
          <a:lstStyle/>
          <a:p>
            <a:pPr marL="0" indent="0">
              <a:lnSpc>
                <a:spcPts val="1700"/>
              </a:lnSpc>
              <a:buNone/>
            </a:pPr>
            <a:r>
              <a:rPr lang="en-US" sz="1250" dirty="0">
                <a:solidFill>
                  <a:srgbClr val="C6CCD4"/>
                </a:solidFill>
                <a:latin typeface="Poppins" pitchFamily="34" charset="0"/>
                <a:ea typeface="Poppins" pitchFamily="34" charset="-122"/>
                <a:cs typeface="Poppins" pitchFamily="34" charset="-120"/>
              </a:rPr>
              <a:t>Best when the task is well-defined and repeatable — this is where AI agents increasingly fit, once Research and Build are done properly.</a:t>
            </a:r>
            <a:endParaRPr lang="en-US" sz="1250" dirty="0"/>
          </a:p>
        </p:txBody>
      </p:sp>
      <p:sp>
        <p:nvSpPr>
          <p:cNvPr id="13" name="Text 11"/>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PART 01 · FRAMEWORK</a:t>
            </a:r>
            <a:endParaRPr lang="en-US" sz="900" dirty="0"/>
          </a:p>
        </p:txBody>
      </p:sp>
      <p:sp>
        <p:nvSpPr>
          <p:cNvPr id="14" name="Text 12"/>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B3747"/>
        </a:solidFill>
        <a:effectLst/>
      </p:bgPr>
    </p:bg>
    <p:spTree>
      <p:nvGrpSpPr>
        <p:cNvPr id="1" name=""/>
        <p:cNvGrpSpPr/>
        <p:nvPr/>
      </p:nvGrpSpPr>
      <p:grpSpPr>
        <a:xfrm>
          <a:off x="0" y="0"/>
          <a:ext cx="0" cy="0"/>
          <a:chOff x="0" y="0"/>
          <a:chExt cx="0" cy="0"/>
        </a:xfrm>
      </p:grpSpPr>
      <p:sp>
        <p:nvSpPr>
          <p:cNvPr id="2" name="Shape 0"/>
          <p:cNvSpPr/>
          <p:nvPr/>
        </p:nvSpPr>
        <p:spPr>
          <a:xfrm>
            <a:off x="10725912" y="-1280160"/>
            <a:ext cx="3108960" cy="3108960"/>
          </a:xfrm>
          <a:prstGeom prst="ellipse">
            <a:avLst/>
          </a:prstGeom>
          <a:solidFill>
            <a:srgbClr val="FF7800"/>
          </a:solidFill>
          <a:ln/>
        </p:spPr>
        <p:txBody>
          <a:bodyPr/>
          <a:lstStyle/>
          <a:p>
            <a:endParaRPr lang="en-US"/>
          </a:p>
        </p:txBody>
      </p:sp>
      <p:sp>
        <p:nvSpPr>
          <p:cNvPr id="3" name="Shape 1"/>
          <p:cNvSpPr/>
          <p:nvPr/>
        </p:nvSpPr>
        <p:spPr>
          <a:xfrm>
            <a:off x="-1463040" y="5394960"/>
            <a:ext cx="2560320" cy="2560320"/>
          </a:xfrm>
          <a:prstGeom prst="ellipse">
            <a:avLst/>
          </a:prstGeom>
          <a:solidFill>
            <a:srgbClr val="6FA73F"/>
          </a:solidFill>
          <a:ln/>
        </p:spPr>
        <p:txBody>
          <a:bodyPr/>
          <a:lstStyle/>
          <a:p>
            <a:endParaRPr lang="en-US"/>
          </a:p>
        </p:txBody>
      </p:sp>
      <p:sp>
        <p:nvSpPr>
          <p:cNvPr id="4" name="Text 2"/>
          <p:cNvSpPr/>
          <p:nvPr/>
        </p:nvSpPr>
        <p:spPr>
          <a:xfrm>
            <a:off x="548640" y="548640"/>
            <a:ext cx="54864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PART 02 OF 03</a:t>
            </a:r>
            <a:endParaRPr lang="en-US" sz="1100" dirty="0"/>
          </a:p>
        </p:txBody>
      </p:sp>
      <p:sp>
        <p:nvSpPr>
          <p:cNvPr id="5" name="Text 3"/>
          <p:cNvSpPr/>
          <p:nvPr/>
        </p:nvSpPr>
        <p:spPr>
          <a:xfrm>
            <a:off x="548640" y="2468880"/>
            <a:ext cx="10058400" cy="1645920"/>
          </a:xfrm>
          <a:prstGeom prst="rect">
            <a:avLst/>
          </a:prstGeom>
          <a:noFill/>
          <a:ln/>
        </p:spPr>
        <p:txBody>
          <a:bodyPr wrap="square" rtlCol="0" anchor="ctr"/>
          <a:lstStyle/>
          <a:p>
            <a:pPr marL="0" indent="0">
              <a:lnSpc>
                <a:spcPts val="4000"/>
              </a:lnSpc>
              <a:buNone/>
            </a:pPr>
            <a:r>
              <a:rPr lang="en-US" sz="3400" b="1" dirty="0">
                <a:solidFill>
                  <a:srgbClr val="FFFFFF"/>
                </a:solidFill>
                <a:latin typeface="Poppins" pitchFamily="34" charset="0"/>
                <a:ea typeface="Poppins" pitchFamily="34" charset="-122"/>
                <a:cs typeface="Poppins" pitchFamily="34" charset="-120"/>
              </a:rPr>
              <a:t>Our system for success: </a:t>
            </a:r>
            <a:r>
              <a:rPr lang="en-US" sz="3400" b="1" dirty="0">
                <a:solidFill>
                  <a:srgbClr val="FF7800"/>
                </a:solidFill>
                <a:latin typeface="Poppins" pitchFamily="34" charset="0"/>
                <a:ea typeface="Poppins" pitchFamily="34" charset="-122"/>
                <a:cs typeface="Poppins" pitchFamily="34" charset="-120"/>
              </a:rPr>
              <a:t>Research, Build, Test</a:t>
            </a:r>
            <a:endParaRPr lang="en-US" sz="3400" dirty="0"/>
          </a:p>
        </p:txBody>
      </p:sp>
      <p:sp>
        <p:nvSpPr>
          <p:cNvPr id="6" name="Text 4"/>
          <p:cNvSpPr/>
          <p:nvPr/>
        </p:nvSpPr>
        <p:spPr>
          <a:xfrm>
            <a:off x="548640" y="4114800"/>
            <a:ext cx="8229600" cy="548640"/>
          </a:xfrm>
          <a:prstGeom prst="rect">
            <a:avLst/>
          </a:prstGeom>
          <a:noFill/>
          <a:ln/>
        </p:spPr>
        <p:txBody>
          <a:bodyPr wrap="square" rtlCol="0" anchor="ctr"/>
          <a:lstStyle/>
          <a:p>
            <a:pPr marL="0" indent="0">
              <a:buNone/>
            </a:pPr>
            <a:r>
              <a:rPr lang="en-US" sz="1500" dirty="0">
                <a:solidFill>
                  <a:srgbClr val="C6CCD4"/>
                </a:solidFill>
                <a:latin typeface="Poppins" pitchFamily="34" charset="0"/>
                <a:ea typeface="Poppins" pitchFamily="34" charset="-122"/>
                <a:cs typeface="Poppins" pitchFamily="34" charset="-120"/>
              </a:rPr>
              <a:t>Things you can actually use on Monday morning — not just admire from the audience.</a:t>
            </a:r>
            <a:endParaRPr lang="en-US" sz="1500" dirty="0"/>
          </a:p>
        </p:txBody>
      </p:sp>
      <p:sp>
        <p:nvSpPr>
          <p:cNvPr id="8" name="Text 6"/>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9AA5B1"/>
                </a:solidFill>
                <a:latin typeface="Poppins" pitchFamily="34" charset="0"/>
                <a:ea typeface="Poppins" pitchFamily="34" charset="-122"/>
                <a:cs typeface="Poppins"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THE CORE LOOP</a:t>
            </a:r>
            <a:endParaRPr lang="en-US" sz="1100" dirty="0"/>
          </a:p>
        </p:txBody>
      </p:sp>
      <p:sp>
        <p:nvSpPr>
          <p:cNvPr id="3" name="Text 1"/>
          <p:cNvSpPr/>
          <p:nvPr/>
        </p:nvSpPr>
        <p:spPr>
          <a:xfrm>
            <a:off x="548640" y="777240"/>
            <a:ext cx="9144000" cy="640080"/>
          </a:xfrm>
          <a:prstGeom prst="rect">
            <a:avLst/>
          </a:prstGeom>
          <a:noFill/>
          <a:ln/>
        </p:spPr>
        <p:txBody>
          <a:bodyPr wrap="square" rtlCol="0" anchor="ctr"/>
          <a:lstStyle/>
          <a:p>
            <a:pPr marL="0" indent="0">
              <a:buNone/>
            </a:pPr>
            <a:r>
              <a:rPr lang="en-US" sz="2600" b="1" dirty="0">
                <a:solidFill>
                  <a:srgbClr val="2B3747"/>
                </a:solidFill>
                <a:latin typeface="Poppins" pitchFamily="34" charset="0"/>
                <a:ea typeface="Poppins" pitchFamily="34" charset="-122"/>
                <a:cs typeface="Poppins" pitchFamily="34" charset="-120"/>
              </a:rPr>
              <a:t>Five questions, three phases.</a:t>
            </a:r>
            <a:endParaRPr lang="en-US" sz="2600" dirty="0"/>
          </a:p>
        </p:txBody>
      </p:sp>
      <p:sp>
        <p:nvSpPr>
          <p:cNvPr id="4" name="Text 2"/>
          <p:cNvSpPr/>
          <p:nvPr/>
        </p:nvSpPr>
        <p:spPr>
          <a:xfrm>
            <a:off x="548640" y="1874520"/>
            <a:ext cx="640080" cy="731520"/>
          </a:xfrm>
          <a:prstGeom prst="rect">
            <a:avLst/>
          </a:prstGeom>
          <a:noFill/>
          <a:ln/>
        </p:spPr>
        <p:txBody>
          <a:bodyPr wrap="square" rtlCol="0" anchor="t"/>
          <a:lstStyle/>
          <a:p>
            <a:pPr marL="0" indent="0">
              <a:buNone/>
            </a:pPr>
            <a:r>
              <a:rPr lang="en-US" sz="2000" b="1" dirty="0">
                <a:solidFill>
                  <a:srgbClr val="FF7800"/>
                </a:solidFill>
                <a:latin typeface="Poppins" pitchFamily="34" charset="0"/>
                <a:ea typeface="Poppins" pitchFamily="34" charset="-122"/>
                <a:cs typeface="Poppins" pitchFamily="34" charset="-120"/>
              </a:rPr>
              <a:t>01</a:t>
            </a:r>
            <a:endParaRPr lang="en-US" sz="2000" dirty="0"/>
          </a:p>
        </p:txBody>
      </p:sp>
      <p:sp>
        <p:nvSpPr>
          <p:cNvPr id="5" name="Text 3"/>
          <p:cNvSpPr/>
          <p:nvPr/>
        </p:nvSpPr>
        <p:spPr>
          <a:xfrm>
            <a:off x="1371600" y="1874520"/>
            <a:ext cx="4023360" cy="365760"/>
          </a:xfrm>
          <a:prstGeom prst="rect">
            <a:avLst/>
          </a:prstGeom>
          <a:noFill/>
          <a:ln/>
        </p:spPr>
        <p:txBody>
          <a:bodyPr wrap="square" rtlCol="0" anchor="t"/>
          <a:lstStyle/>
          <a:p>
            <a:pPr marL="0" indent="0">
              <a:buNone/>
            </a:pPr>
            <a:r>
              <a:rPr lang="en-US" sz="1350" b="1" dirty="0">
                <a:solidFill>
                  <a:srgbClr val="2B3747"/>
                </a:solidFill>
                <a:latin typeface="Poppins" pitchFamily="34" charset="0"/>
                <a:ea typeface="Poppins" pitchFamily="34" charset="-122"/>
                <a:cs typeface="Poppins" pitchFamily="34" charset="-120"/>
              </a:rPr>
              <a:t>Identify the problem</a:t>
            </a:r>
            <a:endParaRPr lang="en-US" sz="1350" dirty="0"/>
          </a:p>
        </p:txBody>
      </p:sp>
      <p:sp>
        <p:nvSpPr>
          <p:cNvPr id="6" name="Text 4"/>
          <p:cNvSpPr/>
          <p:nvPr/>
        </p:nvSpPr>
        <p:spPr>
          <a:xfrm>
            <a:off x="5577840" y="1874520"/>
            <a:ext cx="6035040" cy="685800"/>
          </a:xfrm>
          <a:prstGeom prst="rect">
            <a:avLst/>
          </a:prstGeom>
          <a:noFill/>
          <a:ln/>
        </p:spPr>
        <p:txBody>
          <a:bodyPr wrap="square" rtlCol="0" anchor="t"/>
          <a:lstStyle/>
          <a:p>
            <a:pPr marL="0" indent="0">
              <a:lnSpc>
                <a:spcPts val="1500"/>
              </a:lnSpc>
              <a:buNone/>
            </a:pPr>
            <a:r>
              <a:rPr lang="en-US" sz="1200" dirty="0">
                <a:solidFill>
                  <a:srgbClr val="6B7684"/>
                </a:solidFill>
                <a:latin typeface="Poppins" pitchFamily="34" charset="0"/>
                <a:ea typeface="Poppins" pitchFamily="34" charset="-122"/>
                <a:cs typeface="Poppins" pitchFamily="34" charset="-120"/>
              </a:rPr>
              <a:t>Seems obvious — but naming it precisely is where most of the value hides.</a:t>
            </a:r>
            <a:endParaRPr lang="en-US" sz="1200" dirty="0"/>
          </a:p>
        </p:txBody>
      </p:sp>
      <p:sp>
        <p:nvSpPr>
          <p:cNvPr id="7" name="Shape 5"/>
          <p:cNvSpPr/>
          <p:nvPr/>
        </p:nvSpPr>
        <p:spPr>
          <a:xfrm>
            <a:off x="548640" y="2587752"/>
            <a:ext cx="11064240" cy="0"/>
          </a:xfrm>
          <a:prstGeom prst="line">
            <a:avLst/>
          </a:prstGeom>
          <a:noFill/>
          <a:ln w="12700">
            <a:solidFill>
              <a:srgbClr val="D9D2C3"/>
            </a:solidFill>
            <a:prstDash val="solid"/>
          </a:ln>
        </p:spPr>
        <p:txBody>
          <a:bodyPr/>
          <a:lstStyle/>
          <a:p>
            <a:endParaRPr lang="en-US"/>
          </a:p>
        </p:txBody>
      </p:sp>
      <p:sp>
        <p:nvSpPr>
          <p:cNvPr id="8" name="Text 6"/>
          <p:cNvSpPr/>
          <p:nvPr/>
        </p:nvSpPr>
        <p:spPr>
          <a:xfrm>
            <a:off x="548640" y="2715768"/>
            <a:ext cx="640080" cy="731520"/>
          </a:xfrm>
          <a:prstGeom prst="rect">
            <a:avLst/>
          </a:prstGeom>
          <a:noFill/>
          <a:ln/>
        </p:spPr>
        <p:txBody>
          <a:bodyPr wrap="square" rtlCol="0" anchor="t"/>
          <a:lstStyle/>
          <a:p>
            <a:pPr marL="0" indent="0">
              <a:buNone/>
            </a:pPr>
            <a:r>
              <a:rPr lang="en-US" sz="2000" b="1" dirty="0">
                <a:solidFill>
                  <a:srgbClr val="FF7800"/>
                </a:solidFill>
                <a:latin typeface="Poppins" pitchFamily="34" charset="0"/>
                <a:ea typeface="Poppins" pitchFamily="34" charset="-122"/>
                <a:cs typeface="Poppins" pitchFamily="34" charset="-120"/>
              </a:rPr>
              <a:t>02</a:t>
            </a:r>
            <a:endParaRPr lang="en-US" sz="2000" dirty="0"/>
          </a:p>
        </p:txBody>
      </p:sp>
      <p:sp>
        <p:nvSpPr>
          <p:cNvPr id="9" name="Text 7"/>
          <p:cNvSpPr/>
          <p:nvPr/>
        </p:nvSpPr>
        <p:spPr>
          <a:xfrm>
            <a:off x="1371600" y="2715768"/>
            <a:ext cx="4023360" cy="365760"/>
          </a:xfrm>
          <a:prstGeom prst="rect">
            <a:avLst/>
          </a:prstGeom>
          <a:noFill/>
          <a:ln/>
        </p:spPr>
        <p:txBody>
          <a:bodyPr wrap="square" rtlCol="0" anchor="t"/>
          <a:lstStyle/>
          <a:p>
            <a:pPr marL="0" indent="0">
              <a:buNone/>
            </a:pPr>
            <a:r>
              <a:rPr lang="en-US" sz="1350" b="1" dirty="0">
                <a:solidFill>
                  <a:srgbClr val="2B3747"/>
                </a:solidFill>
                <a:latin typeface="Poppins" pitchFamily="34" charset="0"/>
                <a:ea typeface="Poppins" pitchFamily="34" charset="-122"/>
                <a:cs typeface="Poppins" pitchFamily="34" charset="-120"/>
              </a:rPr>
              <a:t>Outline what works and what doesn't</a:t>
            </a:r>
            <a:endParaRPr lang="en-US" sz="1350" dirty="0"/>
          </a:p>
        </p:txBody>
      </p:sp>
      <p:sp>
        <p:nvSpPr>
          <p:cNvPr id="10" name="Text 8"/>
          <p:cNvSpPr/>
          <p:nvPr/>
        </p:nvSpPr>
        <p:spPr>
          <a:xfrm>
            <a:off x="5577840" y="2715768"/>
            <a:ext cx="6035040" cy="685800"/>
          </a:xfrm>
          <a:prstGeom prst="rect">
            <a:avLst/>
          </a:prstGeom>
          <a:noFill/>
          <a:ln/>
        </p:spPr>
        <p:txBody>
          <a:bodyPr wrap="square" rtlCol="0" anchor="t"/>
          <a:lstStyle/>
          <a:p>
            <a:pPr marL="0" indent="0">
              <a:lnSpc>
                <a:spcPts val="1500"/>
              </a:lnSpc>
              <a:buNone/>
            </a:pPr>
            <a:r>
              <a:rPr lang="en-US" sz="1200" dirty="0">
                <a:solidFill>
                  <a:srgbClr val="6B7684"/>
                </a:solidFill>
                <a:latin typeface="Poppins" pitchFamily="34" charset="0"/>
                <a:ea typeface="Poppins" pitchFamily="34" charset="-122"/>
                <a:cs typeface="Poppins" pitchFamily="34" charset="-120"/>
              </a:rPr>
              <a:t>Separate the parts worth keeping from the parts worth changing.</a:t>
            </a:r>
            <a:endParaRPr lang="en-US" sz="1200" dirty="0"/>
          </a:p>
        </p:txBody>
      </p:sp>
      <p:sp>
        <p:nvSpPr>
          <p:cNvPr id="11" name="Shape 9"/>
          <p:cNvSpPr/>
          <p:nvPr/>
        </p:nvSpPr>
        <p:spPr>
          <a:xfrm>
            <a:off x="548640" y="3429000"/>
            <a:ext cx="11064240" cy="0"/>
          </a:xfrm>
          <a:prstGeom prst="line">
            <a:avLst/>
          </a:prstGeom>
          <a:noFill/>
          <a:ln w="12700">
            <a:solidFill>
              <a:srgbClr val="D9D2C3"/>
            </a:solidFill>
            <a:prstDash val="solid"/>
          </a:ln>
        </p:spPr>
        <p:txBody>
          <a:bodyPr/>
          <a:lstStyle/>
          <a:p>
            <a:endParaRPr lang="en-US"/>
          </a:p>
        </p:txBody>
      </p:sp>
      <p:sp>
        <p:nvSpPr>
          <p:cNvPr id="12" name="Text 10"/>
          <p:cNvSpPr/>
          <p:nvPr/>
        </p:nvSpPr>
        <p:spPr>
          <a:xfrm>
            <a:off x="548640" y="3557016"/>
            <a:ext cx="640080" cy="731520"/>
          </a:xfrm>
          <a:prstGeom prst="rect">
            <a:avLst/>
          </a:prstGeom>
          <a:noFill/>
          <a:ln/>
        </p:spPr>
        <p:txBody>
          <a:bodyPr wrap="square" rtlCol="0" anchor="t"/>
          <a:lstStyle/>
          <a:p>
            <a:pPr marL="0" indent="0">
              <a:buNone/>
            </a:pPr>
            <a:r>
              <a:rPr lang="en-US" sz="2000" b="1" dirty="0">
                <a:solidFill>
                  <a:srgbClr val="FF7800"/>
                </a:solidFill>
                <a:latin typeface="Poppins" pitchFamily="34" charset="0"/>
                <a:ea typeface="Poppins" pitchFamily="34" charset="-122"/>
                <a:cs typeface="Poppins" pitchFamily="34" charset="-120"/>
              </a:rPr>
              <a:t>03</a:t>
            </a:r>
            <a:endParaRPr lang="en-US" sz="2000" dirty="0"/>
          </a:p>
        </p:txBody>
      </p:sp>
      <p:sp>
        <p:nvSpPr>
          <p:cNvPr id="13" name="Text 11"/>
          <p:cNvSpPr/>
          <p:nvPr/>
        </p:nvSpPr>
        <p:spPr>
          <a:xfrm>
            <a:off x="1371600" y="3557016"/>
            <a:ext cx="4023360" cy="365760"/>
          </a:xfrm>
          <a:prstGeom prst="rect">
            <a:avLst/>
          </a:prstGeom>
          <a:noFill/>
          <a:ln/>
        </p:spPr>
        <p:txBody>
          <a:bodyPr wrap="square" rtlCol="0" anchor="t"/>
          <a:lstStyle/>
          <a:p>
            <a:pPr marL="0" indent="0">
              <a:buNone/>
            </a:pPr>
            <a:r>
              <a:rPr lang="en-US" sz="1350" b="1" dirty="0">
                <a:solidFill>
                  <a:srgbClr val="2B3747"/>
                </a:solidFill>
                <a:latin typeface="Poppins" pitchFamily="34" charset="0"/>
                <a:ea typeface="Poppins" pitchFamily="34" charset="-122"/>
                <a:cs typeface="Poppins" pitchFamily="34" charset="-120"/>
              </a:rPr>
              <a:t>Work out what's needed to improve it</a:t>
            </a:r>
            <a:endParaRPr lang="en-US" sz="1350" dirty="0"/>
          </a:p>
        </p:txBody>
      </p:sp>
      <p:sp>
        <p:nvSpPr>
          <p:cNvPr id="14" name="Text 12"/>
          <p:cNvSpPr/>
          <p:nvPr/>
        </p:nvSpPr>
        <p:spPr>
          <a:xfrm>
            <a:off x="5577840" y="3557016"/>
            <a:ext cx="6035040" cy="685800"/>
          </a:xfrm>
          <a:prstGeom prst="rect">
            <a:avLst/>
          </a:prstGeom>
          <a:noFill/>
          <a:ln/>
        </p:spPr>
        <p:txBody>
          <a:bodyPr wrap="square" rtlCol="0" anchor="t"/>
          <a:lstStyle/>
          <a:p>
            <a:pPr marL="0" indent="0">
              <a:lnSpc>
                <a:spcPts val="1500"/>
              </a:lnSpc>
              <a:buNone/>
            </a:pPr>
            <a:r>
              <a:rPr lang="en-US" sz="1200" dirty="0">
                <a:solidFill>
                  <a:srgbClr val="6B7684"/>
                </a:solidFill>
                <a:latin typeface="Poppins" pitchFamily="34" charset="0"/>
                <a:ea typeface="Poppins" pitchFamily="34" charset="-122"/>
                <a:cs typeface="Poppins" pitchFamily="34" charset="-120"/>
              </a:rPr>
              <a:t>What has to change for the issue to actually go away?</a:t>
            </a:r>
            <a:endParaRPr lang="en-US" sz="1200" dirty="0"/>
          </a:p>
        </p:txBody>
      </p:sp>
      <p:sp>
        <p:nvSpPr>
          <p:cNvPr id="15" name="Shape 13"/>
          <p:cNvSpPr/>
          <p:nvPr/>
        </p:nvSpPr>
        <p:spPr>
          <a:xfrm>
            <a:off x="548640" y="4270248"/>
            <a:ext cx="11064240" cy="0"/>
          </a:xfrm>
          <a:prstGeom prst="line">
            <a:avLst/>
          </a:prstGeom>
          <a:noFill/>
          <a:ln w="12700">
            <a:solidFill>
              <a:srgbClr val="D9D2C3"/>
            </a:solidFill>
            <a:prstDash val="solid"/>
          </a:ln>
        </p:spPr>
        <p:txBody>
          <a:bodyPr/>
          <a:lstStyle/>
          <a:p>
            <a:endParaRPr lang="en-US"/>
          </a:p>
        </p:txBody>
      </p:sp>
      <p:sp>
        <p:nvSpPr>
          <p:cNvPr id="16" name="Text 14"/>
          <p:cNvSpPr/>
          <p:nvPr/>
        </p:nvSpPr>
        <p:spPr>
          <a:xfrm>
            <a:off x="548640" y="4398264"/>
            <a:ext cx="640080" cy="731520"/>
          </a:xfrm>
          <a:prstGeom prst="rect">
            <a:avLst/>
          </a:prstGeom>
          <a:noFill/>
          <a:ln/>
        </p:spPr>
        <p:txBody>
          <a:bodyPr wrap="square" rtlCol="0" anchor="t"/>
          <a:lstStyle/>
          <a:p>
            <a:pPr marL="0" indent="0">
              <a:buNone/>
            </a:pPr>
            <a:r>
              <a:rPr lang="en-US" sz="2000" b="1" dirty="0">
                <a:solidFill>
                  <a:srgbClr val="FF7800"/>
                </a:solidFill>
                <a:latin typeface="Poppins" pitchFamily="34" charset="0"/>
                <a:ea typeface="Poppins" pitchFamily="34" charset="-122"/>
                <a:cs typeface="Poppins" pitchFamily="34" charset="-120"/>
              </a:rPr>
              <a:t>04</a:t>
            </a:r>
            <a:endParaRPr lang="en-US" sz="2000" dirty="0"/>
          </a:p>
        </p:txBody>
      </p:sp>
      <p:sp>
        <p:nvSpPr>
          <p:cNvPr id="17" name="Text 15"/>
          <p:cNvSpPr/>
          <p:nvPr/>
        </p:nvSpPr>
        <p:spPr>
          <a:xfrm>
            <a:off x="1371600" y="4398264"/>
            <a:ext cx="4023360" cy="365760"/>
          </a:xfrm>
          <a:prstGeom prst="rect">
            <a:avLst/>
          </a:prstGeom>
          <a:noFill/>
          <a:ln/>
        </p:spPr>
        <p:txBody>
          <a:bodyPr wrap="square" rtlCol="0" anchor="t"/>
          <a:lstStyle/>
          <a:p>
            <a:pPr marL="0" indent="0">
              <a:buNone/>
            </a:pPr>
            <a:r>
              <a:rPr lang="en-US" sz="1350" b="1" dirty="0">
                <a:solidFill>
                  <a:srgbClr val="2B3747"/>
                </a:solidFill>
                <a:latin typeface="Poppins" pitchFamily="34" charset="0"/>
                <a:ea typeface="Poppins" pitchFamily="34" charset="-122"/>
                <a:cs typeface="Poppins" pitchFamily="34" charset="-120"/>
              </a:rPr>
              <a:t>Know your systems</a:t>
            </a:r>
            <a:endParaRPr lang="en-US" sz="1350" dirty="0"/>
          </a:p>
        </p:txBody>
      </p:sp>
      <p:sp>
        <p:nvSpPr>
          <p:cNvPr id="18" name="Text 16"/>
          <p:cNvSpPr/>
          <p:nvPr/>
        </p:nvSpPr>
        <p:spPr>
          <a:xfrm>
            <a:off x="5577840" y="4398264"/>
            <a:ext cx="6035040" cy="685800"/>
          </a:xfrm>
          <a:prstGeom prst="rect">
            <a:avLst/>
          </a:prstGeom>
          <a:noFill/>
          <a:ln/>
        </p:spPr>
        <p:txBody>
          <a:bodyPr wrap="square" rtlCol="0" anchor="t"/>
          <a:lstStyle/>
          <a:p>
            <a:pPr marL="0" indent="0">
              <a:lnSpc>
                <a:spcPts val="1500"/>
              </a:lnSpc>
              <a:buNone/>
            </a:pPr>
            <a:r>
              <a:rPr lang="en-US" sz="1200" dirty="0">
                <a:solidFill>
                  <a:srgbClr val="6B7684"/>
                </a:solidFill>
                <a:latin typeface="Poppins" pitchFamily="34" charset="0"/>
                <a:ea typeface="Poppins" pitchFamily="34" charset="-122"/>
                <a:cs typeface="Poppins" pitchFamily="34" charset="-120"/>
              </a:rPr>
              <a:t>How do your systems interact? What's already at your fingertips that you're not using?</a:t>
            </a:r>
            <a:endParaRPr lang="en-US" sz="1200" dirty="0"/>
          </a:p>
        </p:txBody>
      </p:sp>
      <p:sp>
        <p:nvSpPr>
          <p:cNvPr id="19" name="Shape 17"/>
          <p:cNvSpPr/>
          <p:nvPr/>
        </p:nvSpPr>
        <p:spPr>
          <a:xfrm>
            <a:off x="548640" y="5111496"/>
            <a:ext cx="11064240" cy="0"/>
          </a:xfrm>
          <a:prstGeom prst="line">
            <a:avLst/>
          </a:prstGeom>
          <a:noFill/>
          <a:ln w="12700">
            <a:solidFill>
              <a:srgbClr val="D9D2C3"/>
            </a:solidFill>
            <a:prstDash val="solid"/>
          </a:ln>
        </p:spPr>
        <p:txBody>
          <a:bodyPr/>
          <a:lstStyle/>
          <a:p>
            <a:endParaRPr lang="en-US"/>
          </a:p>
        </p:txBody>
      </p:sp>
      <p:sp>
        <p:nvSpPr>
          <p:cNvPr id="20" name="Text 18"/>
          <p:cNvSpPr/>
          <p:nvPr/>
        </p:nvSpPr>
        <p:spPr>
          <a:xfrm>
            <a:off x="548640" y="5239512"/>
            <a:ext cx="640080" cy="731520"/>
          </a:xfrm>
          <a:prstGeom prst="rect">
            <a:avLst/>
          </a:prstGeom>
          <a:noFill/>
          <a:ln/>
        </p:spPr>
        <p:txBody>
          <a:bodyPr wrap="square" rtlCol="0" anchor="t"/>
          <a:lstStyle/>
          <a:p>
            <a:pPr marL="0" indent="0">
              <a:buNone/>
            </a:pPr>
            <a:r>
              <a:rPr lang="en-US" sz="2000" b="1" dirty="0">
                <a:solidFill>
                  <a:srgbClr val="FF7800"/>
                </a:solidFill>
                <a:latin typeface="Poppins" pitchFamily="34" charset="0"/>
                <a:ea typeface="Poppins" pitchFamily="34" charset="-122"/>
                <a:cs typeface="Poppins" pitchFamily="34" charset="-120"/>
              </a:rPr>
              <a:t>05</a:t>
            </a:r>
            <a:endParaRPr lang="en-US" sz="2000" dirty="0"/>
          </a:p>
        </p:txBody>
      </p:sp>
      <p:sp>
        <p:nvSpPr>
          <p:cNvPr id="21" name="Text 19"/>
          <p:cNvSpPr/>
          <p:nvPr/>
        </p:nvSpPr>
        <p:spPr>
          <a:xfrm>
            <a:off x="1371600" y="5239512"/>
            <a:ext cx="4023360" cy="365760"/>
          </a:xfrm>
          <a:prstGeom prst="rect">
            <a:avLst/>
          </a:prstGeom>
          <a:noFill/>
          <a:ln/>
        </p:spPr>
        <p:txBody>
          <a:bodyPr wrap="square" rtlCol="0" anchor="t"/>
          <a:lstStyle/>
          <a:p>
            <a:pPr marL="0" indent="0">
              <a:buNone/>
            </a:pPr>
            <a:r>
              <a:rPr lang="en-US" sz="1350" b="1" dirty="0">
                <a:solidFill>
                  <a:srgbClr val="2B3747"/>
                </a:solidFill>
                <a:latin typeface="Poppins" pitchFamily="34" charset="0"/>
                <a:ea typeface="Poppins" pitchFamily="34" charset="-122"/>
                <a:cs typeface="Poppins" pitchFamily="34" charset="-120"/>
              </a:rPr>
              <a:t>Explain the change to your team</a:t>
            </a:r>
            <a:endParaRPr lang="en-US" sz="1350" dirty="0"/>
          </a:p>
        </p:txBody>
      </p:sp>
      <p:sp>
        <p:nvSpPr>
          <p:cNvPr id="22" name="Text 20"/>
          <p:cNvSpPr/>
          <p:nvPr/>
        </p:nvSpPr>
        <p:spPr>
          <a:xfrm>
            <a:off x="5577840" y="5239512"/>
            <a:ext cx="6035040" cy="685800"/>
          </a:xfrm>
          <a:prstGeom prst="rect">
            <a:avLst/>
          </a:prstGeom>
          <a:noFill/>
          <a:ln/>
        </p:spPr>
        <p:txBody>
          <a:bodyPr wrap="square" rtlCol="0" anchor="t"/>
          <a:lstStyle/>
          <a:p>
            <a:pPr marL="0" indent="0">
              <a:lnSpc>
                <a:spcPts val="1500"/>
              </a:lnSpc>
              <a:buNone/>
            </a:pPr>
            <a:r>
              <a:rPr lang="en-US" sz="1200" dirty="0">
                <a:solidFill>
                  <a:srgbClr val="6B7684"/>
                </a:solidFill>
                <a:latin typeface="Poppins" pitchFamily="34" charset="0"/>
                <a:ea typeface="Poppins" pitchFamily="34" charset="-122"/>
                <a:cs typeface="Poppins" pitchFamily="34" charset="-120"/>
              </a:rPr>
              <a:t>A change nobody understands is a change nobody follows.</a:t>
            </a:r>
            <a:endParaRPr lang="en-US" sz="1200" dirty="0"/>
          </a:p>
        </p:txBody>
      </p:sp>
      <p:sp>
        <p:nvSpPr>
          <p:cNvPr id="23" name="Text 21"/>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PART 02 · OUR SYSTEM</a:t>
            </a:r>
            <a:endParaRPr lang="en-US" sz="900" dirty="0"/>
          </a:p>
        </p:txBody>
      </p:sp>
      <p:sp>
        <p:nvSpPr>
          <p:cNvPr id="24" name="Text 22"/>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RESEARCH</a:t>
            </a:r>
            <a:endParaRPr lang="en-US" sz="1100" dirty="0"/>
          </a:p>
        </p:txBody>
      </p:sp>
      <p:sp>
        <p:nvSpPr>
          <p:cNvPr id="3" name="Text 1"/>
          <p:cNvSpPr/>
          <p:nvPr/>
        </p:nvSpPr>
        <p:spPr>
          <a:xfrm>
            <a:off x="548640" y="777240"/>
            <a:ext cx="10515600" cy="685800"/>
          </a:xfrm>
          <a:prstGeom prst="rect">
            <a:avLst/>
          </a:prstGeom>
          <a:noFill/>
          <a:ln/>
        </p:spPr>
        <p:txBody>
          <a:bodyPr wrap="square" rtlCol="0" anchor="ctr"/>
          <a:lstStyle/>
          <a:p>
            <a:pPr marL="0" indent="0">
              <a:buNone/>
            </a:pPr>
            <a:r>
              <a:rPr lang="en-US" sz="2500" b="1" dirty="0">
                <a:solidFill>
                  <a:srgbClr val="2B3747"/>
                </a:solidFill>
                <a:latin typeface="Poppins" pitchFamily="34" charset="0"/>
                <a:ea typeface="Poppins" pitchFamily="34" charset="-122"/>
                <a:cs typeface="Poppins" pitchFamily="34" charset="-120"/>
              </a:rPr>
              <a:t>Know your systems before you touch anything.</a:t>
            </a:r>
            <a:endParaRPr lang="en-US" sz="2500" dirty="0"/>
          </a:p>
        </p:txBody>
      </p:sp>
      <p:sp>
        <p:nvSpPr>
          <p:cNvPr id="4" name="Text 2"/>
          <p:cNvSpPr/>
          <p:nvPr/>
        </p:nvSpPr>
        <p:spPr>
          <a:xfrm>
            <a:off x="548640" y="1645920"/>
            <a:ext cx="5943600" cy="1188720"/>
          </a:xfrm>
          <a:prstGeom prst="rect">
            <a:avLst/>
          </a:prstGeom>
          <a:noFill/>
          <a:ln/>
        </p:spPr>
        <p:txBody>
          <a:bodyPr wrap="square" rtlCol="0" anchor="ctr"/>
          <a:lstStyle/>
          <a:p>
            <a:pPr marL="0" indent="0">
              <a:lnSpc>
                <a:spcPts val="1900"/>
              </a:lnSpc>
              <a:buNone/>
            </a:pPr>
            <a:r>
              <a:rPr lang="en-US" sz="1350" dirty="0">
                <a:solidFill>
                  <a:srgbClr val="6B7684"/>
                </a:solidFill>
                <a:latin typeface="Poppins" pitchFamily="34" charset="0"/>
                <a:ea typeface="Poppins" pitchFamily="34" charset="-122"/>
                <a:cs typeface="Poppins" pitchFamily="34" charset="-120"/>
              </a:rPr>
              <a:t>We have amazing tools at our fingertips now — but the common mistake is not stopping to ask: don't I already have something that can do this?</a:t>
            </a:r>
            <a:endParaRPr lang="en-US" sz="1350" dirty="0"/>
          </a:p>
        </p:txBody>
      </p:sp>
      <p:sp>
        <p:nvSpPr>
          <p:cNvPr id="5" name="Shape 3"/>
          <p:cNvSpPr/>
          <p:nvPr/>
        </p:nvSpPr>
        <p:spPr>
          <a:xfrm>
            <a:off x="6766560" y="1645920"/>
            <a:ext cx="4846320" cy="1051560"/>
          </a:xfrm>
          <a:prstGeom prst="roundRect">
            <a:avLst>
              <a:gd name="adj" fmla="val 5217"/>
            </a:avLst>
          </a:prstGeom>
          <a:solidFill>
            <a:srgbClr val="FFFFFF"/>
          </a:solidFill>
          <a:ln w="12700">
            <a:solidFill>
              <a:srgbClr val="D9D2C3"/>
            </a:solidFill>
            <a:prstDash val="solid"/>
          </a:ln>
        </p:spPr>
        <p:txBody>
          <a:bodyPr/>
          <a:lstStyle/>
          <a:p>
            <a:endParaRPr lang="en-US"/>
          </a:p>
        </p:txBody>
      </p:sp>
      <p:sp>
        <p:nvSpPr>
          <p:cNvPr id="6" name="Text 4"/>
          <p:cNvSpPr/>
          <p:nvPr/>
        </p:nvSpPr>
        <p:spPr>
          <a:xfrm>
            <a:off x="6995160" y="1755648"/>
            <a:ext cx="4434840" cy="365760"/>
          </a:xfrm>
          <a:prstGeom prst="rect">
            <a:avLst/>
          </a:prstGeom>
          <a:noFill/>
          <a:ln/>
        </p:spPr>
        <p:txBody>
          <a:bodyPr wrap="square" rtlCol="0" anchor="ctr"/>
          <a:lstStyle/>
          <a:p>
            <a:pPr marL="0" indent="0">
              <a:buNone/>
            </a:pPr>
            <a:r>
              <a:rPr lang="en-US" sz="1300" b="1" dirty="0">
                <a:solidFill>
                  <a:srgbClr val="2B3747"/>
                </a:solidFill>
                <a:latin typeface="Poppins" pitchFamily="34" charset="0"/>
                <a:ea typeface="Poppins" pitchFamily="34" charset="-122"/>
                <a:cs typeface="Poppins" pitchFamily="34" charset="-120"/>
              </a:rPr>
              <a:t>What systems do we have?</a:t>
            </a:r>
            <a:endParaRPr lang="en-US" sz="1300" dirty="0"/>
          </a:p>
        </p:txBody>
      </p:sp>
      <p:sp>
        <p:nvSpPr>
          <p:cNvPr id="7" name="Text 5"/>
          <p:cNvSpPr/>
          <p:nvPr/>
        </p:nvSpPr>
        <p:spPr>
          <a:xfrm>
            <a:off x="6995160" y="2103120"/>
            <a:ext cx="4434840" cy="548640"/>
          </a:xfrm>
          <a:prstGeom prst="rect">
            <a:avLst/>
          </a:prstGeom>
          <a:noFill/>
          <a:ln/>
        </p:spPr>
        <p:txBody>
          <a:bodyPr wrap="square" rtlCol="0" anchor="ctr"/>
          <a:lstStyle/>
          <a:p>
            <a:pPr marL="0" indent="0">
              <a:lnSpc>
                <a:spcPts val="1300"/>
              </a:lnSpc>
              <a:buNone/>
            </a:pPr>
            <a:r>
              <a:rPr lang="en-US" sz="1050" dirty="0">
                <a:solidFill>
                  <a:srgbClr val="6B7684"/>
                </a:solidFill>
                <a:latin typeface="Poppins" pitchFamily="34" charset="0"/>
                <a:ea typeface="Poppins" pitchFamily="34" charset="-122"/>
                <a:cs typeface="Poppins" pitchFamily="34" charset="-120"/>
              </a:rPr>
              <a:t>Draw them out if you have to — most firms have never mapped this.</a:t>
            </a:r>
            <a:endParaRPr lang="en-US" sz="1050" dirty="0"/>
          </a:p>
        </p:txBody>
      </p:sp>
      <p:sp>
        <p:nvSpPr>
          <p:cNvPr id="8" name="Shape 6"/>
          <p:cNvSpPr/>
          <p:nvPr/>
        </p:nvSpPr>
        <p:spPr>
          <a:xfrm>
            <a:off x="6766560" y="2834640"/>
            <a:ext cx="4846320" cy="1051560"/>
          </a:xfrm>
          <a:prstGeom prst="roundRect">
            <a:avLst>
              <a:gd name="adj" fmla="val 5217"/>
            </a:avLst>
          </a:prstGeom>
          <a:solidFill>
            <a:srgbClr val="FFFFFF"/>
          </a:solidFill>
          <a:ln w="12700">
            <a:solidFill>
              <a:srgbClr val="D9D2C3"/>
            </a:solidFill>
            <a:prstDash val="solid"/>
          </a:ln>
        </p:spPr>
        <p:txBody>
          <a:bodyPr/>
          <a:lstStyle/>
          <a:p>
            <a:endParaRPr lang="en-US"/>
          </a:p>
        </p:txBody>
      </p:sp>
      <p:sp>
        <p:nvSpPr>
          <p:cNvPr id="9" name="Text 7"/>
          <p:cNvSpPr/>
          <p:nvPr/>
        </p:nvSpPr>
        <p:spPr>
          <a:xfrm>
            <a:off x="6995160" y="2944368"/>
            <a:ext cx="4434840" cy="365760"/>
          </a:xfrm>
          <a:prstGeom prst="rect">
            <a:avLst/>
          </a:prstGeom>
          <a:noFill/>
          <a:ln/>
        </p:spPr>
        <p:txBody>
          <a:bodyPr wrap="square" rtlCol="0" anchor="ctr"/>
          <a:lstStyle/>
          <a:p>
            <a:pPr marL="0" indent="0">
              <a:buNone/>
            </a:pPr>
            <a:r>
              <a:rPr lang="en-US" sz="1300" b="1" dirty="0">
                <a:solidFill>
                  <a:srgbClr val="2B3747"/>
                </a:solidFill>
                <a:latin typeface="Poppins" pitchFamily="34" charset="0"/>
                <a:ea typeface="Poppins" pitchFamily="34" charset="-122"/>
                <a:cs typeface="Poppins" pitchFamily="34" charset="-120"/>
              </a:rPr>
              <a:t>What are their capabilities?</a:t>
            </a:r>
            <a:endParaRPr lang="en-US" sz="1300" dirty="0"/>
          </a:p>
        </p:txBody>
      </p:sp>
      <p:sp>
        <p:nvSpPr>
          <p:cNvPr id="10" name="Text 8"/>
          <p:cNvSpPr/>
          <p:nvPr/>
        </p:nvSpPr>
        <p:spPr>
          <a:xfrm>
            <a:off x="6995160" y="3291840"/>
            <a:ext cx="4434840" cy="548640"/>
          </a:xfrm>
          <a:prstGeom prst="rect">
            <a:avLst/>
          </a:prstGeom>
          <a:noFill/>
          <a:ln/>
        </p:spPr>
        <p:txBody>
          <a:bodyPr wrap="square" rtlCol="0" anchor="ctr"/>
          <a:lstStyle/>
          <a:p>
            <a:pPr marL="0" indent="0">
              <a:lnSpc>
                <a:spcPts val="1300"/>
              </a:lnSpc>
              <a:buNone/>
            </a:pPr>
            <a:r>
              <a:rPr lang="en-US" sz="1050" dirty="0">
                <a:solidFill>
                  <a:srgbClr val="6B7684"/>
                </a:solidFill>
                <a:latin typeface="Poppins" pitchFamily="34" charset="0"/>
                <a:ea typeface="Poppins" pitchFamily="34" charset="-122"/>
                <a:cs typeface="Poppins" pitchFamily="34" charset="-120"/>
              </a:rPr>
              <a:t>Software moves fast. You may already own the fix, at no extra cost.</a:t>
            </a:r>
            <a:endParaRPr lang="en-US" sz="1050" dirty="0"/>
          </a:p>
        </p:txBody>
      </p:sp>
      <p:sp>
        <p:nvSpPr>
          <p:cNvPr id="11" name="Shape 9"/>
          <p:cNvSpPr/>
          <p:nvPr/>
        </p:nvSpPr>
        <p:spPr>
          <a:xfrm>
            <a:off x="6766560" y="4023360"/>
            <a:ext cx="4846320" cy="1051560"/>
          </a:xfrm>
          <a:prstGeom prst="roundRect">
            <a:avLst>
              <a:gd name="adj" fmla="val 5217"/>
            </a:avLst>
          </a:prstGeom>
          <a:solidFill>
            <a:srgbClr val="FFFFFF"/>
          </a:solidFill>
          <a:ln w="12700">
            <a:solidFill>
              <a:srgbClr val="D9D2C3"/>
            </a:solidFill>
            <a:prstDash val="solid"/>
          </a:ln>
        </p:spPr>
        <p:txBody>
          <a:bodyPr/>
          <a:lstStyle/>
          <a:p>
            <a:endParaRPr lang="en-US"/>
          </a:p>
        </p:txBody>
      </p:sp>
      <p:sp>
        <p:nvSpPr>
          <p:cNvPr id="12" name="Text 10"/>
          <p:cNvSpPr/>
          <p:nvPr/>
        </p:nvSpPr>
        <p:spPr>
          <a:xfrm>
            <a:off x="6995160" y="4133088"/>
            <a:ext cx="4434840" cy="365760"/>
          </a:xfrm>
          <a:prstGeom prst="rect">
            <a:avLst/>
          </a:prstGeom>
          <a:noFill/>
          <a:ln/>
        </p:spPr>
        <p:txBody>
          <a:bodyPr wrap="square" rtlCol="0" anchor="ctr"/>
          <a:lstStyle/>
          <a:p>
            <a:pPr marL="0" indent="0">
              <a:buNone/>
            </a:pPr>
            <a:r>
              <a:rPr lang="en-US" sz="1300" b="1" dirty="0">
                <a:solidFill>
                  <a:srgbClr val="2B3747"/>
                </a:solidFill>
                <a:latin typeface="Poppins" pitchFamily="34" charset="0"/>
                <a:ea typeface="Poppins" pitchFamily="34" charset="-122"/>
                <a:cs typeface="Poppins" pitchFamily="34" charset="-120"/>
              </a:rPr>
              <a:t>Is it already on a roadmap?</a:t>
            </a:r>
            <a:endParaRPr lang="en-US" sz="1300" dirty="0"/>
          </a:p>
        </p:txBody>
      </p:sp>
      <p:sp>
        <p:nvSpPr>
          <p:cNvPr id="13" name="Text 11"/>
          <p:cNvSpPr/>
          <p:nvPr/>
        </p:nvSpPr>
        <p:spPr>
          <a:xfrm>
            <a:off x="6995160" y="4480560"/>
            <a:ext cx="4434840" cy="548640"/>
          </a:xfrm>
          <a:prstGeom prst="rect">
            <a:avLst/>
          </a:prstGeom>
          <a:noFill/>
          <a:ln/>
        </p:spPr>
        <p:txBody>
          <a:bodyPr wrap="square" rtlCol="0" anchor="ctr"/>
          <a:lstStyle/>
          <a:p>
            <a:pPr marL="0" indent="0">
              <a:lnSpc>
                <a:spcPts val="1300"/>
              </a:lnSpc>
              <a:buNone/>
            </a:pPr>
            <a:r>
              <a:rPr lang="en-US" sz="1050" dirty="0">
                <a:solidFill>
                  <a:srgbClr val="6B7684"/>
                </a:solidFill>
                <a:latin typeface="Poppins" pitchFamily="34" charset="0"/>
                <a:ea typeface="Poppins" pitchFamily="34" charset="-122"/>
                <a:cs typeface="Poppins" pitchFamily="34" charset="-120"/>
              </a:rPr>
              <a:t>Sometimes the choice isn't build vs. buy — it's build vs. wait.</a:t>
            </a:r>
            <a:endParaRPr lang="en-US" sz="1050" dirty="0"/>
          </a:p>
        </p:txBody>
      </p:sp>
      <p:sp>
        <p:nvSpPr>
          <p:cNvPr id="14" name="Shape 12"/>
          <p:cNvSpPr/>
          <p:nvPr/>
        </p:nvSpPr>
        <p:spPr>
          <a:xfrm>
            <a:off x="6766560" y="5212080"/>
            <a:ext cx="4846320" cy="1051560"/>
          </a:xfrm>
          <a:prstGeom prst="roundRect">
            <a:avLst>
              <a:gd name="adj" fmla="val 5217"/>
            </a:avLst>
          </a:prstGeom>
          <a:solidFill>
            <a:srgbClr val="FFFFFF"/>
          </a:solidFill>
          <a:ln w="12700">
            <a:solidFill>
              <a:srgbClr val="D9D2C3"/>
            </a:solidFill>
            <a:prstDash val="solid"/>
          </a:ln>
        </p:spPr>
        <p:txBody>
          <a:bodyPr/>
          <a:lstStyle/>
          <a:p>
            <a:endParaRPr lang="en-US"/>
          </a:p>
        </p:txBody>
      </p:sp>
      <p:sp>
        <p:nvSpPr>
          <p:cNvPr id="15" name="Text 13"/>
          <p:cNvSpPr/>
          <p:nvPr/>
        </p:nvSpPr>
        <p:spPr>
          <a:xfrm>
            <a:off x="6995160" y="5321808"/>
            <a:ext cx="4434840" cy="365760"/>
          </a:xfrm>
          <a:prstGeom prst="rect">
            <a:avLst/>
          </a:prstGeom>
          <a:noFill/>
          <a:ln/>
        </p:spPr>
        <p:txBody>
          <a:bodyPr wrap="square" rtlCol="0" anchor="ctr"/>
          <a:lstStyle/>
          <a:p>
            <a:pPr marL="0" indent="0">
              <a:buNone/>
            </a:pPr>
            <a:r>
              <a:rPr lang="en-US" sz="1300" b="1" dirty="0">
                <a:solidFill>
                  <a:srgbClr val="2B3747"/>
                </a:solidFill>
                <a:latin typeface="Poppins" pitchFamily="34" charset="0"/>
                <a:ea typeface="Poppins" pitchFamily="34" charset="-122"/>
                <a:cs typeface="Poppins" pitchFamily="34" charset="-120"/>
              </a:rPr>
              <a:t>Has someone already solved this?</a:t>
            </a:r>
            <a:endParaRPr lang="en-US" sz="1300" dirty="0"/>
          </a:p>
        </p:txBody>
      </p:sp>
      <p:sp>
        <p:nvSpPr>
          <p:cNvPr id="16" name="Text 14"/>
          <p:cNvSpPr/>
          <p:nvPr/>
        </p:nvSpPr>
        <p:spPr>
          <a:xfrm>
            <a:off x="6995160" y="5669280"/>
            <a:ext cx="4434840" cy="548640"/>
          </a:xfrm>
          <a:prstGeom prst="rect">
            <a:avLst/>
          </a:prstGeom>
          <a:noFill/>
          <a:ln/>
        </p:spPr>
        <p:txBody>
          <a:bodyPr wrap="square" rtlCol="0" anchor="ctr"/>
          <a:lstStyle/>
          <a:p>
            <a:pPr marL="0" indent="0">
              <a:lnSpc>
                <a:spcPts val="1300"/>
              </a:lnSpc>
              <a:buNone/>
            </a:pPr>
            <a:r>
              <a:rPr lang="en-US" sz="1050" dirty="0">
                <a:solidFill>
                  <a:srgbClr val="6B7684"/>
                </a:solidFill>
                <a:latin typeface="Poppins" pitchFamily="34" charset="0"/>
                <a:ea typeface="Poppins" pitchFamily="34" charset="-122"/>
                <a:cs typeface="Poppins" pitchFamily="34" charset="-120"/>
              </a:rPr>
              <a:t>Don't reinvent the wheel — plenty of firms are sharing their builds.</a:t>
            </a:r>
            <a:endParaRPr lang="en-US" sz="1050" dirty="0"/>
          </a:p>
        </p:txBody>
      </p:sp>
      <p:sp>
        <p:nvSpPr>
          <p:cNvPr id="17" name="Text 15"/>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PART 02 · OUR SYSTEM</a:t>
            </a:r>
            <a:endParaRPr lang="en-US" sz="900" dirty="0"/>
          </a:p>
        </p:txBody>
      </p:sp>
      <p:sp>
        <p:nvSpPr>
          <p:cNvPr id="18" name="Text 16"/>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BUILD &amp; TEST</a:t>
            </a:r>
            <a:endParaRPr lang="en-US" sz="1100" dirty="0"/>
          </a:p>
        </p:txBody>
      </p:sp>
      <p:sp>
        <p:nvSpPr>
          <p:cNvPr id="3" name="Text 1"/>
          <p:cNvSpPr/>
          <p:nvPr/>
        </p:nvSpPr>
        <p:spPr>
          <a:xfrm>
            <a:off x="548640" y="777240"/>
            <a:ext cx="10881360" cy="685800"/>
          </a:xfrm>
          <a:prstGeom prst="rect">
            <a:avLst/>
          </a:prstGeom>
          <a:noFill/>
          <a:ln/>
        </p:spPr>
        <p:txBody>
          <a:bodyPr wrap="square" rtlCol="0" anchor="ctr"/>
          <a:lstStyle/>
          <a:p>
            <a:pPr marL="0" indent="0">
              <a:buNone/>
            </a:pPr>
            <a:r>
              <a:rPr lang="en-US" sz="2400" b="1" dirty="0">
                <a:solidFill>
                  <a:srgbClr val="2B3747"/>
                </a:solidFill>
                <a:latin typeface="Poppins" pitchFamily="34" charset="0"/>
                <a:ea typeface="Poppins" pitchFamily="34" charset="-122"/>
                <a:cs typeface="Poppins" pitchFamily="34" charset="-120"/>
              </a:rPr>
              <a:t>Building is the easy part. Testing finds what you missed.</a:t>
            </a:r>
            <a:endParaRPr lang="en-US" sz="2400" dirty="0"/>
          </a:p>
        </p:txBody>
      </p:sp>
      <p:sp>
        <p:nvSpPr>
          <p:cNvPr id="4" name="Shape 2"/>
          <p:cNvSpPr/>
          <p:nvPr/>
        </p:nvSpPr>
        <p:spPr>
          <a:xfrm>
            <a:off x="548640" y="1828800"/>
            <a:ext cx="5257800" cy="4023360"/>
          </a:xfrm>
          <a:prstGeom prst="roundRect">
            <a:avLst>
              <a:gd name="adj" fmla="val 1818"/>
            </a:avLst>
          </a:prstGeom>
          <a:solidFill>
            <a:srgbClr val="FFFFFF"/>
          </a:solidFill>
          <a:ln w="12700">
            <a:solidFill>
              <a:srgbClr val="D9D2C3"/>
            </a:solidFill>
            <a:prstDash val="solid"/>
          </a:ln>
        </p:spPr>
        <p:txBody>
          <a:bodyPr/>
          <a:lstStyle/>
          <a:p>
            <a:endParaRPr lang="en-US"/>
          </a:p>
        </p:txBody>
      </p:sp>
      <p:sp>
        <p:nvSpPr>
          <p:cNvPr id="5" name="Text 3"/>
          <p:cNvSpPr/>
          <p:nvPr/>
        </p:nvSpPr>
        <p:spPr>
          <a:xfrm>
            <a:off x="868680" y="2103120"/>
            <a:ext cx="4572000" cy="320040"/>
          </a:xfrm>
          <a:prstGeom prst="rect">
            <a:avLst/>
          </a:prstGeom>
          <a:noFill/>
          <a:ln/>
        </p:spPr>
        <p:txBody>
          <a:bodyPr wrap="square" rtlCol="0" anchor="ctr"/>
          <a:lstStyle/>
          <a:p>
            <a:pPr marL="0" indent="0">
              <a:buNone/>
            </a:pPr>
            <a:r>
              <a:rPr lang="en-US" sz="1200" b="1" kern="0" spc="100" dirty="0">
                <a:solidFill>
                  <a:srgbClr val="FF7800"/>
                </a:solidFill>
                <a:latin typeface="Poppins" pitchFamily="34" charset="0"/>
                <a:ea typeface="Poppins" pitchFamily="34" charset="-122"/>
                <a:cs typeface="Poppins" pitchFamily="34" charset="-120"/>
              </a:rPr>
              <a:t>BUILD</a:t>
            </a:r>
            <a:endParaRPr lang="en-US" sz="1200" dirty="0"/>
          </a:p>
        </p:txBody>
      </p:sp>
      <p:sp>
        <p:nvSpPr>
          <p:cNvPr id="6" name="Text 4"/>
          <p:cNvSpPr/>
          <p:nvPr/>
        </p:nvSpPr>
        <p:spPr>
          <a:xfrm>
            <a:off x="868680" y="2514600"/>
            <a:ext cx="4663440" cy="914400"/>
          </a:xfrm>
          <a:prstGeom prst="rect">
            <a:avLst/>
          </a:prstGeom>
          <a:noFill/>
          <a:ln/>
        </p:spPr>
        <p:txBody>
          <a:bodyPr wrap="square" rtlCol="0" anchor="ctr"/>
          <a:lstStyle/>
          <a:p>
            <a:pPr marL="0" indent="0">
              <a:lnSpc>
                <a:spcPts val="1800"/>
              </a:lnSpc>
              <a:buNone/>
            </a:pPr>
            <a:r>
              <a:rPr lang="en-US" sz="1300" dirty="0">
                <a:solidFill>
                  <a:srgbClr val="6B7684"/>
                </a:solidFill>
                <a:latin typeface="Poppins" pitchFamily="34" charset="0"/>
                <a:ea typeface="Poppins" pitchFamily="34" charset="-122"/>
                <a:cs typeface="Poppins" pitchFamily="34" charset="-120"/>
              </a:rPr>
              <a:t>Now that you know your tools and your problem, map out how the solution will actually work.</a:t>
            </a:r>
            <a:endParaRPr lang="en-US" sz="1300" dirty="0"/>
          </a:p>
        </p:txBody>
      </p:sp>
      <p:sp>
        <p:nvSpPr>
          <p:cNvPr id="7" name="Text 5"/>
          <p:cNvSpPr/>
          <p:nvPr/>
        </p:nvSpPr>
        <p:spPr>
          <a:xfrm>
            <a:off x="868680" y="3429000"/>
            <a:ext cx="4663440" cy="1280160"/>
          </a:xfrm>
          <a:prstGeom prst="rect">
            <a:avLst/>
          </a:prstGeom>
          <a:noFill/>
          <a:ln/>
        </p:spPr>
        <p:txBody>
          <a:bodyPr wrap="square" rtlCol="0" anchor="ctr"/>
          <a:lstStyle/>
          <a:p>
            <a:pPr marL="0" indent="0">
              <a:lnSpc>
                <a:spcPts val="2200"/>
              </a:lnSpc>
              <a:buNone/>
            </a:pPr>
            <a:r>
              <a:rPr lang="en-US" sz="1300" b="1" dirty="0">
                <a:solidFill>
                  <a:srgbClr val="2B3747"/>
                </a:solidFill>
                <a:latin typeface="Poppins" pitchFamily="34" charset="0"/>
                <a:ea typeface="Poppins" pitchFamily="34" charset="-122"/>
                <a:cs typeface="Poppins" pitchFamily="34" charset="-120"/>
              </a:rPr>
              <a:t>• Where might it fall down?</a:t>
            </a:r>
            <a:endParaRPr lang="en-US" sz="1300" dirty="0"/>
          </a:p>
          <a:p>
            <a:pPr marL="0" indent="0">
              <a:lnSpc>
                <a:spcPts val="2200"/>
              </a:lnSpc>
              <a:buNone/>
            </a:pPr>
            <a:r>
              <a:rPr lang="en-US" sz="1300" b="1" dirty="0">
                <a:solidFill>
                  <a:srgbClr val="2B3747"/>
                </a:solidFill>
                <a:latin typeface="Poppins" pitchFamily="34" charset="0"/>
                <a:ea typeface="Poppins" pitchFamily="34" charset="-122"/>
                <a:cs typeface="Poppins" pitchFamily="34" charset="-120"/>
              </a:rPr>
              <a:t>• Is there a way around that?</a:t>
            </a:r>
            <a:endParaRPr lang="en-US" sz="1300" dirty="0"/>
          </a:p>
          <a:p>
            <a:pPr marL="0" indent="0">
              <a:lnSpc>
                <a:spcPts val="2200"/>
              </a:lnSpc>
              <a:buNone/>
            </a:pPr>
            <a:r>
              <a:rPr lang="en-US" sz="1300" b="1" dirty="0">
                <a:solidFill>
                  <a:srgbClr val="2B3747"/>
                </a:solidFill>
                <a:latin typeface="Poppins" pitchFamily="34" charset="0"/>
                <a:ea typeface="Poppins" pitchFamily="34" charset="-122"/>
                <a:cs typeface="Poppins" pitchFamily="34" charset="-120"/>
              </a:rPr>
              <a:t>• Then — actually build it.</a:t>
            </a:r>
            <a:endParaRPr lang="en-US" sz="1300" dirty="0"/>
          </a:p>
        </p:txBody>
      </p:sp>
      <p:sp>
        <p:nvSpPr>
          <p:cNvPr id="8" name="Shape 6"/>
          <p:cNvSpPr/>
          <p:nvPr/>
        </p:nvSpPr>
        <p:spPr>
          <a:xfrm>
            <a:off x="6035040" y="1828800"/>
            <a:ext cx="5394960" cy="4023360"/>
          </a:xfrm>
          <a:prstGeom prst="roundRect">
            <a:avLst>
              <a:gd name="adj" fmla="val 1818"/>
            </a:avLst>
          </a:prstGeom>
          <a:solidFill>
            <a:srgbClr val="2B3747"/>
          </a:solidFill>
          <a:ln/>
        </p:spPr>
        <p:txBody>
          <a:bodyPr/>
          <a:lstStyle/>
          <a:p>
            <a:endParaRPr lang="en-US"/>
          </a:p>
        </p:txBody>
      </p:sp>
      <p:sp>
        <p:nvSpPr>
          <p:cNvPr id="9" name="Text 7"/>
          <p:cNvSpPr/>
          <p:nvPr/>
        </p:nvSpPr>
        <p:spPr>
          <a:xfrm>
            <a:off x="6355080" y="2103120"/>
            <a:ext cx="4572000" cy="320040"/>
          </a:xfrm>
          <a:prstGeom prst="rect">
            <a:avLst/>
          </a:prstGeom>
          <a:noFill/>
          <a:ln/>
        </p:spPr>
        <p:txBody>
          <a:bodyPr wrap="square" rtlCol="0" anchor="ctr"/>
          <a:lstStyle/>
          <a:p>
            <a:pPr marL="0" indent="0">
              <a:buNone/>
            </a:pPr>
            <a:r>
              <a:rPr lang="en-US" sz="1200" b="1" kern="0" spc="100" dirty="0">
                <a:solidFill>
                  <a:srgbClr val="6FA73F"/>
                </a:solidFill>
                <a:latin typeface="Poppins" pitchFamily="34" charset="0"/>
                <a:ea typeface="Poppins" pitchFamily="34" charset="-122"/>
                <a:cs typeface="Poppins" pitchFamily="34" charset="-120"/>
              </a:rPr>
              <a:t>TEST</a:t>
            </a:r>
            <a:endParaRPr lang="en-US" sz="1200" dirty="0"/>
          </a:p>
        </p:txBody>
      </p:sp>
      <p:sp>
        <p:nvSpPr>
          <p:cNvPr id="10" name="Text 8"/>
          <p:cNvSpPr/>
          <p:nvPr/>
        </p:nvSpPr>
        <p:spPr>
          <a:xfrm>
            <a:off x="6355080" y="2514600"/>
            <a:ext cx="4754880" cy="914400"/>
          </a:xfrm>
          <a:prstGeom prst="rect">
            <a:avLst/>
          </a:prstGeom>
          <a:noFill/>
          <a:ln/>
        </p:spPr>
        <p:txBody>
          <a:bodyPr wrap="square" rtlCol="0" anchor="ctr"/>
          <a:lstStyle/>
          <a:p>
            <a:pPr marL="0" indent="0">
              <a:lnSpc>
                <a:spcPts val="1800"/>
              </a:lnSpc>
              <a:buNone/>
            </a:pPr>
            <a:r>
              <a:rPr lang="en-US" sz="1300" dirty="0">
                <a:solidFill>
                  <a:srgbClr val="C6CCD4"/>
                </a:solidFill>
                <a:latin typeface="Poppins" pitchFamily="34" charset="0"/>
                <a:ea typeface="Poppins" pitchFamily="34" charset="-122"/>
                <a:cs typeface="Poppins" pitchFamily="34" charset="-120"/>
              </a:rPr>
              <a:t>Once it's built, you have to test it — and testing often sends you straight back to Build.</a:t>
            </a:r>
            <a:endParaRPr lang="en-US" sz="1300" dirty="0"/>
          </a:p>
        </p:txBody>
      </p:sp>
      <p:sp>
        <p:nvSpPr>
          <p:cNvPr id="11" name="Text 9"/>
          <p:cNvSpPr/>
          <p:nvPr/>
        </p:nvSpPr>
        <p:spPr>
          <a:xfrm>
            <a:off x="6355080" y="3520440"/>
            <a:ext cx="4754880" cy="822960"/>
          </a:xfrm>
          <a:prstGeom prst="rect">
            <a:avLst/>
          </a:prstGeom>
          <a:noFill/>
          <a:ln/>
        </p:spPr>
        <p:txBody>
          <a:bodyPr wrap="square" rtlCol="0" anchor="ctr"/>
          <a:lstStyle/>
          <a:p>
            <a:pPr marL="0" indent="0">
              <a:lnSpc>
                <a:spcPts val="1800"/>
              </a:lnSpc>
              <a:buNone/>
            </a:pPr>
            <a:r>
              <a:rPr lang="en-US" sz="1350" b="1" i="1" dirty="0">
                <a:solidFill>
                  <a:srgbClr val="FFFFFF"/>
                </a:solidFill>
                <a:latin typeface="Poppins" pitchFamily="34" charset="0"/>
                <a:ea typeface="Poppins" pitchFamily="34" charset="-122"/>
                <a:cs typeface="Poppins" pitchFamily="34" charset="-120"/>
              </a:rPr>
              <a:t>“What if you made an assumption you didn't catch, but your team did?”</a:t>
            </a:r>
            <a:endParaRPr lang="en-US" sz="1350" dirty="0"/>
          </a:p>
        </p:txBody>
      </p:sp>
      <p:sp>
        <p:nvSpPr>
          <p:cNvPr id="12" name="Text 10"/>
          <p:cNvSpPr/>
          <p:nvPr/>
        </p:nvSpPr>
        <p:spPr>
          <a:xfrm>
            <a:off x="6355080" y="4434840"/>
            <a:ext cx="4754880" cy="914400"/>
          </a:xfrm>
          <a:prstGeom prst="rect">
            <a:avLst/>
          </a:prstGeom>
          <a:noFill/>
          <a:ln/>
        </p:spPr>
        <p:txBody>
          <a:bodyPr wrap="square" rtlCol="0" anchor="ctr"/>
          <a:lstStyle/>
          <a:p>
            <a:pPr marL="0" indent="0">
              <a:lnSpc>
                <a:spcPts val="1800"/>
              </a:lnSpc>
              <a:buNone/>
            </a:pPr>
            <a:r>
              <a:rPr lang="en-US" sz="1350" b="1" i="1" dirty="0">
                <a:solidFill>
                  <a:srgbClr val="FFFFFF"/>
                </a:solidFill>
                <a:latin typeface="Poppins" pitchFamily="34" charset="0"/>
                <a:ea typeface="Poppins" pitchFamily="34" charset="-122"/>
                <a:cs typeface="Poppins" pitchFamily="34" charset="-120"/>
              </a:rPr>
              <a:t>“What if your AI agent told you it could do something it actually couldn't?”</a:t>
            </a:r>
            <a:endParaRPr lang="en-US" sz="1350" dirty="0"/>
          </a:p>
        </p:txBody>
      </p:sp>
      <p:sp>
        <p:nvSpPr>
          <p:cNvPr id="13" name="Text 11"/>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PART 02 · OUR SYSTEM</a:t>
            </a:r>
            <a:endParaRPr lang="en-US" sz="900" dirty="0"/>
          </a:p>
        </p:txBody>
      </p:sp>
      <p:sp>
        <p:nvSpPr>
          <p:cNvPr id="14" name="Text 12"/>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B3747"/>
        </a:solidFill>
        <a:effectLst/>
      </p:bgPr>
    </p:bg>
    <p:spTree>
      <p:nvGrpSpPr>
        <p:cNvPr id="1" name=""/>
        <p:cNvGrpSpPr/>
        <p:nvPr/>
      </p:nvGrpSpPr>
      <p:grpSpPr>
        <a:xfrm>
          <a:off x="0" y="0"/>
          <a:ext cx="0" cy="0"/>
          <a:chOff x="0" y="0"/>
          <a:chExt cx="0" cy="0"/>
        </a:xfrm>
      </p:grpSpPr>
      <p:sp>
        <p:nvSpPr>
          <p:cNvPr id="2" name="Shape 0"/>
          <p:cNvSpPr/>
          <p:nvPr/>
        </p:nvSpPr>
        <p:spPr>
          <a:xfrm>
            <a:off x="10725912" y="-1280160"/>
            <a:ext cx="3108960" cy="3108960"/>
          </a:xfrm>
          <a:prstGeom prst="ellipse">
            <a:avLst/>
          </a:prstGeom>
          <a:solidFill>
            <a:srgbClr val="FF7800"/>
          </a:solidFill>
          <a:ln/>
        </p:spPr>
        <p:txBody>
          <a:bodyPr/>
          <a:lstStyle/>
          <a:p>
            <a:endParaRPr lang="en-US"/>
          </a:p>
        </p:txBody>
      </p:sp>
      <p:sp>
        <p:nvSpPr>
          <p:cNvPr id="3" name="Shape 1"/>
          <p:cNvSpPr/>
          <p:nvPr/>
        </p:nvSpPr>
        <p:spPr>
          <a:xfrm>
            <a:off x="-1463040" y="5394960"/>
            <a:ext cx="2560320" cy="2560320"/>
          </a:xfrm>
          <a:prstGeom prst="ellipse">
            <a:avLst/>
          </a:prstGeom>
          <a:solidFill>
            <a:srgbClr val="6FA73F"/>
          </a:solidFill>
          <a:ln/>
        </p:spPr>
        <p:txBody>
          <a:bodyPr/>
          <a:lstStyle/>
          <a:p>
            <a:endParaRPr lang="en-US"/>
          </a:p>
        </p:txBody>
      </p:sp>
      <p:sp>
        <p:nvSpPr>
          <p:cNvPr id="4" name="Text 2"/>
          <p:cNvSpPr/>
          <p:nvPr/>
        </p:nvSpPr>
        <p:spPr>
          <a:xfrm>
            <a:off x="548640" y="548640"/>
            <a:ext cx="54864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PART 03 OF 03</a:t>
            </a:r>
            <a:endParaRPr lang="en-US" sz="1100" dirty="0"/>
          </a:p>
        </p:txBody>
      </p:sp>
      <p:sp>
        <p:nvSpPr>
          <p:cNvPr id="5" name="Text 3"/>
          <p:cNvSpPr/>
          <p:nvPr/>
        </p:nvSpPr>
        <p:spPr>
          <a:xfrm>
            <a:off x="548640" y="2468880"/>
            <a:ext cx="10241280" cy="1645920"/>
          </a:xfrm>
          <a:prstGeom prst="rect">
            <a:avLst/>
          </a:prstGeom>
          <a:noFill/>
          <a:ln/>
        </p:spPr>
        <p:txBody>
          <a:bodyPr wrap="square" rtlCol="0" anchor="ctr"/>
          <a:lstStyle/>
          <a:p>
            <a:pPr marL="0" indent="0">
              <a:lnSpc>
                <a:spcPts val="3800"/>
              </a:lnSpc>
              <a:buNone/>
            </a:pPr>
            <a:r>
              <a:rPr lang="en-US" sz="3200" b="1" dirty="0">
                <a:solidFill>
                  <a:srgbClr val="FFFFFF"/>
                </a:solidFill>
                <a:latin typeface="Poppins" pitchFamily="34" charset="0"/>
                <a:ea typeface="Poppins" pitchFamily="34" charset="-122"/>
                <a:cs typeface="Poppins" pitchFamily="34" charset="-120"/>
              </a:rPr>
              <a:t>RBT in action: </a:t>
            </a:r>
            <a:r>
              <a:rPr lang="en-US" sz="3200" b="1" dirty="0">
                <a:solidFill>
                  <a:srgbClr val="FF7800"/>
                </a:solidFill>
                <a:latin typeface="Poppins" pitchFamily="34" charset="0"/>
                <a:ea typeface="Poppins" pitchFamily="34" charset="-122"/>
                <a:cs typeface="Poppins" pitchFamily="34" charset="-120"/>
              </a:rPr>
              <a:t>reviewing BAS working papers</a:t>
            </a:r>
            <a:endParaRPr lang="en-US" sz="3200" dirty="0"/>
          </a:p>
        </p:txBody>
      </p:sp>
      <p:sp>
        <p:nvSpPr>
          <p:cNvPr id="6" name="Text 4"/>
          <p:cNvSpPr/>
          <p:nvPr/>
        </p:nvSpPr>
        <p:spPr>
          <a:xfrm>
            <a:off x="548640" y="4114800"/>
            <a:ext cx="8229600" cy="548640"/>
          </a:xfrm>
          <a:prstGeom prst="rect">
            <a:avLst/>
          </a:prstGeom>
          <a:noFill/>
          <a:ln/>
        </p:spPr>
        <p:txBody>
          <a:bodyPr wrap="square" rtlCol="0" anchor="ctr"/>
          <a:lstStyle/>
          <a:p>
            <a:pPr marL="0" indent="0">
              <a:buNone/>
            </a:pPr>
            <a:r>
              <a:rPr lang="en-US" sz="1500" dirty="0">
                <a:solidFill>
                  <a:srgbClr val="C6CCD4"/>
                </a:solidFill>
                <a:latin typeface="Poppins" pitchFamily="34" charset="0"/>
                <a:ea typeface="Poppins" pitchFamily="34" charset="-122"/>
                <a:cs typeface="Poppins" pitchFamily="34" charset="-120"/>
              </a:rPr>
              <a:t>One real workflow, worked all the way through — including where it went wrong.</a:t>
            </a:r>
            <a:endParaRPr lang="en-US" sz="1500" dirty="0"/>
          </a:p>
        </p:txBody>
      </p:sp>
      <p:sp>
        <p:nvSpPr>
          <p:cNvPr id="8" name="Text 6"/>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9AA5B1"/>
                </a:solidFill>
                <a:latin typeface="Poppins" pitchFamily="34" charset="0"/>
                <a:ea typeface="Poppins" pitchFamily="34" charset="-122"/>
                <a:cs typeface="Poppins"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RESEARCH PHASE</a:t>
            </a:r>
            <a:endParaRPr lang="en-US" sz="1100" dirty="0"/>
          </a:p>
        </p:txBody>
      </p:sp>
      <p:sp>
        <p:nvSpPr>
          <p:cNvPr id="3" name="Text 1"/>
          <p:cNvSpPr/>
          <p:nvPr/>
        </p:nvSpPr>
        <p:spPr>
          <a:xfrm>
            <a:off x="548640" y="777240"/>
            <a:ext cx="10058400" cy="685800"/>
          </a:xfrm>
          <a:prstGeom prst="rect">
            <a:avLst/>
          </a:prstGeom>
          <a:noFill/>
          <a:ln/>
        </p:spPr>
        <p:txBody>
          <a:bodyPr wrap="square" rtlCol="0" anchor="ctr"/>
          <a:lstStyle/>
          <a:p>
            <a:pPr marL="0" indent="0">
              <a:buNone/>
            </a:pPr>
            <a:r>
              <a:rPr lang="en-US" sz="2600" b="1" dirty="0">
                <a:solidFill>
                  <a:srgbClr val="2B3747"/>
                </a:solidFill>
                <a:latin typeface="Poppins" pitchFamily="34" charset="0"/>
                <a:ea typeface="Poppins" pitchFamily="34" charset="-122"/>
                <a:cs typeface="Poppins" pitchFamily="34" charset="-120"/>
              </a:rPr>
              <a:t>What are we actually trying to fix?</a:t>
            </a:r>
            <a:endParaRPr lang="en-US" sz="2600" dirty="0"/>
          </a:p>
        </p:txBody>
      </p:sp>
      <p:sp>
        <p:nvSpPr>
          <p:cNvPr id="4" name="Text 2"/>
          <p:cNvSpPr/>
          <p:nvPr/>
        </p:nvSpPr>
        <p:spPr>
          <a:xfrm>
            <a:off x="548640" y="1600200"/>
            <a:ext cx="10698480" cy="731520"/>
          </a:xfrm>
          <a:prstGeom prst="rect">
            <a:avLst/>
          </a:prstGeom>
          <a:noFill/>
          <a:ln/>
        </p:spPr>
        <p:txBody>
          <a:bodyPr wrap="square" rtlCol="0" anchor="ctr"/>
          <a:lstStyle/>
          <a:p>
            <a:pPr marL="0" indent="0">
              <a:lnSpc>
                <a:spcPts val="1900"/>
              </a:lnSpc>
              <a:buNone/>
            </a:pPr>
            <a:r>
              <a:rPr lang="en-US" sz="1400" dirty="0">
                <a:solidFill>
                  <a:srgbClr val="6B7684"/>
                </a:solidFill>
                <a:latin typeface="Poppins" pitchFamily="34" charset="0"/>
                <a:ea typeface="Poppins" pitchFamily="34" charset="-122"/>
                <a:cs typeface="Poppins" pitchFamily="34" charset="-120"/>
              </a:rPr>
              <a:t>Every BAS needs a stack of reports pulled together, checked for anything that stands out, and reconciled — before an accountant even starts preparation.</a:t>
            </a:r>
            <a:endParaRPr lang="en-US" sz="1400" dirty="0"/>
          </a:p>
        </p:txBody>
      </p:sp>
      <p:sp>
        <p:nvSpPr>
          <p:cNvPr id="5" name="Shape 3"/>
          <p:cNvSpPr/>
          <p:nvPr/>
        </p:nvSpPr>
        <p:spPr>
          <a:xfrm>
            <a:off x="548640" y="2606040"/>
            <a:ext cx="5257800" cy="3200400"/>
          </a:xfrm>
          <a:prstGeom prst="roundRect">
            <a:avLst>
              <a:gd name="adj" fmla="val 2286"/>
            </a:avLst>
          </a:prstGeom>
          <a:solidFill>
            <a:srgbClr val="FFFFFF"/>
          </a:solidFill>
          <a:ln w="12700">
            <a:solidFill>
              <a:srgbClr val="D9D2C3"/>
            </a:solidFill>
            <a:prstDash val="solid"/>
          </a:ln>
        </p:spPr>
        <p:txBody>
          <a:bodyPr/>
          <a:lstStyle/>
          <a:p>
            <a:endParaRPr lang="en-US"/>
          </a:p>
        </p:txBody>
      </p:sp>
      <p:sp>
        <p:nvSpPr>
          <p:cNvPr id="6" name="Text 4"/>
          <p:cNvSpPr/>
          <p:nvPr/>
        </p:nvSpPr>
        <p:spPr>
          <a:xfrm>
            <a:off x="868680" y="2834640"/>
            <a:ext cx="4663440" cy="320040"/>
          </a:xfrm>
          <a:prstGeom prst="rect">
            <a:avLst/>
          </a:prstGeom>
          <a:noFill/>
          <a:ln/>
        </p:spPr>
        <p:txBody>
          <a:bodyPr wrap="square" rtlCol="0" anchor="ctr"/>
          <a:lstStyle/>
          <a:p>
            <a:pPr marL="0" indent="0">
              <a:buNone/>
            </a:pPr>
            <a:r>
              <a:rPr lang="en-US" sz="1000" b="1" kern="0" spc="100" dirty="0">
                <a:solidFill>
                  <a:srgbClr val="FF7800"/>
                </a:solidFill>
                <a:latin typeface="Poppins" pitchFamily="34" charset="0"/>
                <a:ea typeface="Poppins" pitchFamily="34" charset="-122"/>
                <a:cs typeface="Poppins" pitchFamily="34" charset="-120"/>
              </a:rPr>
              <a:t>THE STARTING QUESTION</a:t>
            </a:r>
            <a:endParaRPr lang="en-US" sz="1000" dirty="0"/>
          </a:p>
        </p:txBody>
      </p:sp>
      <p:sp>
        <p:nvSpPr>
          <p:cNvPr id="7" name="Text 5"/>
          <p:cNvSpPr/>
          <p:nvPr/>
        </p:nvSpPr>
        <p:spPr>
          <a:xfrm>
            <a:off x="868680" y="3200400"/>
            <a:ext cx="4663440" cy="1005840"/>
          </a:xfrm>
          <a:prstGeom prst="rect">
            <a:avLst/>
          </a:prstGeom>
          <a:noFill/>
          <a:ln/>
        </p:spPr>
        <p:txBody>
          <a:bodyPr wrap="square" rtlCol="0" anchor="ctr"/>
          <a:lstStyle/>
          <a:p>
            <a:pPr marL="0" indent="0">
              <a:lnSpc>
                <a:spcPts val="2100"/>
              </a:lnSpc>
              <a:buNone/>
            </a:pPr>
            <a:r>
              <a:rPr lang="en-US" sz="1600" b="1" dirty="0">
                <a:solidFill>
                  <a:srgbClr val="2B3747"/>
                </a:solidFill>
                <a:latin typeface="Poppins" pitchFamily="34" charset="0"/>
                <a:ea typeface="Poppins" pitchFamily="34" charset="-122"/>
                <a:cs typeface="Poppins" pitchFamily="34" charset="-120"/>
              </a:rPr>
              <a:t>Could we use an agent to do a first-pass review of all this?</a:t>
            </a:r>
            <a:endParaRPr lang="en-US" sz="1600" dirty="0"/>
          </a:p>
        </p:txBody>
      </p:sp>
      <p:sp>
        <p:nvSpPr>
          <p:cNvPr id="8" name="Text 6"/>
          <p:cNvSpPr/>
          <p:nvPr/>
        </p:nvSpPr>
        <p:spPr>
          <a:xfrm>
            <a:off x="868680" y="4343400"/>
            <a:ext cx="4663440" cy="1280160"/>
          </a:xfrm>
          <a:prstGeom prst="rect">
            <a:avLst/>
          </a:prstGeom>
          <a:noFill/>
          <a:ln/>
        </p:spPr>
        <p:txBody>
          <a:bodyPr wrap="square" rtlCol="0" anchor="ctr"/>
          <a:lstStyle/>
          <a:p>
            <a:pPr marL="0" indent="0">
              <a:lnSpc>
                <a:spcPts val="1700"/>
              </a:lnSpc>
              <a:buNone/>
            </a:pPr>
            <a:r>
              <a:rPr lang="en-US" sz="1250" dirty="0">
                <a:solidFill>
                  <a:srgbClr val="6B7684"/>
                </a:solidFill>
                <a:latin typeface="Poppins" pitchFamily="34" charset="0"/>
                <a:ea typeface="Poppins" pitchFamily="34" charset="-122"/>
                <a:cs typeface="Poppins" pitchFamily="34" charset="-120"/>
              </a:rPr>
              <a:t>That question was the whole of our Research phase — and it started before we'd written a single prompt.</a:t>
            </a:r>
            <a:endParaRPr lang="en-US" sz="1250" dirty="0"/>
          </a:p>
        </p:txBody>
      </p:sp>
      <p:sp>
        <p:nvSpPr>
          <p:cNvPr id="9" name="Shape 7"/>
          <p:cNvSpPr/>
          <p:nvPr/>
        </p:nvSpPr>
        <p:spPr>
          <a:xfrm>
            <a:off x="6035040" y="2606040"/>
            <a:ext cx="5394960" cy="3200400"/>
          </a:xfrm>
          <a:prstGeom prst="roundRect">
            <a:avLst>
              <a:gd name="adj" fmla="val 2286"/>
            </a:avLst>
          </a:prstGeom>
          <a:solidFill>
            <a:srgbClr val="2B3747"/>
          </a:solidFill>
          <a:ln/>
        </p:spPr>
        <p:txBody>
          <a:bodyPr/>
          <a:lstStyle/>
          <a:p>
            <a:endParaRPr lang="en-US"/>
          </a:p>
        </p:txBody>
      </p:sp>
      <p:sp>
        <p:nvSpPr>
          <p:cNvPr id="10" name="Text 8"/>
          <p:cNvSpPr/>
          <p:nvPr/>
        </p:nvSpPr>
        <p:spPr>
          <a:xfrm>
            <a:off x="6355080" y="2834640"/>
            <a:ext cx="2743200" cy="1005840"/>
          </a:xfrm>
          <a:prstGeom prst="rect">
            <a:avLst/>
          </a:prstGeom>
          <a:noFill/>
          <a:ln/>
        </p:spPr>
        <p:txBody>
          <a:bodyPr wrap="square" rtlCol="0" anchor="ctr"/>
          <a:lstStyle/>
          <a:p>
            <a:pPr marL="0" indent="0">
              <a:buNone/>
            </a:pPr>
            <a:r>
              <a:rPr lang="en-US" sz="5600" b="1" dirty="0">
                <a:solidFill>
                  <a:srgbClr val="FF7800"/>
                </a:solidFill>
                <a:latin typeface="Poppins" pitchFamily="34" charset="0"/>
                <a:ea typeface="Poppins" pitchFamily="34" charset="-122"/>
                <a:cs typeface="Poppins" pitchFamily="34" charset="-120"/>
              </a:rPr>
              <a:t>11</a:t>
            </a:r>
            <a:endParaRPr lang="en-US" sz="5600" dirty="0"/>
          </a:p>
        </p:txBody>
      </p:sp>
      <p:sp>
        <p:nvSpPr>
          <p:cNvPr id="11" name="Text 9"/>
          <p:cNvSpPr/>
          <p:nvPr/>
        </p:nvSpPr>
        <p:spPr>
          <a:xfrm>
            <a:off x="6355080" y="3931920"/>
            <a:ext cx="4754880" cy="914400"/>
          </a:xfrm>
          <a:prstGeom prst="rect">
            <a:avLst/>
          </a:prstGeom>
          <a:noFill/>
          <a:ln/>
        </p:spPr>
        <p:txBody>
          <a:bodyPr wrap="square" rtlCol="0" anchor="ctr"/>
          <a:lstStyle/>
          <a:p>
            <a:pPr marL="0" indent="0">
              <a:lnSpc>
                <a:spcPts val="1900"/>
              </a:lnSpc>
              <a:buNone/>
            </a:pPr>
            <a:r>
              <a:rPr lang="en-US" sz="1400" b="1" dirty="0">
                <a:solidFill>
                  <a:srgbClr val="FFFFFF"/>
                </a:solidFill>
                <a:latin typeface="Poppins" pitchFamily="34" charset="0"/>
                <a:ea typeface="Poppins" pitchFamily="34" charset="-122"/>
                <a:cs typeface="Poppins" pitchFamily="34" charset="-120"/>
              </a:rPr>
              <a:t>separate reports the team had to manually gather from Xero for every single BAS.</a:t>
            </a:r>
            <a:endParaRPr lang="en-US" sz="1400" dirty="0"/>
          </a:p>
        </p:txBody>
      </p:sp>
      <p:sp>
        <p:nvSpPr>
          <p:cNvPr id="12" name="Text 10"/>
          <p:cNvSpPr/>
          <p:nvPr/>
        </p:nvSpPr>
        <p:spPr>
          <a:xfrm>
            <a:off x="6355080" y="4892040"/>
            <a:ext cx="4754880" cy="731520"/>
          </a:xfrm>
          <a:prstGeom prst="rect">
            <a:avLst/>
          </a:prstGeom>
          <a:noFill/>
          <a:ln/>
        </p:spPr>
        <p:txBody>
          <a:bodyPr wrap="square" rtlCol="0" anchor="ctr"/>
          <a:lstStyle/>
          <a:p>
            <a:pPr marL="0" indent="0">
              <a:lnSpc>
                <a:spcPts val="1600"/>
              </a:lnSpc>
              <a:buNone/>
            </a:pPr>
            <a:r>
              <a:rPr lang="en-US" sz="1200" dirty="0">
                <a:solidFill>
                  <a:srgbClr val="C6CCD4"/>
                </a:solidFill>
                <a:latin typeface="Poppins" pitchFamily="34" charset="0"/>
                <a:ea typeface="Poppins" pitchFamily="34" charset="-122"/>
                <a:cs typeface="Poppins" pitchFamily="34" charset="-120"/>
              </a:rPr>
              <a:t>Manual gathering doesn't just cost time — it costs consistency, too.</a:t>
            </a:r>
            <a:endParaRPr lang="en-US" sz="1200" dirty="0"/>
          </a:p>
        </p:txBody>
      </p:sp>
      <p:sp>
        <p:nvSpPr>
          <p:cNvPr id="13" name="Text 11"/>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PART 03 · EXAMPLE</a:t>
            </a:r>
            <a:endParaRPr lang="en-US" sz="900" dirty="0"/>
          </a:p>
        </p:txBody>
      </p:sp>
      <p:sp>
        <p:nvSpPr>
          <p:cNvPr id="14" name="Text 12"/>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A USEFUL DISTINCTION</a:t>
            </a:r>
            <a:endParaRPr lang="en-US" sz="1100" dirty="0"/>
          </a:p>
        </p:txBody>
      </p:sp>
      <p:sp>
        <p:nvSpPr>
          <p:cNvPr id="3" name="Text 1"/>
          <p:cNvSpPr/>
          <p:nvPr/>
        </p:nvSpPr>
        <p:spPr>
          <a:xfrm>
            <a:off x="548640" y="777240"/>
            <a:ext cx="10515600" cy="685800"/>
          </a:xfrm>
          <a:prstGeom prst="rect">
            <a:avLst/>
          </a:prstGeom>
          <a:noFill/>
          <a:ln/>
        </p:spPr>
        <p:txBody>
          <a:bodyPr wrap="square" rtlCol="0" anchor="ctr"/>
          <a:lstStyle/>
          <a:p>
            <a:pPr marL="0" indent="0">
              <a:buNone/>
            </a:pPr>
            <a:r>
              <a:rPr lang="en-US" sz="2500" b="1" dirty="0">
                <a:solidFill>
                  <a:srgbClr val="2B3747"/>
                </a:solidFill>
                <a:latin typeface="Poppins" pitchFamily="34" charset="0"/>
                <a:ea typeface="Poppins" pitchFamily="34" charset="-122"/>
                <a:cs typeface="Poppins" pitchFamily="34" charset="-120"/>
              </a:rPr>
              <a:t>Minimum Viable Solution vs. Moonshot.</a:t>
            </a:r>
            <a:endParaRPr lang="en-US" sz="2500" dirty="0"/>
          </a:p>
        </p:txBody>
      </p:sp>
      <p:sp>
        <p:nvSpPr>
          <p:cNvPr id="4" name="Text 2"/>
          <p:cNvSpPr/>
          <p:nvPr/>
        </p:nvSpPr>
        <p:spPr>
          <a:xfrm>
            <a:off x="548640" y="1600200"/>
            <a:ext cx="10515600" cy="548640"/>
          </a:xfrm>
          <a:prstGeom prst="rect">
            <a:avLst/>
          </a:prstGeom>
          <a:noFill/>
          <a:ln/>
        </p:spPr>
        <p:txBody>
          <a:bodyPr wrap="square" rtlCol="0" anchor="ctr"/>
          <a:lstStyle/>
          <a:p>
            <a:pPr marL="0" indent="0">
              <a:lnSpc>
                <a:spcPts val="1800"/>
              </a:lnSpc>
              <a:buNone/>
            </a:pPr>
            <a:r>
              <a:rPr lang="en-US" sz="1350" dirty="0">
                <a:solidFill>
                  <a:srgbClr val="6B7684"/>
                </a:solidFill>
                <a:latin typeface="Poppins" pitchFamily="34" charset="0"/>
                <a:ea typeface="Poppins" pitchFamily="34" charset="-122"/>
                <a:cs typeface="Poppins" pitchFamily="34" charset="-120"/>
              </a:rPr>
              <a:t>During Research we think in both registers at once — it keeps ambition and momentum in the same room.</a:t>
            </a:r>
            <a:endParaRPr lang="en-US" sz="1350" dirty="0"/>
          </a:p>
        </p:txBody>
      </p:sp>
      <p:sp>
        <p:nvSpPr>
          <p:cNvPr id="5" name="Shape 3"/>
          <p:cNvSpPr/>
          <p:nvPr/>
        </p:nvSpPr>
        <p:spPr>
          <a:xfrm>
            <a:off x="548640" y="2377440"/>
            <a:ext cx="5257800" cy="3429000"/>
          </a:xfrm>
          <a:prstGeom prst="roundRect">
            <a:avLst>
              <a:gd name="adj" fmla="val 2133"/>
            </a:avLst>
          </a:prstGeom>
          <a:solidFill>
            <a:srgbClr val="FFFFFF"/>
          </a:solidFill>
          <a:ln w="12700">
            <a:solidFill>
              <a:srgbClr val="D9D2C3"/>
            </a:solidFill>
            <a:prstDash val="solid"/>
          </a:ln>
        </p:spPr>
        <p:txBody>
          <a:bodyPr/>
          <a:lstStyle/>
          <a:p>
            <a:endParaRPr lang="en-US"/>
          </a:p>
        </p:txBody>
      </p:sp>
      <p:sp>
        <p:nvSpPr>
          <p:cNvPr id="6" name="Text 4"/>
          <p:cNvSpPr/>
          <p:nvPr/>
        </p:nvSpPr>
        <p:spPr>
          <a:xfrm>
            <a:off x="868680" y="2606040"/>
            <a:ext cx="4572000" cy="365760"/>
          </a:xfrm>
          <a:prstGeom prst="rect">
            <a:avLst/>
          </a:prstGeom>
          <a:noFill/>
          <a:ln/>
        </p:spPr>
        <p:txBody>
          <a:bodyPr wrap="square" rtlCol="0" anchor="ctr"/>
          <a:lstStyle/>
          <a:p>
            <a:pPr marL="0" indent="0">
              <a:buNone/>
            </a:pPr>
            <a:r>
              <a:rPr lang="en-US" sz="1300" b="1" kern="0" spc="100" dirty="0">
                <a:solidFill>
                  <a:srgbClr val="FF7800"/>
                </a:solidFill>
                <a:latin typeface="Poppins" pitchFamily="34" charset="0"/>
                <a:ea typeface="Poppins" pitchFamily="34" charset="-122"/>
                <a:cs typeface="Poppins" pitchFamily="34" charset="-120"/>
              </a:rPr>
              <a:t>MVS</a:t>
            </a:r>
            <a:endParaRPr lang="en-US" sz="1300" dirty="0"/>
          </a:p>
        </p:txBody>
      </p:sp>
      <p:sp>
        <p:nvSpPr>
          <p:cNvPr id="7" name="Text 5"/>
          <p:cNvSpPr/>
          <p:nvPr/>
        </p:nvSpPr>
        <p:spPr>
          <a:xfrm>
            <a:off x="868680" y="2971800"/>
            <a:ext cx="4663440" cy="457200"/>
          </a:xfrm>
          <a:prstGeom prst="rect">
            <a:avLst/>
          </a:prstGeom>
          <a:noFill/>
          <a:ln/>
        </p:spPr>
        <p:txBody>
          <a:bodyPr wrap="square" rtlCol="0" anchor="ctr"/>
          <a:lstStyle/>
          <a:p>
            <a:pPr marL="0" indent="0">
              <a:buNone/>
            </a:pPr>
            <a:r>
              <a:rPr lang="en-US" sz="1600" b="1" dirty="0">
                <a:solidFill>
                  <a:srgbClr val="2B3747"/>
                </a:solidFill>
                <a:latin typeface="Poppins" pitchFamily="34" charset="0"/>
                <a:ea typeface="Poppins" pitchFamily="34" charset="-122"/>
                <a:cs typeface="Poppins" pitchFamily="34" charset="-120"/>
              </a:rPr>
              <a:t>Minimum Viable Solution</a:t>
            </a:r>
            <a:endParaRPr lang="en-US" sz="1600" dirty="0"/>
          </a:p>
        </p:txBody>
      </p:sp>
      <p:sp>
        <p:nvSpPr>
          <p:cNvPr id="8" name="Text 6"/>
          <p:cNvSpPr/>
          <p:nvPr/>
        </p:nvSpPr>
        <p:spPr>
          <a:xfrm>
            <a:off x="868680" y="3520440"/>
            <a:ext cx="4663440" cy="2103120"/>
          </a:xfrm>
          <a:prstGeom prst="rect">
            <a:avLst/>
          </a:prstGeom>
          <a:noFill/>
          <a:ln/>
        </p:spPr>
        <p:txBody>
          <a:bodyPr wrap="square" rtlCol="0" anchor="ctr"/>
          <a:lstStyle/>
          <a:p>
            <a:pPr marL="0" indent="0">
              <a:lnSpc>
                <a:spcPts val="1800"/>
              </a:lnSpc>
              <a:buNone/>
            </a:pPr>
            <a:r>
              <a:rPr lang="en-US" sz="1300" dirty="0">
                <a:solidFill>
                  <a:srgbClr val="6B7684"/>
                </a:solidFill>
                <a:latin typeface="Poppins" pitchFamily="34" charset="0"/>
                <a:ea typeface="Poppins" pitchFamily="34" charset="-122"/>
                <a:cs typeface="Poppins" pitchFamily="34" charset="-120"/>
              </a:rPr>
              <a:t>The simplest possible change: can I make one part of this work better than it currently does? Small, achievable, ships this week.</a:t>
            </a:r>
            <a:endParaRPr lang="en-US" sz="1300" dirty="0"/>
          </a:p>
        </p:txBody>
      </p:sp>
      <p:sp>
        <p:nvSpPr>
          <p:cNvPr id="9" name="Shape 7"/>
          <p:cNvSpPr/>
          <p:nvPr/>
        </p:nvSpPr>
        <p:spPr>
          <a:xfrm>
            <a:off x="6035040" y="2377440"/>
            <a:ext cx="5394960" cy="3429000"/>
          </a:xfrm>
          <a:prstGeom prst="roundRect">
            <a:avLst>
              <a:gd name="adj" fmla="val 2133"/>
            </a:avLst>
          </a:prstGeom>
          <a:solidFill>
            <a:srgbClr val="2B3747"/>
          </a:solidFill>
          <a:ln/>
        </p:spPr>
        <p:txBody>
          <a:bodyPr/>
          <a:lstStyle/>
          <a:p>
            <a:endParaRPr lang="en-US"/>
          </a:p>
        </p:txBody>
      </p:sp>
      <p:sp>
        <p:nvSpPr>
          <p:cNvPr id="10" name="Text 8"/>
          <p:cNvSpPr/>
          <p:nvPr/>
        </p:nvSpPr>
        <p:spPr>
          <a:xfrm>
            <a:off x="6355080" y="2606040"/>
            <a:ext cx="4572000" cy="365760"/>
          </a:xfrm>
          <a:prstGeom prst="rect">
            <a:avLst/>
          </a:prstGeom>
          <a:noFill/>
          <a:ln/>
        </p:spPr>
        <p:txBody>
          <a:bodyPr wrap="square" rtlCol="0" anchor="ctr"/>
          <a:lstStyle/>
          <a:p>
            <a:pPr marL="0" indent="0">
              <a:buNone/>
            </a:pPr>
            <a:r>
              <a:rPr lang="en-US" sz="1300" b="1" kern="0" spc="100" dirty="0">
                <a:solidFill>
                  <a:srgbClr val="6FA73F"/>
                </a:solidFill>
                <a:latin typeface="Poppins" pitchFamily="34" charset="0"/>
                <a:ea typeface="Poppins" pitchFamily="34" charset="-122"/>
                <a:cs typeface="Poppins" pitchFamily="34" charset="-120"/>
              </a:rPr>
              <a:t>MOONSHOT</a:t>
            </a:r>
            <a:endParaRPr lang="en-US" sz="1300" dirty="0"/>
          </a:p>
        </p:txBody>
      </p:sp>
      <p:sp>
        <p:nvSpPr>
          <p:cNvPr id="11" name="Text 9"/>
          <p:cNvSpPr/>
          <p:nvPr/>
        </p:nvSpPr>
        <p:spPr>
          <a:xfrm>
            <a:off x="6355080" y="2971800"/>
            <a:ext cx="4754880" cy="457200"/>
          </a:xfrm>
          <a:prstGeom prst="rect">
            <a:avLst/>
          </a:prstGeom>
          <a:noFill/>
          <a:ln/>
        </p:spPr>
        <p:txBody>
          <a:bodyPr wrap="square" rtlCol="0" anchor="ctr"/>
          <a:lstStyle/>
          <a:p>
            <a:pPr marL="0" indent="0">
              <a:buNone/>
            </a:pPr>
            <a:r>
              <a:rPr lang="en-US" sz="1600" b="1" dirty="0">
                <a:solidFill>
                  <a:srgbClr val="FFFFFF"/>
                </a:solidFill>
                <a:latin typeface="Poppins" pitchFamily="34" charset="0"/>
                <a:ea typeface="Poppins" pitchFamily="34" charset="-122"/>
                <a:cs typeface="Poppins" pitchFamily="34" charset="-120"/>
              </a:rPr>
              <a:t>The crazy, incredible version</a:t>
            </a:r>
            <a:endParaRPr lang="en-US" sz="1600" dirty="0"/>
          </a:p>
        </p:txBody>
      </p:sp>
      <p:sp>
        <p:nvSpPr>
          <p:cNvPr id="12" name="Text 10"/>
          <p:cNvSpPr/>
          <p:nvPr/>
        </p:nvSpPr>
        <p:spPr>
          <a:xfrm>
            <a:off x="6355080" y="3520440"/>
            <a:ext cx="4754880" cy="2103120"/>
          </a:xfrm>
          <a:prstGeom prst="rect">
            <a:avLst/>
          </a:prstGeom>
          <a:noFill/>
          <a:ln/>
        </p:spPr>
        <p:txBody>
          <a:bodyPr wrap="square" rtlCol="0" anchor="ctr"/>
          <a:lstStyle/>
          <a:p>
            <a:pPr marL="0" indent="0">
              <a:lnSpc>
                <a:spcPts val="1800"/>
              </a:lnSpc>
              <a:buNone/>
            </a:pPr>
            <a:r>
              <a:rPr lang="en-US" sz="1300" dirty="0">
                <a:solidFill>
                  <a:srgbClr val="C6CCD4"/>
                </a:solidFill>
                <a:latin typeface="Poppins" pitchFamily="34" charset="0"/>
                <a:ea typeface="Poppins" pitchFamily="34" charset="-122"/>
                <a:cs typeface="Poppins" pitchFamily="34" charset="-120"/>
              </a:rPr>
              <a:t>What would it look like if this worked perfectly? Unlikely to land soon — but don't exclude it, because the payoff justifies keeping it on the list.</a:t>
            </a:r>
            <a:endParaRPr lang="en-US" sz="1300" dirty="0"/>
          </a:p>
        </p:txBody>
      </p:sp>
      <p:sp>
        <p:nvSpPr>
          <p:cNvPr id="13" name="Text 11"/>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PART 03 · EXAMPLE</a:t>
            </a:r>
            <a:endParaRPr lang="en-US" sz="900" dirty="0"/>
          </a:p>
        </p:txBody>
      </p:sp>
      <p:sp>
        <p:nvSpPr>
          <p:cNvPr id="14" name="Text 12"/>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BUILD PHASE · STEP ONE</a:t>
            </a:r>
            <a:endParaRPr lang="en-US" sz="1100" dirty="0"/>
          </a:p>
        </p:txBody>
      </p:sp>
      <p:sp>
        <p:nvSpPr>
          <p:cNvPr id="3" name="Text 1"/>
          <p:cNvSpPr/>
          <p:nvPr/>
        </p:nvSpPr>
        <p:spPr>
          <a:xfrm>
            <a:off x="548640" y="777240"/>
            <a:ext cx="10515600" cy="685800"/>
          </a:xfrm>
          <a:prstGeom prst="rect">
            <a:avLst/>
          </a:prstGeom>
          <a:noFill/>
          <a:ln/>
        </p:spPr>
        <p:txBody>
          <a:bodyPr wrap="square" rtlCol="0" anchor="ctr"/>
          <a:lstStyle/>
          <a:p>
            <a:pPr marL="0" indent="0">
              <a:buNone/>
            </a:pPr>
            <a:r>
              <a:rPr lang="en-US" sz="2600" b="1" dirty="0">
                <a:solidFill>
                  <a:srgbClr val="2B3747"/>
                </a:solidFill>
                <a:latin typeface="Poppins" pitchFamily="34" charset="0"/>
                <a:ea typeface="Poppins" pitchFamily="34" charset="-122"/>
                <a:cs typeface="Poppins" pitchFamily="34" charset="-120"/>
              </a:rPr>
              <a:t>Turns out, we already owned the fix.</a:t>
            </a:r>
            <a:endParaRPr lang="en-US" sz="2600" dirty="0"/>
          </a:p>
        </p:txBody>
      </p:sp>
      <p:sp>
        <p:nvSpPr>
          <p:cNvPr id="4" name="Text 2"/>
          <p:cNvSpPr/>
          <p:nvPr/>
        </p:nvSpPr>
        <p:spPr>
          <a:xfrm>
            <a:off x="548640" y="1645920"/>
            <a:ext cx="10698480" cy="822960"/>
          </a:xfrm>
          <a:prstGeom prst="rect">
            <a:avLst/>
          </a:prstGeom>
          <a:noFill/>
          <a:ln/>
        </p:spPr>
        <p:txBody>
          <a:bodyPr wrap="square" rtlCol="0" anchor="ctr"/>
          <a:lstStyle/>
          <a:p>
            <a:pPr marL="0" indent="0">
              <a:lnSpc>
                <a:spcPts val="1900"/>
              </a:lnSpc>
              <a:buNone/>
            </a:pPr>
            <a:r>
              <a:rPr lang="en-US" sz="1400" dirty="0">
                <a:solidFill>
                  <a:srgbClr val="6B7684"/>
                </a:solidFill>
                <a:latin typeface="Poppins" pitchFamily="34" charset="0"/>
                <a:ea typeface="Poppins" pitchFamily="34" charset="-122"/>
                <a:cs typeface="Poppins" pitchFamily="34" charset="-120"/>
              </a:rPr>
              <a:t>Xero has practice-level reports. Set up correctly in Xero Partnerhub under Practice → Client Report Templates, they're reusable across every client organisation.</a:t>
            </a:r>
            <a:endParaRPr lang="en-US" sz="1400" dirty="0"/>
          </a:p>
        </p:txBody>
      </p:sp>
      <p:sp>
        <p:nvSpPr>
          <p:cNvPr id="5" name="Shape 3"/>
          <p:cNvSpPr/>
          <p:nvPr/>
        </p:nvSpPr>
        <p:spPr>
          <a:xfrm>
            <a:off x="548640" y="2697480"/>
            <a:ext cx="3291840" cy="3063240"/>
          </a:xfrm>
          <a:prstGeom prst="roundRect">
            <a:avLst>
              <a:gd name="adj" fmla="val 2388"/>
            </a:avLst>
          </a:prstGeom>
          <a:solidFill>
            <a:srgbClr val="FFFFFF"/>
          </a:solidFill>
          <a:ln w="12700">
            <a:solidFill>
              <a:srgbClr val="D9D2C3"/>
            </a:solidFill>
            <a:prstDash val="solid"/>
          </a:ln>
        </p:spPr>
        <p:txBody>
          <a:bodyPr/>
          <a:lstStyle/>
          <a:p>
            <a:endParaRPr lang="en-US"/>
          </a:p>
        </p:txBody>
      </p:sp>
      <p:sp>
        <p:nvSpPr>
          <p:cNvPr id="6" name="Text 4"/>
          <p:cNvSpPr/>
          <p:nvPr/>
        </p:nvSpPr>
        <p:spPr>
          <a:xfrm>
            <a:off x="822960" y="2926080"/>
            <a:ext cx="2743200" cy="320040"/>
          </a:xfrm>
          <a:prstGeom prst="rect">
            <a:avLst/>
          </a:prstGeom>
          <a:noFill/>
          <a:ln/>
        </p:spPr>
        <p:txBody>
          <a:bodyPr wrap="square" rtlCol="0" anchor="ctr"/>
          <a:lstStyle/>
          <a:p>
            <a:pPr marL="0" indent="0">
              <a:buNone/>
            </a:pPr>
            <a:r>
              <a:rPr lang="en-US" sz="1000" b="1" kern="0" spc="100" dirty="0">
                <a:solidFill>
                  <a:srgbClr val="6B7684"/>
                </a:solidFill>
                <a:latin typeface="Poppins" pitchFamily="34" charset="0"/>
                <a:ea typeface="Poppins" pitchFamily="34" charset="-122"/>
                <a:cs typeface="Poppins" pitchFamily="34" charset="-120"/>
              </a:rPr>
              <a:t>BEFORE</a:t>
            </a:r>
            <a:endParaRPr lang="en-US" sz="1000" dirty="0"/>
          </a:p>
        </p:txBody>
      </p:sp>
      <p:sp>
        <p:nvSpPr>
          <p:cNvPr id="7" name="Text 5"/>
          <p:cNvSpPr/>
          <p:nvPr/>
        </p:nvSpPr>
        <p:spPr>
          <a:xfrm>
            <a:off x="822960" y="3246120"/>
            <a:ext cx="2743200" cy="914400"/>
          </a:xfrm>
          <a:prstGeom prst="rect">
            <a:avLst/>
          </a:prstGeom>
          <a:noFill/>
          <a:ln/>
        </p:spPr>
        <p:txBody>
          <a:bodyPr wrap="square" rtlCol="0" anchor="ctr"/>
          <a:lstStyle/>
          <a:p>
            <a:pPr marL="0" indent="0">
              <a:buNone/>
            </a:pPr>
            <a:r>
              <a:rPr lang="en-US" sz="4400" b="1" dirty="0">
                <a:solidFill>
                  <a:srgbClr val="6B7684"/>
                </a:solidFill>
                <a:latin typeface="Poppins" pitchFamily="34" charset="0"/>
                <a:ea typeface="Poppins" pitchFamily="34" charset="-122"/>
                <a:cs typeface="Poppins" pitchFamily="34" charset="-120"/>
              </a:rPr>
              <a:t>11</a:t>
            </a:r>
            <a:endParaRPr lang="en-US" sz="4400" dirty="0"/>
          </a:p>
        </p:txBody>
      </p:sp>
      <p:sp>
        <p:nvSpPr>
          <p:cNvPr id="8" name="Text 6"/>
          <p:cNvSpPr/>
          <p:nvPr/>
        </p:nvSpPr>
        <p:spPr>
          <a:xfrm>
            <a:off x="822960" y="4206240"/>
            <a:ext cx="2743200" cy="1280160"/>
          </a:xfrm>
          <a:prstGeom prst="rect">
            <a:avLst/>
          </a:prstGeom>
          <a:noFill/>
          <a:ln/>
        </p:spPr>
        <p:txBody>
          <a:bodyPr wrap="square" rtlCol="0" anchor="ctr"/>
          <a:lstStyle/>
          <a:p>
            <a:pPr marL="0" indent="0">
              <a:lnSpc>
                <a:spcPts val="1600"/>
              </a:lnSpc>
              <a:buNone/>
            </a:pPr>
            <a:r>
              <a:rPr lang="en-US" sz="1250" dirty="0">
                <a:solidFill>
                  <a:srgbClr val="6B7684"/>
                </a:solidFill>
                <a:latin typeface="Poppins" pitchFamily="34" charset="0"/>
                <a:ea typeface="Poppins" pitchFamily="34" charset="-122"/>
                <a:cs typeface="Poppins" pitchFamily="34" charset="-120"/>
              </a:rPr>
              <a:t>reports, gathered manually, one click at a time</a:t>
            </a:r>
            <a:endParaRPr lang="en-US" sz="1250" dirty="0"/>
          </a:p>
        </p:txBody>
      </p:sp>
      <p:sp>
        <p:nvSpPr>
          <p:cNvPr id="9" name="Shape 7"/>
          <p:cNvSpPr/>
          <p:nvPr/>
        </p:nvSpPr>
        <p:spPr>
          <a:xfrm>
            <a:off x="4434840" y="2697480"/>
            <a:ext cx="3291840" cy="3063240"/>
          </a:xfrm>
          <a:prstGeom prst="roundRect">
            <a:avLst>
              <a:gd name="adj" fmla="val 2388"/>
            </a:avLst>
          </a:prstGeom>
          <a:solidFill>
            <a:srgbClr val="2B3747"/>
          </a:solidFill>
          <a:ln/>
        </p:spPr>
        <p:txBody>
          <a:bodyPr/>
          <a:lstStyle/>
          <a:p>
            <a:endParaRPr lang="en-US"/>
          </a:p>
        </p:txBody>
      </p:sp>
      <p:sp>
        <p:nvSpPr>
          <p:cNvPr id="10" name="Text 8"/>
          <p:cNvSpPr/>
          <p:nvPr/>
        </p:nvSpPr>
        <p:spPr>
          <a:xfrm>
            <a:off x="4709160" y="2926080"/>
            <a:ext cx="2743200" cy="320040"/>
          </a:xfrm>
          <a:prstGeom prst="rect">
            <a:avLst/>
          </a:prstGeom>
          <a:noFill/>
          <a:ln/>
        </p:spPr>
        <p:txBody>
          <a:bodyPr wrap="square" rtlCol="0" anchor="ctr"/>
          <a:lstStyle/>
          <a:p>
            <a:pPr marL="0" indent="0">
              <a:buNone/>
            </a:pPr>
            <a:r>
              <a:rPr lang="en-US" sz="1000" b="1" kern="0" spc="100" dirty="0">
                <a:solidFill>
                  <a:srgbClr val="FF7800"/>
                </a:solidFill>
                <a:latin typeface="Poppins" pitchFamily="34" charset="0"/>
                <a:ea typeface="Poppins" pitchFamily="34" charset="-122"/>
                <a:cs typeface="Poppins" pitchFamily="34" charset="-120"/>
              </a:rPr>
              <a:t>AFTER</a:t>
            </a:r>
            <a:endParaRPr lang="en-US" sz="1000" dirty="0"/>
          </a:p>
        </p:txBody>
      </p:sp>
      <p:sp>
        <p:nvSpPr>
          <p:cNvPr id="11" name="Text 9"/>
          <p:cNvSpPr/>
          <p:nvPr/>
        </p:nvSpPr>
        <p:spPr>
          <a:xfrm>
            <a:off x="4709160" y="3246120"/>
            <a:ext cx="2743200" cy="914400"/>
          </a:xfrm>
          <a:prstGeom prst="rect">
            <a:avLst/>
          </a:prstGeom>
          <a:noFill/>
          <a:ln/>
        </p:spPr>
        <p:txBody>
          <a:bodyPr wrap="square" rtlCol="0" anchor="ctr"/>
          <a:lstStyle/>
          <a:p>
            <a:pPr marL="0" indent="0">
              <a:buNone/>
            </a:pPr>
            <a:r>
              <a:rPr lang="en-US" sz="4400" b="1" dirty="0">
                <a:solidFill>
                  <a:srgbClr val="FF7800"/>
                </a:solidFill>
                <a:latin typeface="Poppins" pitchFamily="34" charset="0"/>
                <a:ea typeface="Poppins" pitchFamily="34" charset="-122"/>
                <a:cs typeface="Poppins" pitchFamily="34" charset="-120"/>
              </a:rPr>
              <a:t>1</a:t>
            </a:r>
            <a:endParaRPr lang="en-US" sz="4400" dirty="0"/>
          </a:p>
        </p:txBody>
      </p:sp>
      <p:sp>
        <p:nvSpPr>
          <p:cNvPr id="12" name="Text 10"/>
          <p:cNvSpPr/>
          <p:nvPr/>
        </p:nvSpPr>
        <p:spPr>
          <a:xfrm>
            <a:off x="4709160" y="4206240"/>
            <a:ext cx="2743200" cy="1280160"/>
          </a:xfrm>
          <a:prstGeom prst="rect">
            <a:avLst/>
          </a:prstGeom>
          <a:noFill/>
          <a:ln/>
        </p:spPr>
        <p:txBody>
          <a:bodyPr wrap="square" rtlCol="0" anchor="ctr"/>
          <a:lstStyle/>
          <a:p>
            <a:pPr marL="0" indent="0">
              <a:lnSpc>
                <a:spcPts val="1600"/>
              </a:lnSpc>
              <a:buNone/>
            </a:pPr>
            <a:r>
              <a:rPr lang="en-US" sz="1250" dirty="0">
                <a:solidFill>
                  <a:srgbClr val="FFFFFF"/>
                </a:solidFill>
                <a:latin typeface="Poppins" pitchFamily="34" charset="0"/>
                <a:ea typeface="Poppins" pitchFamily="34" charset="-122"/>
                <a:cs typeface="Poppins" pitchFamily="34" charset="-120"/>
              </a:rPr>
              <a:t>report pack, built once, reused for every client</a:t>
            </a:r>
            <a:endParaRPr lang="en-US" sz="1250" dirty="0"/>
          </a:p>
        </p:txBody>
      </p:sp>
      <p:sp>
        <p:nvSpPr>
          <p:cNvPr id="13" name="Shape 11"/>
          <p:cNvSpPr/>
          <p:nvPr/>
        </p:nvSpPr>
        <p:spPr>
          <a:xfrm>
            <a:off x="8321040" y="2697480"/>
            <a:ext cx="3291840" cy="3063240"/>
          </a:xfrm>
          <a:prstGeom prst="roundRect">
            <a:avLst>
              <a:gd name="adj" fmla="val 2388"/>
            </a:avLst>
          </a:prstGeom>
          <a:solidFill>
            <a:srgbClr val="FFFFFF"/>
          </a:solidFill>
          <a:ln w="12700">
            <a:solidFill>
              <a:srgbClr val="D9D2C3"/>
            </a:solidFill>
            <a:prstDash val="solid"/>
          </a:ln>
        </p:spPr>
        <p:txBody>
          <a:bodyPr/>
          <a:lstStyle/>
          <a:p>
            <a:endParaRPr lang="en-US"/>
          </a:p>
        </p:txBody>
      </p:sp>
      <p:sp>
        <p:nvSpPr>
          <p:cNvPr id="14" name="Text 12"/>
          <p:cNvSpPr/>
          <p:nvPr/>
        </p:nvSpPr>
        <p:spPr>
          <a:xfrm>
            <a:off x="8595360" y="2926080"/>
            <a:ext cx="2743200" cy="320040"/>
          </a:xfrm>
          <a:prstGeom prst="rect">
            <a:avLst/>
          </a:prstGeom>
          <a:noFill/>
          <a:ln/>
        </p:spPr>
        <p:txBody>
          <a:bodyPr wrap="square" rtlCol="0" anchor="ctr"/>
          <a:lstStyle/>
          <a:p>
            <a:pPr marL="0" indent="0">
              <a:buNone/>
            </a:pPr>
            <a:r>
              <a:rPr lang="en-US" sz="1000" b="1" kern="0" spc="100" dirty="0">
                <a:solidFill>
                  <a:srgbClr val="FF7800"/>
                </a:solidFill>
                <a:latin typeface="Poppins" pitchFamily="34" charset="0"/>
                <a:ea typeface="Poppins" pitchFamily="34" charset="-122"/>
                <a:cs typeface="Poppins" pitchFamily="34" charset="-120"/>
              </a:rPr>
              <a:t>ONE CAVEAT</a:t>
            </a:r>
            <a:endParaRPr lang="en-US" sz="1000" dirty="0"/>
          </a:p>
        </p:txBody>
      </p:sp>
      <p:sp>
        <p:nvSpPr>
          <p:cNvPr id="15" name="Text 13"/>
          <p:cNvSpPr/>
          <p:nvPr/>
        </p:nvSpPr>
        <p:spPr>
          <a:xfrm>
            <a:off x="8595360" y="3337560"/>
            <a:ext cx="2743200" cy="1554480"/>
          </a:xfrm>
          <a:prstGeom prst="rect">
            <a:avLst/>
          </a:prstGeom>
          <a:noFill/>
          <a:ln/>
        </p:spPr>
        <p:txBody>
          <a:bodyPr wrap="square" rtlCol="0" anchor="ctr"/>
          <a:lstStyle/>
          <a:p>
            <a:pPr marL="0" indent="0">
              <a:lnSpc>
                <a:spcPts val="1800"/>
              </a:lnSpc>
              <a:buNone/>
            </a:pPr>
            <a:r>
              <a:rPr lang="en-US" sz="1300" b="1" dirty="0">
                <a:solidFill>
                  <a:srgbClr val="2B3747"/>
                </a:solidFill>
                <a:latin typeface="Poppins" pitchFamily="34" charset="0"/>
                <a:ea typeface="Poppins" pitchFamily="34" charset="-122"/>
                <a:cs typeface="Poppins" pitchFamily="34" charset="-120"/>
              </a:rPr>
              <a:t>Payroll reports aren't included — that stays a separate step.</a:t>
            </a:r>
            <a:endParaRPr lang="en-US" sz="1300" dirty="0"/>
          </a:p>
        </p:txBody>
      </p:sp>
      <p:sp>
        <p:nvSpPr>
          <p:cNvPr id="16" name="Text 14"/>
          <p:cNvSpPr/>
          <p:nvPr/>
        </p:nvSpPr>
        <p:spPr>
          <a:xfrm>
            <a:off x="8595360" y="4892040"/>
            <a:ext cx="2743200" cy="731520"/>
          </a:xfrm>
          <a:prstGeom prst="rect">
            <a:avLst/>
          </a:prstGeom>
          <a:noFill/>
          <a:ln/>
        </p:spPr>
        <p:txBody>
          <a:bodyPr wrap="square" rtlCol="0" anchor="ctr"/>
          <a:lstStyle/>
          <a:p>
            <a:pPr marL="0" indent="0">
              <a:lnSpc>
                <a:spcPts val="1500"/>
              </a:lnSpc>
              <a:buNone/>
            </a:pPr>
            <a:r>
              <a:rPr lang="en-US" sz="1100" i="1" dirty="0">
                <a:solidFill>
                  <a:srgbClr val="6B7684"/>
                </a:solidFill>
                <a:latin typeface="Poppins" pitchFamily="34" charset="0"/>
                <a:ea typeface="Poppins" pitchFamily="34" charset="-122"/>
                <a:cs typeface="Poppins" pitchFamily="34" charset="-120"/>
              </a:rPr>
              <a:t>Even with that gap, this alone was worth doing.</a:t>
            </a:r>
            <a:endParaRPr lang="en-US" sz="1100" dirty="0"/>
          </a:p>
        </p:txBody>
      </p:sp>
      <p:sp>
        <p:nvSpPr>
          <p:cNvPr id="17" name="Text 15"/>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PART 03 · EXAMPLE</a:t>
            </a:r>
            <a:endParaRPr lang="en-US" sz="900" dirty="0"/>
          </a:p>
        </p:txBody>
      </p:sp>
      <p:sp>
        <p:nvSpPr>
          <p:cNvPr id="18" name="Text 16"/>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BUILD PHASE · STEP TWO</a:t>
            </a:r>
            <a:endParaRPr lang="en-US" sz="1100" dirty="0"/>
          </a:p>
        </p:txBody>
      </p:sp>
      <p:sp>
        <p:nvSpPr>
          <p:cNvPr id="3" name="Text 1"/>
          <p:cNvSpPr/>
          <p:nvPr/>
        </p:nvSpPr>
        <p:spPr>
          <a:xfrm>
            <a:off x="548640" y="777240"/>
            <a:ext cx="10515600" cy="685800"/>
          </a:xfrm>
          <a:prstGeom prst="rect">
            <a:avLst/>
          </a:prstGeom>
          <a:noFill/>
          <a:ln/>
        </p:spPr>
        <p:txBody>
          <a:bodyPr wrap="square" rtlCol="0" anchor="ctr"/>
          <a:lstStyle/>
          <a:p>
            <a:pPr marL="0" indent="0">
              <a:buNone/>
            </a:pPr>
            <a:r>
              <a:rPr lang="en-US" sz="2600" b="1" dirty="0">
                <a:solidFill>
                  <a:srgbClr val="2B3747"/>
                </a:solidFill>
                <a:latin typeface="Poppins" pitchFamily="34" charset="0"/>
                <a:ea typeface="Poppins" pitchFamily="34" charset="-122"/>
                <a:cs typeface="Poppins" pitchFamily="34" charset="-120"/>
              </a:rPr>
              <a:t>Now — could an AI review it all?</a:t>
            </a:r>
            <a:endParaRPr lang="en-US" sz="2600" dirty="0"/>
          </a:p>
        </p:txBody>
      </p:sp>
      <p:sp>
        <p:nvSpPr>
          <p:cNvPr id="4" name="Shape 2"/>
          <p:cNvSpPr/>
          <p:nvPr/>
        </p:nvSpPr>
        <p:spPr>
          <a:xfrm>
            <a:off x="548640" y="1737360"/>
            <a:ext cx="5257800" cy="1965960"/>
          </a:xfrm>
          <a:prstGeom prst="roundRect">
            <a:avLst>
              <a:gd name="adj" fmla="val 3721"/>
            </a:avLst>
          </a:prstGeom>
          <a:solidFill>
            <a:srgbClr val="FFFFFF"/>
          </a:solidFill>
          <a:ln w="12700">
            <a:solidFill>
              <a:srgbClr val="D9D2C3"/>
            </a:solidFill>
            <a:prstDash val="solid"/>
          </a:ln>
        </p:spPr>
        <p:txBody>
          <a:bodyPr/>
          <a:lstStyle/>
          <a:p>
            <a:endParaRPr lang="en-US"/>
          </a:p>
        </p:txBody>
      </p:sp>
      <p:sp>
        <p:nvSpPr>
          <p:cNvPr id="5" name="Text 3"/>
          <p:cNvSpPr/>
          <p:nvPr/>
        </p:nvSpPr>
        <p:spPr>
          <a:xfrm>
            <a:off x="822960" y="1920240"/>
            <a:ext cx="4572000" cy="320040"/>
          </a:xfrm>
          <a:prstGeom prst="rect">
            <a:avLst/>
          </a:prstGeom>
          <a:noFill/>
          <a:ln/>
        </p:spPr>
        <p:txBody>
          <a:bodyPr wrap="square" rtlCol="0" anchor="ctr"/>
          <a:lstStyle/>
          <a:p>
            <a:pPr marL="0" indent="0">
              <a:buNone/>
            </a:pPr>
            <a:r>
              <a:rPr lang="en-US" sz="1000" b="1" kern="0" spc="100" dirty="0">
                <a:solidFill>
                  <a:srgbClr val="6B7684"/>
                </a:solidFill>
                <a:latin typeface="Poppins" pitchFamily="34" charset="0"/>
                <a:ea typeface="Poppins" pitchFamily="34" charset="-122"/>
                <a:cs typeface="Poppins" pitchFamily="34" charset="-120"/>
              </a:rPr>
              <a:t>ATTEMPT ONE</a:t>
            </a:r>
            <a:endParaRPr lang="en-US" sz="1000" dirty="0"/>
          </a:p>
        </p:txBody>
      </p:sp>
      <p:sp>
        <p:nvSpPr>
          <p:cNvPr id="6" name="Text 4"/>
          <p:cNvSpPr/>
          <p:nvPr/>
        </p:nvSpPr>
        <p:spPr>
          <a:xfrm>
            <a:off x="822960" y="2286000"/>
            <a:ext cx="4663440" cy="502920"/>
          </a:xfrm>
          <a:prstGeom prst="rect">
            <a:avLst/>
          </a:prstGeom>
          <a:noFill/>
          <a:ln/>
        </p:spPr>
        <p:txBody>
          <a:bodyPr wrap="square" rtlCol="0" anchor="ctr"/>
          <a:lstStyle/>
          <a:p>
            <a:pPr marL="0" indent="0">
              <a:buNone/>
            </a:pPr>
            <a:r>
              <a:rPr lang="en-US" sz="1500" b="1" dirty="0">
                <a:solidFill>
                  <a:srgbClr val="2B3747"/>
                </a:solidFill>
                <a:latin typeface="Poppins" pitchFamily="34" charset="0"/>
                <a:ea typeface="Poppins" pitchFamily="34" charset="-122"/>
                <a:cs typeface="Poppins" pitchFamily="34" charset="-120"/>
              </a:rPr>
              <a:t>Upload straight to Claude, ask a question.</a:t>
            </a:r>
            <a:endParaRPr lang="en-US" sz="1500" dirty="0"/>
          </a:p>
        </p:txBody>
      </p:sp>
      <p:sp>
        <p:nvSpPr>
          <p:cNvPr id="7" name="Text 5"/>
          <p:cNvSpPr/>
          <p:nvPr/>
        </p:nvSpPr>
        <p:spPr>
          <a:xfrm>
            <a:off x="822960" y="2834640"/>
            <a:ext cx="4663440" cy="777240"/>
          </a:xfrm>
          <a:prstGeom prst="rect">
            <a:avLst/>
          </a:prstGeom>
          <a:noFill/>
          <a:ln/>
        </p:spPr>
        <p:txBody>
          <a:bodyPr wrap="square" rtlCol="0" anchor="ctr"/>
          <a:lstStyle/>
          <a:p>
            <a:pPr marL="0" indent="0">
              <a:lnSpc>
                <a:spcPts val="1700"/>
              </a:lnSpc>
              <a:buNone/>
            </a:pPr>
            <a:r>
              <a:rPr lang="en-US" sz="1250" dirty="0">
                <a:solidFill>
                  <a:srgbClr val="6B7684"/>
                </a:solidFill>
                <a:latin typeface="Poppins" pitchFamily="34" charset="0"/>
                <a:ea typeface="Poppins" pitchFamily="34" charset="-122"/>
                <a:cs typeface="Poppins" pitchFamily="34" charset="-120"/>
              </a:rPr>
              <a:t>You can probably guess what happened: the results were inconsistent.</a:t>
            </a:r>
            <a:endParaRPr lang="en-US" sz="1250" dirty="0"/>
          </a:p>
        </p:txBody>
      </p:sp>
      <p:sp>
        <p:nvSpPr>
          <p:cNvPr id="8" name="Shape 6"/>
          <p:cNvSpPr/>
          <p:nvPr/>
        </p:nvSpPr>
        <p:spPr>
          <a:xfrm>
            <a:off x="6035040" y="1737360"/>
            <a:ext cx="5394960" cy="1965960"/>
          </a:xfrm>
          <a:prstGeom prst="roundRect">
            <a:avLst>
              <a:gd name="adj" fmla="val 3721"/>
            </a:avLst>
          </a:prstGeom>
          <a:solidFill>
            <a:srgbClr val="FFFFFF"/>
          </a:solidFill>
          <a:ln w="12700">
            <a:solidFill>
              <a:srgbClr val="D9D2C3"/>
            </a:solidFill>
            <a:prstDash val="solid"/>
          </a:ln>
        </p:spPr>
        <p:txBody>
          <a:bodyPr/>
          <a:lstStyle/>
          <a:p>
            <a:endParaRPr lang="en-US"/>
          </a:p>
        </p:txBody>
      </p:sp>
      <p:sp>
        <p:nvSpPr>
          <p:cNvPr id="9" name="Text 7"/>
          <p:cNvSpPr/>
          <p:nvPr/>
        </p:nvSpPr>
        <p:spPr>
          <a:xfrm>
            <a:off x="6309360" y="1920240"/>
            <a:ext cx="4754880" cy="320040"/>
          </a:xfrm>
          <a:prstGeom prst="rect">
            <a:avLst/>
          </a:prstGeom>
          <a:noFill/>
          <a:ln/>
        </p:spPr>
        <p:txBody>
          <a:bodyPr wrap="square" rtlCol="0" anchor="ctr"/>
          <a:lstStyle/>
          <a:p>
            <a:pPr marL="0" indent="0">
              <a:buNone/>
            </a:pPr>
            <a:r>
              <a:rPr lang="en-US" sz="1000" b="1" kern="0" spc="100" dirty="0">
                <a:solidFill>
                  <a:srgbClr val="6FA73F"/>
                </a:solidFill>
                <a:latin typeface="Poppins" pitchFamily="34" charset="0"/>
                <a:ea typeface="Poppins" pitchFamily="34" charset="-122"/>
                <a:cs typeface="Poppins" pitchFamily="34" charset="-120"/>
              </a:rPr>
              <a:t>ATTEMPT TWO</a:t>
            </a:r>
            <a:endParaRPr lang="en-US" sz="1000" dirty="0"/>
          </a:p>
        </p:txBody>
      </p:sp>
      <p:sp>
        <p:nvSpPr>
          <p:cNvPr id="10" name="Text 8"/>
          <p:cNvSpPr/>
          <p:nvPr/>
        </p:nvSpPr>
        <p:spPr>
          <a:xfrm>
            <a:off x="6309360" y="2286000"/>
            <a:ext cx="4846320" cy="777240"/>
          </a:xfrm>
          <a:prstGeom prst="rect">
            <a:avLst/>
          </a:prstGeom>
          <a:noFill/>
          <a:ln/>
        </p:spPr>
        <p:txBody>
          <a:bodyPr wrap="square" rtlCol="0" anchor="ctr"/>
          <a:lstStyle/>
          <a:p>
            <a:pPr marL="0" indent="0">
              <a:lnSpc>
                <a:spcPts val="1800"/>
              </a:lnSpc>
              <a:buNone/>
            </a:pPr>
            <a:r>
              <a:rPr lang="en-US" sz="1400" b="1" dirty="0">
                <a:solidFill>
                  <a:srgbClr val="2B3747"/>
                </a:solidFill>
                <a:latin typeface="Poppins" pitchFamily="34" charset="0"/>
                <a:ea typeface="Poppins" pitchFamily="34" charset="-122"/>
                <a:cs typeface="Poppins" pitchFamily="34" charset="-120"/>
              </a:rPr>
              <a:t>Build a skill: what to look for, how to reconcile, what output we want.</a:t>
            </a:r>
            <a:endParaRPr lang="en-US" sz="1400" dirty="0"/>
          </a:p>
        </p:txBody>
      </p:sp>
      <p:sp>
        <p:nvSpPr>
          <p:cNvPr id="11" name="Text 9"/>
          <p:cNvSpPr/>
          <p:nvPr/>
        </p:nvSpPr>
        <p:spPr>
          <a:xfrm>
            <a:off x="6309360" y="3108960"/>
            <a:ext cx="4754880" cy="457200"/>
          </a:xfrm>
          <a:prstGeom prst="rect">
            <a:avLst/>
          </a:prstGeom>
          <a:noFill/>
          <a:ln/>
        </p:spPr>
        <p:txBody>
          <a:bodyPr wrap="square" rtlCol="0" anchor="ctr"/>
          <a:lstStyle/>
          <a:p>
            <a:pPr marL="0" indent="0">
              <a:lnSpc>
                <a:spcPts val="1600"/>
              </a:lnSpc>
              <a:buNone/>
            </a:pPr>
            <a:r>
              <a:rPr lang="en-US" sz="1250" dirty="0">
                <a:solidFill>
                  <a:srgbClr val="6B7684"/>
                </a:solidFill>
                <a:latin typeface="Poppins" pitchFamily="34" charset="0"/>
                <a:ea typeface="Poppins" pitchFamily="34" charset="-122"/>
                <a:cs typeface="Poppins" pitchFamily="34" charset="-120"/>
              </a:rPr>
              <a:t>Sounds like the fix. It wasn't quite.</a:t>
            </a:r>
            <a:endParaRPr lang="en-US" sz="1250" dirty="0"/>
          </a:p>
        </p:txBody>
      </p:sp>
      <p:sp>
        <p:nvSpPr>
          <p:cNvPr id="12" name="Shape 10"/>
          <p:cNvSpPr/>
          <p:nvPr/>
        </p:nvSpPr>
        <p:spPr>
          <a:xfrm>
            <a:off x="548640" y="3931920"/>
            <a:ext cx="10881360" cy="1828800"/>
          </a:xfrm>
          <a:prstGeom prst="roundRect">
            <a:avLst>
              <a:gd name="adj" fmla="val 4000"/>
            </a:avLst>
          </a:prstGeom>
          <a:solidFill>
            <a:srgbClr val="2B3747"/>
          </a:solidFill>
          <a:ln/>
        </p:spPr>
        <p:txBody>
          <a:bodyPr/>
          <a:lstStyle/>
          <a:p>
            <a:endParaRPr lang="en-US"/>
          </a:p>
        </p:txBody>
      </p:sp>
      <p:sp>
        <p:nvSpPr>
          <p:cNvPr id="13" name="Text 11"/>
          <p:cNvSpPr/>
          <p:nvPr/>
        </p:nvSpPr>
        <p:spPr>
          <a:xfrm>
            <a:off x="868680" y="4160520"/>
            <a:ext cx="10058400" cy="320040"/>
          </a:xfrm>
          <a:prstGeom prst="rect">
            <a:avLst/>
          </a:prstGeom>
          <a:noFill/>
          <a:ln/>
        </p:spPr>
        <p:txBody>
          <a:bodyPr wrap="square" rtlCol="0" anchor="ctr"/>
          <a:lstStyle/>
          <a:p>
            <a:pPr marL="0" indent="0">
              <a:buNone/>
            </a:pPr>
            <a:r>
              <a:rPr lang="en-US" sz="1000" b="1" kern="0" spc="100" dirty="0">
                <a:solidFill>
                  <a:srgbClr val="FF7800"/>
                </a:solidFill>
                <a:latin typeface="Poppins" pitchFamily="34" charset="0"/>
                <a:ea typeface="Poppins" pitchFamily="34" charset="-122"/>
                <a:cs typeface="Poppins" pitchFamily="34" charset="-120"/>
              </a:rPr>
              <a:t>THE CATCH WITH SKILLS</a:t>
            </a:r>
            <a:endParaRPr lang="en-US" sz="1000" dirty="0"/>
          </a:p>
        </p:txBody>
      </p:sp>
      <p:sp>
        <p:nvSpPr>
          <p:cNvPr id="14" name="Text 12"/>
          <p:cNvSpPr/>
          <p:nvPr/>
        </p:nvSpPr>
        <p:spPr>
          <a:xfrm>
            <a:off x="868680" y="4572000"/>
            <a:ext cx="10241280" cy="1097280"/>
          </a:xfrm>
          <a:prstGeom prst="rect">
            <a:avLst/>
          </a:prstGeom>
          <a:noFill/>
          <a:ln/>
        </p:spPr>
        <p:txBody>
          <a:bodyPr wrap="square" rtlCol="0" anchor="ctr"/>
          <a:lstStyle/>
          <a:p>
            <a:pPr marL="0" indent="0">
              <a:lnSpc>
                <a:spcPts val="1900"/>
              </a:lnSpc>
              <a:buNone/>
            </a:pPr>
            <a:r>
              <a:rPr lang="en-US" sz="1400" b="1" dirty="0">
                <a:solidFill>
                  <a:srgbClr val="FFFFFF"/>
                </a:solidFill>
                <a:latin typeface="Poppins" pitchFamily="34" charset="0"/>
                <a:ea typeface="Poppins" pitchFamily="34" charset="-122"/>
                <a:cs typeface="Poppins" pitchFamily="34" charset="-120"/>
              </a:rPr>
              <a:t>A skill only gets invoked the way the user happens to ask for it. “Tell me what's wrong with this” and “Find the anomalies in this report” can trigger it very differently — and lead to very different results.</a:t>
            </a:r>
            <a:endParaRPr lang="en-US" sz="1400" dirty="0"/>
          </a:p>
        </p:txBody>
      </p:sp>
      <p:sp>
        <p:nvSpPr>
          <p:cNvPr id="15" name="Text 13"/>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PART 03 · EXAMPLE</a:t>
            </a:r>
            <a:endParaRPr lang="en-US" sz="900" dirty="0"/>
          </a:p>
        </p:txBody>
      </p:sp>
      <p:sp>
        <p:nvSpPr>
          <p:cNvPr id="16" name="Text 14"/>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BUILD PHASE · STEP THREE</a:t>
            </a:r>
            <a:endParaRPr lang="en-US" sz="1100" dirty="0"/>
          </a:p>
        </p:txBody>
      </p:sp>
      <p:sp>
        <p:nvSpPr>
          <p:cNvPr id="3" name="Text 1"/>
          <p:cNvSpPr/>
          <p:nvPr/>
        </p:nvSpPr>
        <p:spPr>
          <a:xfrm>
            <a:off x="548640" y="777240"/>
            <a:ext cx="10698480" cy="685800"/>
          </a:xfrm>
          <a:prstGeom prst="rect">
            <a:avLst/>
          </a:prstGeom>
          <a:noFill/>
          <a:ln/>
        </p:spPr>
        <p:txBody>
          <a:bodyPr wrap="square" rtlCol="0" anchor="ctr"/>
          <a:lstStyle/>
          <a:p>
            <a:pPr marL="0" indent="0">
              <a:buNone/>
            </a:pPr>
            <a:r>
              <a:rPr lang="en-US" sz="2500" b="1" dirty="0">
                <a:solidFill>
                  <a:srgbClr val="2B3747"/>
                </a:solidFill>
                <a:latin typeface="Poppins" pitchFamily="34" charset="0"/>
                <a:ea typeface="Poppins" pitchFamily="34" charset="-122"/>
                <a:cs typeface="Poppins" pitchFamily="34" charset="-120"/>
              </a:rPr>
              <a:t>Back to Eliminate: remove the prompt.</a:t>
            </a:r>
            <a:endParaRPr lang="en-US" sz="2500" dirty="0"/>
          </a:p>
        </p:txBody>
      </p:sp>
      <p:sp>
        <p:nvSpPr>
          <p:cNvPr id="4" name="Text 2"/>
          <p:cNvSpPr/>
          <p:nvPr/>
        </p:nvSpPr>
        <p:spPr>
          <a:xfrm>
            <a:off x="548640" y="1645920"/>
            <a:ext cx="10698480" cy="822960"/>
          </a:xfrm>
          <a:prstGeom prst="rect">
            <a:avLst/>
          </a:prstGeom>
          <a:noFill/>
          <a:ln/>
        </p:spPr>
        <p:txBody>
          <a:bodyPr wrap="square" rtlCol="0" anchor="ctr"/>
          <a:lstStyle/>
          <a:p>
            <a:pPr marL="0" indent="0">
              <a:lnSpc>
                <a:spcPts val="1900"/>
              </a:lnSpc>
              <a:buNone/>
            </a:pPr>
            <a:r>
              <a:rPr lang="en-US" sz="1400" dirty="0">
                <a:solidFill>
                  <a:srgbClr val="6B7684"/>
                </a:solidFill>
                <a:latin typeface="Poppins" pitchFamily="34" charset="0"/>
                <a:ea typeface="Poppins" pitchFamily="34" charset="-122"/>
                <a:cs typeface="Poppins" pitchFamily="34" charset="-120"/>
              </a:rPr>
              <a:t>If a skill's weak point is how someone phrases the ask — eliminate the phrasing. We built a system where the team just uploads the Xero reports, no wording required.</a:t>
            </a:r>
            <a:endParaRPr lang="en-US" sz="1400" dirty="0"/>
          </a:p>
        </p:txBody>
      </p:sp>
      <p:sp>
        <p:nvSpPr>
          <p:cNvPr id="5" name="Shape 3"/>
          <p:cNvSpPr/>
          <p:nvPr/>
        </p:nvSpPr>
        <p:spPr>
          <a:xfrm>
            <a:off x="548640" y="2834640"/>
            <a:ext cx="2514600" cy="2011680"/>
          </a:xfrm>
          <a:prstGeom prst="roundRect">
            <a:avLst>
              <a:gd name="adj" fmla="val 3636"/>
            </a:avLst>
          </a:prstGeom>
          <a:solidFill>
            <a:srgbClr val="FFFFFF"/>
          </a:solidFill>
          <a:ln w="12700">
            <a:solidFill>
              <a:srgbClr val="D9D2C3"/>
            </a:solidFill>
            <a:prstDash val="solid"/>
          </a:ln>
        </p:spPr>
        <p:txBody>
          <a:bodyPr/>
          <a:lstStyle/>
          <a:p>
            <a:endParaRPr lang="en-US"/>
          </a:p>
        </p:txBody>
      </p:sp>
      <p:sp>
        <p:nvSpPr>
          <p:cNvPr id="6" name="Text 4"/>
          <p:cNvSpPr/>
          <p:nvPr/>
        </p:nvSpPr>
        <p:spPr>
          <a:xfrm>
            <a:off x="777240" y="3063240"/>
            <a:ext cx="1371600" cy="457200"/>
          </a:xfrm>
          <a:prstGeom prst="rect">
            <a:avLst/>
          </a:prstGeom>
          <a:noFill/>
          <a:ln/>
        </p:spPr>
        <p:txBody>
          <a:bodyPr wrap="square" rtlCol="0" anchor="ctr"/>
          <a:lstStyle/>
          <a:p>
            <a:pPr marL="0" indent="0">
              <a:buNone/>
            </a:pPr>
            <a:r>
              <a:rPr lang="en-US" sz="1600" b="1" dirty="0">
                <a:solidFill>
                  <a:srgbClr val="FF7800"/>
                </a:solidFill>
                <a:latin typeface="Poppins" pitchFamily="34" charset="0"/>
                <a:ea typeface="Poppins" pitchFamily="34" charset="-122"/>
                <a:cs typeface="Poppins" pitchFamily="34" charset="-120"/>
              </a:rPr>
              <a:t>01</a:t>
            </a:r>
            <a:endParaRPr lang="en-US" sz="1600" dirty="0"/>
          </a:p>
        </p:txBody>
      </p:sp>
      <p:sp>
        <p:nvSpPr>
          <p:cNvPr id="7" name="Text 5"/>
          <p:cNvSpPr/>
          <p:nvPr/>
        </p:nvSpPr>
        <p:spPr>
          <a:xfrm>
            <a:off x="777240" y="3611880"/>
            <a:ext cx="2057400" cy="1005840"/>
          </a:xfrm>
          <a:prstGeom prst="rect">
            <a:avLst/>
          </a:prstGeom>
          <a:noFill/>
          <a:ln/>
        </p:spPr>
        <p:txBody>
          <a:bodyPr wrap="square" rtlCol="0" anchor="ctr"/>
          <a:lstStyle/>
          <a:p>
            <a:pPr marL="0" indent="0">
              <a:lnSpc>
                <a:spcPts val="1700"/>
              </a:lnSpc>
              <a:buNone/>
            </a:pPr>
            <a:r>
              <a:rPr lang="en-US" sz="1300" b="1" dirty="0">
                <a:solidFill>
                  <a:srgbClr val="2B3747"/>
                </a:solidFill>
                <a:latin typeface="Poppins" pitchFamily="34" charset="0"/>
                <a:ea typeface="Poppins" pitchFamily="34" charset="-122"/>
                <a:cs typeface="Poppins" pitchFamily="34" charset="-120"/>
              </a:rPr>
              <a:t>Team uploads</a:t>
            </a:r>
            <a:endParaRPr lang="en-US" sz="1300" dirty="0"/>
          </a:p>
          <a:p>
            <a:pPr marL="0" indent="0">
              <a:lnSpc>
                <a:spcPts val="1700"/>
              </a:lnSpc>
              <a:buNone/>
            </a:pPr>
            <a:r>
              <a:rPr lang="en-US" sz="1300" b="1" dirty="0">
                <a:solidFill>
                  <a:srgbClr val="2B3747"/>
                </a:solidFill>
                <a:latin typeface="Poppins" pitchFamily="34" charset="0"/>
                <a:ea typeface="Poppins" pitchFamily="34" charset="-122"/>
                <a:cs typeface="Poppins" pitchFamily="34" charset="-120"/>
              </a:rPr>
              <a:t>Xero reports</a:t>
            </a:r>
            <a:endParaRPr lang="en-US" sz="1300" dirty="0"/>
          </a:p>
        </p:txBody>
      </p:sp>
      <p:sp>
        <p:nvSpPr>
          <p:cNvPr id="8" name="Text 6"/>
          <p:cNvSpPr/>
          <p:nvPr/>
        </p:nvSpPr>
        <p:spPr>
          <a:xfrm>
            <a:off x="3081528" y="3611880"/>
            <a:ext cx="274320" cy="457200"/>
          </a:xfrm>
          <a:prstGeom prst="rect">
            <a:avLst/>
          </a:prstGeom>
          <a:noFill/>
          <a:ln/>
        </p:spPr>
        <p:txBody>
          <a:bodyPr wrap="square" rtlCol="0" anchor="ctr"/>
          <a:lstStyle/>
          <a:p>
            <a:pPr marL="0" indent="0" algn="ctr">
              <a:buNone/>
            </a:pPr>
            <a:r>
              <a:rPr lang="en-US" sz="2000" b="1" dirty="0">
                <a:solidFill>
                  <a:srgbClr val="FF7800"/>
                </a:solidFill>
                <a:latin typeface="Poppins" pitchFamily="34" charset="0"/>
                <a:ea typeface="Poppins" pitchFamily="34" charset="-122"/>
                <a:cs typeface="Poppins" pitchFamily="34" charset="-120"/>
              </a:rPr>
              <a:t>→</a:t>
            </a:r>
            <a:endParaRPr lang="en-US" sz="2000" dirty="0"/>
          </a:p>
        </p:txBody>
      </p:sp>
      <p:sp>
        <p:nvSpPr>
          <p:cNvPr id="9" name="Shape 7"/>
          <p:cNvSpPr/>
          <p:nvPr/>
        </p:nvSpPr>
        <p:spPr>
          <a:xfrm>
            <a:off x="3383280" y="2834640"/>
            <a:ext cx="2514600" cy="2011680"/>
          </a:xfrm>
          <a:prstGeom prst="roundRect">
            <a:avLst>
              <a:gd name="adj" fmla="val 3636"/>
            </a:avLst>
          </a:prstGeom>
          <a:solidFill>
            <a:srgbClr val="FFFFFF"/>
          </a:solidFill>
          <a:ln w="12700">
            <a:solidFill>
              <a:srgbClr val="D9D2C3"/>
            </a:solidFill>
            <a:prstDash val="solid"/>
          </a:ln>
        </p:spPr>
        <p:txBody>
          <a:bodyPr/>
          <a:lstStyle/>
          <a:p>
            <a:endParaRPr lang="en-US"/>
          </a:p>
        </p:txBody>
      </p:sp>
      <p:sp>
        <p:nvSpPr>
          <p:cNvPr id="10" name="Text 8"/>
          <p:cNvSpPr/>
          <p:nvPr/>
        </p:nvSpPr>
        <p:spPr>
          <a:xfrm>
            <a:off x="3611880" y="3063240"/>
            <a:ext cx="1371600" cy="457200"/>
          </a:xfrm>
          <a:prstGeom prst="rect">
            <a:avLst/>
          </a:prstGeom>
          <a:noFill/>
          <a:ln/>
        </p:spPr>
        <p:txBody>
          <a:bodyPr wrap="square" rtlCol="0" anchor="ctr"/>
          <a:lstStyle/>
          <a:p>
            <a:pPr marL="0" indent="0">
              <a:buNone/>
            </a:pPr>
            <a:r>
              <a:rPr lang="en-US" sz="1600" b="1" dirty="0">
                <a:solidFill>
                  <a:srgbClr val="FF7800"/>
                </a:solidFill>
                <a:latin typeface="Poppins" pitchFamily="34" charset="0"/>
                <a:ea typeface="Poppins" pitchFamily="34" charset="-122"/>
                <a:cs typeface="Poppins" pitchFamily="34" charset="-120"/>
              </a:rPr>
              <a:t>02</a:t>
            </a:r>
            <a:endParaRPr lang="en-US" sz="1600" dirty="0"/>
          </a:p>
        </p:txBody>
      </p:sp>
      <p:sp>
        <p:nvSpPr>
          <p:cNvPr id="11" name="Text 9"/>
          <p:cNvSpPr/>
          <p:nvPr/>
        </p:nvSpPr>
        <p:spPr>
          <a:xfrm>
            <a:off x="3611880" y="3611880"/>
            <a:ext cx="2057400" cy="1005840"/>
          </a:xfrm>
          <a:prstGeom prst="rect">
            <a:avLst/>
          </a:prstGeom>
          <a:noFill/>
          <a:ln/>
        </p:spPr>
        <p:txBody>
          <a:bodyPr wrap="square" rtlCol="0" anchor="ctr"/>
          <a:lstStyle/>
          <a:p>
            <a:pPr marL="0" indent="0">
              <a:lnSpc>
                <a:spcPts val="1700"/>
              </a:lnSpc>
              <a:buNone/>
            </a:pPr>
            <a:r>
              <a:rPr lang="en-US" sz="1300" b="1" dirty="0">
                <a:solidFill>
                  <a:srgbClr val="2B3747"/>
                </a:solidFill>
                <a:latin typeface="Poppins" pitchFamily="34" charset="0"/>
                <a:ea typeface="Poppins" pitchFamily="34" charset="-122"/>
                <a:cs typeface="Poppins" pitchFamily="34" charset="-120"/>
              </a:rPr>
              <a:t>System applies</a:t>
            </a:r>
            <a:endParaRPr lang="en-US" sz="1300" dirty="0"/>
          </a:p>
          <a:p>
            <a:pPr marL="0" indent="0">
              <a:lnSpc>
                <a:spcPts val="1700"/>
              </a:lnSpc>
              <a:buNone/>
            </a:pPr>
            <a:r>
              <a:rPr lang="en-US" sz="1300" b="1" dirty="0">
                <a:solidFill>
                  <a:srgbClr val="2B3747"/>
                </a:solidFill>
                <a:latin typeface="Poppins" pitchFamily="34" charset="0"/>
                <a:ea typeface="Poppins" pitchFamily="34" charset="-122"/>
                <a:cs typeface="Poppins" pitchFamily="34" charset="-120"/>
              </a:rPr>
              <a:t>the review logic</a:t>
            </a:r>
            <a:endParaRPr lang="en-US" sz="1300" dirty="0"/>
          </a:p>
        </p:txBody>
      </p:sp>
      <p:sp>
        <p:nvSpPr>
          <p:cNvPr id="12" name="Text 10"/>
          <p:cNvSpPr/>
          <p:nvPr/>
        </p:nvSpPr>
        <p:spPr>
          <a:xfrm>
            <a:off x="5916168" y="3611880"/>
            <a:ext cx="274320" cy="457200"/>
          </a:xfrm>
          <a:prstGeom prst="rect">
            <a:avLst/>
          </a:prstGeom>
          <a:noFill/>
          <a:ln/>
        </p:spPr>
        <p:txBody>
          <a:bodyPr wrap="square" rtlCol="0" anchor="ctr"/>
          <a:lstStyle/>
          <a:p>
            <a:pPr marL="0" indent="0" algn="ctr">
              <a:buNone/>
            </a:pPr>
            <a:r>
              <a:rPr lang="en-US" sz="2000" b="1" dirty="0">
                <a:solidFill>
                  <a:srgbClr val="FF7800"/>
                </a:solidFill>
                <a:latin typeface="Poppins" pitchFamily="34" charset="0"/>
                <a:ea typeface="Poppins" pitchFamily="34" charset="-122"/>
                <a:cs typeface="Poppins" pitchFamily="34" charset="-120"/>
              </a:rPr>
              <a:t>→</a:t>
            </a:r>
            <a:endParaRPr lang="en-US" sz="2000" dirty="0"/>
          </a:p>
        </p:txBody>
      </p:sp>
      <p:sp>
        <p:nvSpPr>
          <p:cNvPr id="13" name="Shape 11"/>
          <p:cNvSpPr/>
          <p:nvPr/>
        </p:nvSpPr>
        <p:spPr>
          <a:xfrm>
            <a:off x="6217920" y="2834640"/>
            <a:ext cx="2514600" cy="2011680"/>
          </a:xfrm>
          <a:prstGeom prst="roundRect">
            <a:avLst>
              <a:gd name="adj" fmla="val 3636"/>
            </a:avLst>
          </a:prstGeom>
          <a:solidFill>
            <a:srgbClr val="FFFFFF"/>
          </a:solidFill>
          <a:ln w="12700">
            <a:solidFill>
              <a:srgbClr val="D9D2C3"/>
            </a:solidFill>
            <a:prstDash val="solid"/>
          </a:ln>
        </p:spPr>
        <p:txBody>
          <a:bodyPr/>
          <a:lstStyle/>
          <a:p>
            <a:endParaRPr lang="en-US"/>
          </a:p>
        </p:txBody>
      </p:sp>
      <p:sp>
        <p:nvSpPr>
          <p:cNvPr id="14" name="Text 12"/>
          <p:cNvSpPr/>
          <p:nvPr/>
        </p:nvSpPr>
        <p:spPr>
          <a:xfrm>
            <a:off x="6446520" y="3063240"/>
            <a:ext cx="1371600" cy="457200"/>
          </a:xfrm>
          <a:prstGeom prst="rect">
            <a:avLst/>
          </a:prstGeom>
          <a:noFill/>
          <a:ln/>
        </p:spPr>
        <p:txBody>
          <a:bodyPr wrap="square" rtlCol="0" anchor="ctr"/>
          <a:lstStyle/>
          <a:p>
            <a:pPr marL="0" indent="0">
              <a:buNone/>
            </a:pPr>
            <a:r>
              <a:rPr lang="en-US" sz="1600" b="1" dirty="0">
                <a:solidFill>
                  <a:srgbClr val="FF7800"/>
                </a:solidFill>
                <a:latin typeface="Poppins" pitchFamily="34" charset="0"/>
                <a:ea typeface="Poppins" pitchFamily="34" charset="-122"/>
                <a:cs typeface="Poppins" pitchFamily="34" charset="-120"/>
              </a:rPr>
              <a:t>03</a:t>
            </a:r>
            <a:endParaRPr lang="en-US" sz="1600" dirty="0"/>
          </a:p>
        </p:txBody>
      </p:sp>
      <p:sp>
        <p:nvSpPr>
          <p:cNvPr id="15" name="Text 13"/>
          <p:cNvSpPr/>
          <p:nvPr/>
        </p:nvSpPr>
        <p:spPr>
          <a:xfrm>
            <a:off x="6446520" y="3611880"/>
            <a:ext cx="2057400" cy="1005840"/>
          </a:xfrm>
          <a:prstGeom prst="rect">
            <a:avLst/>
          </a:prstGeom>
          <a:noFill/>
          <a:ln/>
        </p:spPr>
        <p:txBody>
          <a:bodyPr wrap="square" rtlCol="0" anchor="ctr"/>
          <a:lstStyle/>
          <a:p>
            <a:pPr marL="0" indent="0">
              <a:lnSpc>
                <a:spcPts val="1700"/>
              </a:lnSpc>
              <a:buNone/>
            </a:pPr>
            <a:r>
              <a:rPr lang="en-US" sz="1300" b="1" dirty="0">
                <a:solidFill>
                  <a:srgbClr val="2B3747"/>
                </a:solidFill>
                <a:latin typeface="Poppins" pitchFamily="34" charset="0"/>
                <a:ea typeface="Poppins" pitchFamily="34" charset="-122"/>
                <a:cs typeface="Poppins" pitchFamily="34" charset="-120"/>
              </a:rPr>
              <a:t>Structured output</a:t>
            </a:r>
            <a:endParaRPr lang="en-US" sz="1300" dirty="0"/>
          </a:p>
          <a:p>
            <a:pPr marL="0" indent="0">
              <a:lnSpc>
                <a:spcPts val="1700"/>
              </a:lnSpc>
              <a:buNone/>
            </a:pPr>
            <a:r>
              <a:rPr lang="en-US" sz="1300" b="1" dirty="0">
                <a:solidFill>
                  <a:srgbClr val="2B3747"/>
                </a:solidFill>
                <a:latin typeface="Poppins" pitchFamily="34" charset="0"/>
                <a:ea typeface="Poppins" pitchFamily="34" charset="-122"/>
                <a:cs typeface="Poppins" pitchFamily="34" charset="-120"/>
              </a:rPr>
              <a:t>returned every time</a:t>
            </a:r>
            <a:endParaRPr lang="en-US" sz="1300" dirty="0"/>
          </a:p>
        </p:txBody>
      </p:sp>
      <p:sp>
        <p:nvSpPr>
          <p:cNvPr id="16" name="Text 14"/>
          <p:cNvSpPr/>
          <p:nvPr/>
        </p:nvSpPr>
        <p:spPr>
          <a:xfrm>
            <a:off x="8750808" y="3611880"/>
            <a:ext cx="274320" cy="457200"/>
          </a:xfrm>
          <a:prstGeom prst="rect">
            <a:avLst/>
          </a:prstGeom>
          <a:noFill/>
          <a:ln/>
        </p:spPr>
        <p:txBody>
          <a:bodyPr wrap="square" rtlCol="0" anchor="ctr"/>
          <a:lstStyle/>
          <a:p>
            <a:pPr marL="0" indent="0" algn="ctr">
              <a:buNone/>
            </a:pPr>
            <a:r>
              <a:rPr lang="en-US" sz="2000" b="1" dirty="0">
                <a:solidFill>
                  <a:srgbClr val="FF7800"/>
                </a:solidFill>
                <a:latin typeface="Poppins" pitchFamily="34" charset="0"/>
                <a:ea typeface="Poppins" pitchFamily="34" charset="-122"/>
                <a:cs typeface="Poppins" pitchFamily="34" charset="-120"/>
              </a:rPr>
              <a:t>→</a:t>
            </a:r>
            <a:endParaRPr lang="en-US" sz="2000" dirty="0"/>
          </a:p>
        </p:txBody>
      </p:sp>
      <p:sp>
        <p:nvSpPr>
          <p:cNvPr id="17" name="Shape 15"/>
          <p:cNvSpPr/>
          <p:nvPr/>
        </p:nvSpPr>
        <p:spPr>
          <a:xfrm>
            <a:off x="9052560" y="2834640"/>
            <a:ext cx="2514600" cy="2011680"/>
          </a:xfrm>
          <a:prstGeom prst="roundRect">
            <a:avLst>
              <a:gd name="adj" fmla="val 3636"/>
            </a:avLst>
          </a:prstGeom>
          <a:solidFill>
            <a:srgbClr val="FF7800"/>
          </a:solidFill>
          <a:ln/>
        </p:spPr>
        <p:txBody>
          <a:bodyPr/>
          <a:lstStyle/>
          <a:p>
            <a:endParaRPr lang="en-US"/>
          </a:p>
        </p:txBody>
      </p:sp>
      <p:sp>
        <p:nvSpPr>
          <p:cNvPr id="18" name="Text 16"/>
          <p:cNvSpPr/>
          <p:nvPr/>
        </p:nvSpPr>
        <p:spPr>
          <a:xfrm>
            <a:off x="9281160" y="3063240"/>
            <a:ext cx="1371600" cy="457200"/>
          </a:xfrm>
          <a:prstGeom prst="rect">
            <a:avLst/>
          </a:prstGeom>
          <a:noFill/>
          <a:ln/>
        </p:spPr>
        <p:txBody>
          <a:bodyPr wrap="square" rtlCol="0" anchor="ctr"/>
          <a:lstStyle/>
          <a:p>
            <a:pPr marL="0" indent="0">
              <a:buNone/>
            </a:pPr>
            <a:r>
              <a:rPr lang="en-US" sz="1600" b="1" dirty="0">
                <a:solidFill>
                  <a:srgbClr val="FFFFFF"/>
                </a:solidFill>
                <a:latin typeface="Poppins" pitchFamily="34" charset="0"/>
                <a:ea typeface="Poppins" pitchFamily="34" charset="-122"/>
                <a:cs typeface="Poppins" pitchFamily="34" charset="-120"/>
              </a:rPr>
              <a:t>04</a:t>
            </a:r>
            <a:endParaRPr lang="en-US" sz="1600" dirty="0"/>
          </a:p>
        </p:txBody>
      </p:sp>
      <p:sp>
        <p:nvSpPr>
          <p:cNvPr id="19" name="Text 17"/>
          <p:cNvSpPr/>
          <p:nvPr/>
        </p:nvSpPr>
        <p:spPr>
          <a:xfrm>
            <a:off x="9281160" y="3611880"/>
            <a:ext cx="2057400" cy="1005840"/>
          </a:xfrm>
          <a:prstGeom prst="rect">
            <a:avLst/>
          </a:prstGeom>
          <a:noFill/>
          <a:ln/>
        </p:spPr>
        <p:txBody>
          <a:bodyPr wrap="square" rtlCol="0" anchor="ctr"/>
          <a:lstStyle/>
          <a:p>
            <a:pPr marL="0" indent="0">
              <a:lnSpc>
                <a:spcPts val="1700"/>
              </a:lnSpc>
              <a:buNone/>
            </a:pPr>
            <a:r>
              <a:rPr lang="en-US" sz="1300" b="1" dirty="0">
                <a:solidFill>
                  <a:srgbClr val="FFFFFF"/>
                </a:solidFill>
                <a:latin typeface="Poppins" pitchFamily="34" charset="0"/>
                <a:ea typeface="Poppins" pitchFamily="34" charset="-122"/>
                <a:cs typeface="Poppins" pitchFamily="34" charset="-120"/>
              </a:rPr>
              <a:t>Accountant reviews</a:t>
            </a:r>
            <a:endParaRPr lang="en-US" sz="1300" dirty="0"/>
          </a:p>
          <a:p>
            <a:pPr marL="0" indent="0">
              <a:lnSpc>
                <a:spcPts val="1700"/>
              </a:lnSpc>
              <a:buNone/>
            </a:pPr>
            <a:r>
              <a:rPr lang="en-US" sz="1300" b="1" dirty="0">
                <a:solidFill>
                  <a:srgbClr val="FFFFFF"/>
                </a:solidFill>
                <a:latin typeface="Poppins" pitchFamily="34" charset="0"/>
                <a:ea typeface="Poppins" pitchFamily="34" charset="-122"/>
                <a:cs typeface="Poppins" pitchFamily="34" charset="-120"/>
              </a:rPr>
              <a:t>before preparation</a:t>
            </a:r>
            <a:endParaRPr lang="en-US" sz="1300" dirty="0"/>
          </a:p>
        </p:txBody>
      </p:sp>
      <p:sp>
        <p:nvSpPr>
          <p:cNvPr id="20" name="Text 18"/>
          <p:cNvSpPr/>
          <p:nvPr/>
        </p:nvSpPr>
        <p:spPr>
          <a:xfrm>
            <a:off x="548640" y="5120640"/>
            <a:ext cx="10698480" cy="548640"/>
          </a:xfrm>
          <a:prstGeom prst="rect">
            <a:avLst/>
          </a:prstGeom>
          <a:noFill/>
          <a:ln/>
        </p:spPr>
        <p:txBody>
          <a:bodyPr wrap="square" rtlCol="0" anchor="ctr"/>
          <a:lstStyle/>
          <a:p>
            <a:pPr marL="0" indent="0">
              <a:lnSpc>
                <a:spcPts val="1700"/>
              </a:lnSpc>
              <a:buNone/>
            </a:pPr>
            <a:r>
              <a:rPr lang="en-US" sz="1250" i="1" dirty="0">
                <a:solidFill>
                  <a:srgbClr val="6B7684"/>
                </a:solidFill>
                <a:latin typeface="Poppins" pitchFamily="34" charset="0"/>
                <a:ea typeface="Poppins" pitchFamily="34" charset="-122"/>
                <a:cs typeface="Poppins" pitchFamily="34" charset="-120"/>
              </a:rPr>
              <a:t>No expectation that the team asks a certain way. If they have the reports, they send them off and get consistent results back.</a:t>
            </a:r>
            <a:endParaRPr lang="en-US" sz="1250" dirty="0"/>
          </a:p>
        </p:txBody>
      </p:sp>
      <p:sp>
        <p:nvSpPr>
          <p:cNvPr id="21" name="Text 19"/>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PART 03 · EXAMPLE</a:t>
            </a:r>
            <a:endParaRPr lang="en-US" sz="900" dirty="0"/>
          </a:p>
        </p:txBody>
      </p:sp>
      <p:sp>
        <p:nvSpPr>
          <p:cNvPr id="22" name="Text 20"/>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TEST PHASE · WHAT'S NEXT</a:t>
            </a:r>
            <a:endParaRPr lang="en-US" sz="1100" dirty="0"/>
          </a:p>
        </p:txBody>
      </p:sp>
      <p:sp>
        <p:nvSpPr>
          <p:cNvPr id="3" name="Text 1"/>
          <p:cNvSpPr/>
          <p:nvPr/>
        </p:nvSpPr>
        <p:spPr>
          <a:xfrm>
            <a:off x="548640" y="777240"/>
            <a:ext cx="10698480" cy="685800"/>
          </a:xfrm>
          <a:prstGeom prst="rect">
            <a:avLst/>
          </a:prstGeom>
          <a:noFill/>
          <a:ln/>
        </p:spPr>
        <p:txBody>
          <a:bodyPr wrap="square" rtlCol="0" anchor="ctr"/>
          <a:lstStyle/>
          <a:p>
            <a:pPr marL="0" indent="0">
              <a:buNone/>
            </a:pPr>
            <a:r>
              <a:rPr lang="en-US" sz="2500" b="1" dirty="0">
                <a:solidFill>
                  <a:srgbClr val="2B3747"/>
                </a:solidFill>
                <a:latin typeface="Poppins" pitchFamily="34" charset="0"/>
                <a:ea typeface="Poppins" pitchFamily="34" charset="-122"/>
                <a:cs typeface="Poppins" pitchFamily="34" charset="-120"/>
              </a:rPr>
              <a:t>We're not done. Here's where it goes next.</a:t>
            </a:r>
            <a:endParaRPr lang="en-US" sz="2500" dirty="0"/>
          </a:p>
        </p:txBody>
      </p:sp>
      <p:sp>
        <p:nvSpPr>
          <p:cNvPr id="4" name="Text 2"/>
          <p:cNvSpPr/>
          <p:nvPr/>
        </p:nvSpPr>
        <p:spPr>
          <a:xfrm>
            <a:off x="548640" y="1600200"/>
            <a:ext cx="9144000" cy="457200"/>
          </a:xfrm>
          <a:prstGeom prst="rect">
            <a:avLst/>
          </a:prstGeom>
          <a:noFill/>
          <a:ln/>
        </p:spPr>
        <p:txBody>
          <a:bodyPr wrap="square" rtlCol="0" anchor="ctr"/>
          <a:lstStyle/>
          <a:p>
            <a:pPr marL="0" indent="0">
              <a:buNone/>
            </a:pPr>
            <a:r>
              <a:rPr lang="en-US" sz="1400" dirty="0">
                <a:solidFill>
                  <a:srgbClr val="6B7684"/>
                </a:solidFill>
                <a:latin typeface="Poppins" pitchFamily="34" charset="0"/>
                <a:ea typeface="Poppins" pitchFamily="34" charset="-122"/>
                <a:cs typeface="Poppins" pitchFamily="34" charset="-120"/>
              </a:rPr>
              <a:t>The moonshots we're still working towards for this exact workflow:</a:t>
            </a:r>
            <a:endParaRPr lang="en-US" sz="1400" dirty="0"/>
          </a:p>
        </p:txBody>
      </p:sp>
      <p:sp>
        <p:nvSpPr>
          <p:cNvPr id="5" name="Shape 3"/>
          <p:cNvSpPr/>
          <p:nvPr/>
        </p:nvSpPr>
        <p:spPr>
          <a:xfrm>
            <a:off x="548640" y="2331720"/>
            <a:ext cx="3520440" cy="2743200"/>
          </a:xfrm>
          <a:prstGeom prst="roundRect">
            <a:avLst>
              <a:gd name="adj" fmla="val 2667"/>
            </a:avLst>
          </a:prstGeom>
          <a:solidFill>
            <a:srgbClr val="2B3747"/>
          </a:solidFill>
          <a:ln/>
        </p:spPr>
        <p:txBody>
          <a:bodyPr/>
          <a:lstStyle/>
          <a:p>
            <a:endParaRPr lang="en-US"/>
          </a:p>
        </p:txBody>
      </p:sp>
      <p:sp>
        <p:nvSpPr>
          <p:cNvPr id="6" name="Shape 4"/>
          <p:cNvSpPr/>
          <p:nvPr/>
        </p:nvSpPr>
        <p:spPr>
          <a:xfrm>
            <a:off x="822960" y="2606040"/>
            <a:ext cx="457200" cy="457200"/>
          </a:xfrm>
          <a:prstGeom prst="ellipse">
            <a:avLst/>
          </a:prstGeom>
          <a:solidFill>
            <a:srgbClr val="6FA73F"/>
          </a:solidFill>
          <a:ln/>
        </p:spPr>
        <p:txBody>
          <a:bodyPr/>
          <a:lstStyle/>
          <a:p>
            <a:endParaRPr lang="en-US"/>
          </a:p>
        </p:txBody>
      </p:sp>
      <p:sp>
        <p:nvSpPr>
          <p:cNvPr id="7" name="Text 5"/>
          <p:cNvSpPr/>
          <p:nvPr/>
        </p:nvSpPr>
        <p:spPr>
          <a:xfrm>
            <a:off x="822960" y="2606040"/>
            <a:ext cx="457200" cy="457200"/>
          </a:xfrm>
          <a:prstGeom prst="rect">
            <a:avLst/>
          </a:prstGeom>
          <a:noFill/>
          <a:ln/>
        </p:spPr>
        <p:txBody>
          <a:bodyPr wrap="square" rtlCol="0" anchor="ctr"/>
          <a:lstStyle/>
          <a:p>
            <a:pPr marL="0" indent="0" algn="ctr">
              <a:buNone/>
            </a:pPr>
            <a:r>
              <a:rPr lang="en-US" sz="1500" b="1" dirty="0">
                <a:solidFill>
                  <a:srgbClr val="2B3747"/>
                </a:solidFill>
                <a:latin typeface="Poppins" pitchFamily="34" charset="0"/>
                <a:ea typeface="Poppins" pitchFamily="34" charset="-122"/>
                <a:cs typeface="Poppins" pitchFamily="34" charset="-120"/>
              </a:rPr>
              <a:t>1</a:t>
            </a:r>
            <a:endParaRPr lang="en-US" sz="1500" dirty="0"/>
          </a:p>
        </p:txBody>
      </p:sp>
      <p:sp>
        <p:nvSpPr>
          <p:cNvPr id="8" name="Text 6"/>
          <p:cNvSpPr/>
          <p:nvPr/>
        </p:nvSpPr>
        <p:spPr>
          <a:xfrm>
            <a:off x="822960" y="3246120"/>
            <a:ext cx="2971800" cy="822960"/>
          </a:xfrm>
          <a:prstGeom prst="rect">
            <a:avLst/>
          </a:prstGeom>
          <a:noFill/>
          <a:ln/>
        </p:spPr>
        <p:txBody>
          <a:bodyPr wrap="square" rtlCol="0" anchor="ctr"/>
          <a:lstStyle/>
          <a:p>
            <a:pPr marL="0" indent="0">
              <a:lnSpc>
                <a:spcPts val="1800"/>
              </a:lnSpc>
              <a:buNone/>
            </a:pPr>
            <a:r>
              <a:rPr lang="en-US" sz="1450" b="1" dirty="0">
                <a:solidFill>
                  <a:srgbClr val="FFFFFF"/>
                </a:solidFill>
                <a:latin typeface="Poppins" pitchFamily="34" charset="0"/>
                <a:ea typeface="Poppins" pitchFamily="34" charset="-122"/>
                <a:cs typeface="Poppins" pitchFamily="34" charset="-120"/>
              </a:rPr>
              <a:t>Automated report extraction</a:t>
            </a:r>
            <a:endParaRPr lang="en-US" sz="1450" dirty="0"/>
          </a:p>
        </p:txBody>
      </p:sp>
      <p:sp>
        <p:nvSpPr>
          <p:cNvPr id="9" name="Text 7"/>
          <p:cNvSpPr/>
          <p:nvPr/>
        </p:nvSpPr>
        <p:spPr>
          <a:xfrm>
            <a:off x="822960" y="4114800"/>
            <a:ext cx="2971800" cy="822960"/>
          </a:xfrm>
          <a:prstGeom prst="rect">
            <a:avLst/>
          </a:prstGeom>
          <a:noFill/>
          <a:ln/>
        </p:spPr>
        <p:txBody>
          <a:bodyPr wrap="square" rtlCol="0" anchor="ctr"/>
          <a:lstStyle/>
          <a:p>
            <a:pPr marL="0" indent="0">
              <a:lnSpc>
                <a:spcPts val="1500"/>
              </a:lnSpc>
              <a:buNone/>
            </a:pPr>
            <a:r>
              <a:rPr lang="en-US" sz="1150" dirty="0">
                <a:solidFill>
                  <a:srgbClr val="C6CCD4"/>
                </a:solidFill>
                <a:latin typeface="Poppins" pitchFamily="34" charset="0"/>
                <a:ea typeface="Poppins" pitchFamily="34" charset="-122"/>
                <a:cs typeface="Poppins" pitchFamily="34" charset="-120"/>
              </a:rPr>
              <a:t>Removing the manual upload step entirely.</a:t>
            </a:r>
            <a:endParaRPr lang="en-US" sz="1150" dirty="0"/>
          </a:p>
        </p:txBody>
      </p:sp>
      <p:sp>
        <p:nvSpPr>
          <p:cNvPr id="10" name="Shape 8"/>
          <p:cNvSpPr/>
          <p:nvPr/>
        </p:nvSpPr>
        <p:spPr>
          <a:xfrm>
            <a:off x="4297680" y="2331720"/>
            <a:ext cx="3520440" cy="2743200"/>
          </a:xfrm>
          <a:prstGeom prst="roundRect">
            <a:avLst>
              <a:gd name="adj" fmla="val 2667"/>
            </a:avLst>
          </a:prstGeom>
          <a:solidFill>
            <a:srgbClr val="2B3747"/>
          </a:solidFill>
          <a:ln/>
        </p:spPr>
        <p:txBody>
          <a:bodyPr/>
          <a:lstStyle/>
          <a:p>
            <a:endParaRPr lang="en-US"/>
          </a:p>
        </p:txBody>
      </p:sp>
      <p:sp>
        <p:nvSpPr>
          <p:cNvPr id="11" name="Shape 9"/>
          <p:cNvSpPr/>
          <p:nvPr/>
        </p:nvSpPr>
        <p:spPr>
          <a:xfrm>
            <a:off x="4572000" y="2606040"/>
            <a:ext cx="457200" cy="457200"/>
          </a:xfrm>
          <a:prstGeom prst="ellipse">
            <a:avLst/>
          </a:prstGeom>
          <a:solidFill>
            <a:srgbClr val="6FA73F"/>
          </a:solidFill>
          <a:ln/>
        </p:spPr>
        <p:txBody>
          <a:bodyPr/>
          <a:lstStyle/>
          <a:p>
            <a:endParaRPr lang="en-US"/>
          </a:p>
        </p:txBody>
      </p:sp>
      <p:sp>
        <p:nvSpPr>
          <p:cNvPr id="12" name="Text 10"/>
          <p:cNvSpPr/>
          <p:nvPr/>
        </p:nvSpPr>
        <p:spPr>
          <a:xfrm>
            <a:off x="4572000" y="2606040"/>
            <a:ext cx="457200" cy="457200"/>
          </a:xfrm>
          <a:prstGeom prst="rect">
            <a:avLst/>
          </a:prstGeom>
          <a:noFill/>
          <a:ln/>
        </p:spPr>
        <p:txBody>
          <a:bodyPr wrap="square" rtlCol="0" anchor="ctr"/>
          <a:lstStyle/>
          <a:p>
            <a:pPr marL="0" indent="0" algn="ctr">
              <a:buNone/>
            </a:pPr>
            <a:r>
              <a:rPr lang="en-US" sz="1500" b="1" dirty="0">
                <a:solidFill>
                  <a:srgbClr val="2B3747"/>
                </a:solidFill>
                <a:latin typeface="Poppins" pitchFamily="34" charset="0"/>
                <a:ea typeface="Poppins" pitchFamily="34" charset="-122"/>
                <a:cs typeface="Poppins" pitchFamily="34" charset="-120"/>
              </a:rPr>
              <a:t>2</a:t>
            </a:r>
            <a:endParaRPr lang="en-US" sz="1500" dirty="0"/>
          </a:p>
        </p:txBody>
      </p:sp>
      <p:sp>
        <p:nvSpPr>
          <p:cNvPr id="13" name="Text 11"/>
          <p:cNvSpPr/>
          <p:nvPr/>
        </p:nvSpPr>
        <p:spPr>
          <a:xfrm>
            <a:off x="4572000" y="3246120"/>
            <a:ext cx="2971800" cy="822960"/>
          </a:xfrm>
          <a:prstGeom prst="rect">
            <a:avLst/>
          </a:prstGeom>
          <a:noFill/>
          <a:ln/>
        </p:spPr>
        <p:txBody>
          <a:bodyPr wrap="square" rtlCol="0" anchor="ctr"/>
          <a:lstStyle/>
          <a:p>
            <a:pPr marL="0" indent="0">
              <a:lnSpc>
                <a:spcPts val="1800"/>
              </a:lnSpc>
              <a:buNone/>
            </a:pPr>
            <a:r>
              <a:rPr lang="en-US" sz="1450" b="1" dirty="0">
                <a:solidFill>
                  <a:srgbClr val="FFFFFF"/>
                </a:solidFill>
                <a:latin typeface="Poppins" pitchFamily="34" charset="0"/>
                <a:ea typeface="Poppins" pitchFamily="34" charset="-122"/>
                <a:cs typeface="Poppins" pitchFamily="34" charset="-120"/>
              </a:rPr>
              <a:t>Automated hand-off to the review agent</a:t>
            </a:r>
            <a:endParaRPr lang="en-US" sz="1450" dirty="0"/>
          </a:p>
        </p:txBody>
      </p:sp>
      <p:sp>
        <p:nvSpPr>
          <p:cNvPr id="14" name="Text 12"/>
          <p:cNvSpPr/>
          <p:nvPr/>
        </p:nvSpPr>
        <p:spPr>
          <a:xfrm>
            <a:off x="4572000" y="4114800"/>
            <a:ext cx="2971800" cy="822960"/>
          </a:xfrm>
          <a:prstGeom prst="rect">
            <a:avLst/>
          </a:prstGeom>
          <a:noFill/>
          <a:ln/>
        </p:spPr>
        <p:txBody>
          <a:bodyPr wrap="square" rtlCol="0" anchor="ctr"/>
          <a:lstStyle/>
          <a:p>
            <a:pPr marL="0" indent="0">
              <a:lnSpc>
                <a:spcPts val="1500"/>
              </a:lnSpc>
              <a:buNone/>
            </a:pPr>
            <a:r>
              <a:rPr lang="en-US" sz="1150" dirty="0">
                <a:solidFill>
                  <a:srgbClr val="C6CCD4"/>
                </a:solidFill>
                <a:latin typeface="Poppins" pitchFamily="34" charset="0"/>
                <a:ea typeface="Poppins" pitchFamily="34" charset="-122"/>
                <a:cs typeface="Poppins" pitchFamily="34" charset="-120"/>
              </a:rPr>
              <a:t>Reports flow straight from Xero into review, no human bridge.</a:t>
            </a:r>
            <a:endParaRPr lang="en-US" sz="1150" dirty="0"/>
          </a:p>
        </p:txBody>
      </p:sp>
      <p:sp>
        <p:nvSpPr>
          <p:cNvPr id="15" name="Shape 13"/>
          <p:cNvSpPr/>
          <p:nvPr/>
        </p:nvSpPr>
        <p:spPr>
          <a:xfrm>
            <a:off x="8046720" y="2331720"/>
            <a:ext cx="3520440" cy="2743200"/>
          </a:xfrm>
          <a:prstGeom prst="roundRect">
            <a:avLst>
              <a:gd name="adj" fmla="val 2667"/>
            </a:avLst>
          </a:prstGeom>
          <a:solidFill>
            <a:srgbClr val="2B3747"/>
          </a:solidFill>
          <a:ln/>
        </p:spPr>
        <p:txBody>
          <a:bodyPr/>
          <a:lstStyle/>
          <a:p>
            <a:endParaRPr lang="en-US"/>
          </a:p>
        </p:txBody>
      </p:sp>
      <p:sp>
        <p:nvSpPr>
          <p:cNvPr id="16" name="Shape 14"/>
          <p:cNvSpPr/>
          <p:nvPr/>
        </p:nvSpPr>
        <p:spPr>
          <a:xfrm>
            <a:off x="8321040" y="2606040"/>
            <a:ext cx="457200" cy="457200"/>
          </a:xfrm>
          <a:prstGeom prst="ellipse">
            <a:avLst/>
          </a:prstGeom>
          <a:solidFill>
            <a:srgbClr val="6FA73F"/>
          </a:solidFill>
          <a:ln/>
        </p:spPr>
        <p:txBody>
          <a:bodyPr/>
          <a:lstStyle/>
          <a:p>
            <a:endParaRPr lang="en-US"/>
          </a:p>
        </p:txBody>
      </p:sp>
      <p:sp>
        <p:nvSpPr>
          <p:cNvPr id="17" name="Text 15"/>
          <p:cNvSpPr/>
          <p:nvPr/>
        </p:nvSpPr>
        <p:spPr>
          <a:xfrm>
            <a:off x="8321040" y="2606040"/>
            <a:ext cx="457200" cy="457200"/>
          </a:xfrm>
          <a:prstGeom prst="rect">
            <a:avLst/>
          </a:prstGeom>
          <a:noFill/>
          <a:ln/>
        </p:spPr>
        <p:txBody>
          <a:bodyPr wrap="square" rtlCol="0" anchor="ctr"/>
          <a:lstStyle/>
          <a:p>
            <a:pPr marL="0" indent="0" algn="ctr">
              <a:buNone/>
            </a:pPr>
            <a:r>
              <a:rPr lang="en-US" sz="1500" b="1" dirty="0">
                <a:solidFill>
                  <a:srgbClr val="2B3747"/>
                </a:solidFill>
                <a:latin typeface="Poppins" pitchFamily="34" charset="0"/>
                <a:ea typeface="Poppins" pitchFamily="34" charset="-122"/>
                <a:cs typeface="Poppins" pitchFamily="34" charset="-120"/>
              </a:rPr>
              <a:t>3</a:t>
            </a:r>
            <a:endParaRPr lang="en-US" sz="1500" dirty="0"/>
          </a:p>
        </p:txBody>
      </p:sp>
      <p:sp>
        <p:nvSpPr>
          <p:cNvPr id="18" name="Text 16"/>
          <p:cNvSpPr/>
          <p:nvPr/>
        </p:nvSpPr>
        <p:spPr>
          <a:xfrm>
            <a:off x="8321040" y="3246120"/>
            <a:ext cx="2971800" cy="822960"/>
          </a:xfrm>
          <a:prstGeom prst="rect">
            <a:avLst/>
          </a:prstGeom>
          <a:noFill/>
          <a:ln/>
        </p:spPr>
        <p:txBody>
          <a:bodyPr wrap="square" rtlCol="0" anchor="ctr"/>
          <a:lstStyle/>
          <a:p>
            <a:pPr marL="0" indent="0">
              <a:lnSpc>
                <a:spcPts val="1800"/>
              </a:lnSpc>
              <a:buNone/>
            </a:pPr>
            <a:r>
              <a:rPr lang="en-US" sz="1450" b="1" dirty="0">
                <a:solidFill>
                  <a:srgbClr val="FFFFFF"/>
                </a:solidFill>
                <a:latin typeface="Poppins" pitchFamily="34" charset="0"/>
                <a:ea typeface="Poppins" pitchFamily="34" charset="-122"/>
                <a:cs typeface="Poppins" pitchFamily="34" charset="-120"/>
              </a:rPr>
              <a:t>Automated preparation aspects</a:t>
            </a:r>
            <a:endParaRPr lang="en-US" sz="1450" dirty="0"/>
          </a:p>
        </p:txBody>
      </p:sp>
      <p:sp>
        <p:nvSpPr>
          <p:cNvPr id="19" name="Text 17"/>
          <p:cNvSpPr/>
          <p:nvPr/>
        </p:nvSpPr>
        <p:spPr>
          <a:xfrm>
            <a:off x="8321040" y="4114800"/>
            <a:ext cx="2971800" cy="822960"/>
          </a:xfrm>
          <a:prstGeom prst="rect">
            <a:avLst/>
          </a:prstGeom>
          <a:noFill/>
          <a:ln/>
        </p:spPr>
        <p:txBody>
          <a:bodyPr wrap="square" rtlCol="0" anchor="ctr"/>
          <a:lstStyle/>
          <a:p>
            <a:pPr marL="0" indent="0">
              <a:lnSpc>
                <a:spcPts val="1500"/>
              </a:lnSpc>
              <a:buNone/>
            </a:pPr>
            <a:r>
              <a:rPr lang="en-US" sz="1150" dirty="0">
                <a:solidFill>
                  <a:srgbClr val="C6CCD4"/>
                </a:solidFill>
                <a:latin typeface="Poppins" pitchFamily="34" charset="0"/>
                <a:ea typeface="Poppins" pitchFamily="34" charset="-122"/>
                <a:cs typeface="Poppins" pitchFamily="34" charset="-120"/>
              </a:rPr>
              <a:t>Letting the agent's output feed directly into BAS preparation.</a:t>
            </a:r>
            <a:endParaRPr lang="en-US" sz="1150" dirty="0"/>
          </a:p>
        </p:txBody>
      </p:sp>
      <p:sp>
        <p:nvSpPr>
          <p:cNvPr id="20" name="Text 18"/>
          <p:cNvSpPr/>
          <p:nvPr/>
        </p:nvSpPr>
        <p:spPr>
          <a:xfrm>
            <a:off x="548640" y="5257800"/>
            <a:ext cx="10698480" cy="457200"/>
          </a:xfrm>
          <a:prstGeom prst="rect">
            <a:avLst/>
          </a:prstGeom>
          <a:noFill/>
          <a:ln/>
        </p:spPr>
        <p:txBody>
          <a:bodyPr wrap="square" rtlCol="0" anchor="ctr"/>
          <a:lstStyle/>
          <a:p>
            <a:pPr marL="0" indent="0">
              <a:buNone/>
            </a:pPr>
            <a:r>
              <a:rPr lang="en-US" sz="1250" i="1" dirty="0">
                <a:solidFill>
                  <a:srgbClr val="6B7684"/>
                </a:solidFill>
                <a:latin typeface="Poppins" pitchFamily="34" charset="0"/>
                <a:ea typeface="Poppins" pitchFamily="34" charset="-122"/>
                <a:cs typeface="Poppins" pitchFamily="34" charset="-120"/>
              </a:rPr>
              <a:t>This is where coming back to the framework helps: RBT, and Eliminate, Automate, Delegate.</a:t>
            </a:r>
            <a:endParaRPr lang="en-US" sz="1250" dirty="0"/>
          </a:p>
        </p:txBody>
      </p:sp>
      <p:sp>
        <p:nvSpPr>
          <p:cNvPr id="21" name="Text 19"/>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PART 03 · EXAMPLE</a:t>
            </a:r>
            <a:endParaRPr lang="en-US" sz="900" dirty="0"/>
          </a:p>
        </p:txBody>
      </p:sp>
      <p:sp>
        <p:nvSpPr>
          <p:cNvPr id="22" name="Text 20"/>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B3747"/>
        </a:solidFill>
        <a:effectLst/>
      </p:bgPr>
    </p:bg>
    <p:spTree>
      <p:nvGrpSpPr>
        <p:cNvPr id="1" name=""/>
        <p:cNvGrpSpPr/>
        <p:nvPr/>
      </p:nvGrpSpPr>
      <p:grpSpPr>
        <a:xfrm>
          <a:off x="0" y="0"/>
          <a:ext cx="0" cy="0"/>
          <a:chOff x="0" y="0"/>
          <a:chExt cx="0" cy="0"/>
        </a:xfrm>
      </p:grpSpPr>
      <p:sp>
        <p:nvSpPr>
          <p:cNvPr id="2" name="Shape 0"/>
          <p:cNvSpPr/>
          <p:nvPr/>
        </p:nvSpPr>
        <p:spPr>
          <a:xfrm>
            <a:off x="10725912" y="-1280160"/>
            <a:ext cx="3108960" cy="3108960"/>
          </a:xfrm>
          <a:prstGeom prst="ellipse">
            <a:avLst/>
          </a:prstGeom>
          <a:solidFill>
            <a:srgbClr val="FF7800"/>
          </a:solidFill>
          <a:ln/>
        </p:spPr>
        <p:txBody>
          <a:bodyPr/>
          <a:lstStyle/>
          <a:p>
            <a:endParaRPr lang="en-US"/>
          </a:p>
        </p:txBody>
      </p:sp>
      <p:sp>
        <p:nvSpPr>
          <p:cNvPr id="3" name="Shape 1"/>
          <p:cNvSpPr/>
          <p:nvPr/>
        </p:nvSpPr>
        <p:spPr>
          <a:xfrm>
            <a:off x="-1463040" y="5394960"/>
            <a:ext cx="2560320" cy="2560320"/>
          </a:xfrm>
          <a:prstGeom prst="ellipse">
            <a:avLst/>
          </a:prstGeom>
          <a:solidFill>
            <a:srgbClr val="6FA73F"/>
          </a:solidFill>
          <a:ln/>
        </p:spPr>
        <p:txBody>
          <a:bodyPr/>
          <a:lstStyle/>
          <a:p>
            <a:endParaRPr lang="en-US"/>
          </a:p>
        </p:txBody>
      </p:sp>
      <p:sp>
        <p:nvSpPr>
          <p:cNvPr id="4" name="Text 2"/>
          <p:cNvSpPr/>
          <p:nvPr/>
        </p:nvSpPr>
        <p:spPr>
          <a:xfrm>
            <a:off x="548640" y="548640"/>
            <a:ext cx="54864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BEFORE WE WRAP</a:t>
            </a:r>
            <a:endParaRPr lang="en-US" sz="1100" dirty="0"/>
          </a:p>
        </p:txBody>
      </p:sp>
      <p:sp>
        <p:nvSpPr>
          <p:cNvPr id="5" name="Text 3"/>
          <p:cNvSpPr/>
          <p:nvPr/>
        </p:nvSpPr>
        <p:spPr>
          <a:xfrm>
            <a:off x="548640" y="2468880"/>
            <a:ext cx="10241280" cy="1554480"/>
          </a:xfrm>
          <a:prstGeom prst="rect">
            <a:avLst/>
          </a:prstGeom>
          <a:noFill/>
          <a:ln/>
        </p:spPr>
        <p:txBody>
          <a:bodyPr wrap="square" rtlCol="0" anchor="ctr"/>
          <a:lstStyle/>
          <a:p>
            <a:pPr marL="0" indent="0">
              <a:lnSpc>
                <a:spcPts val="4000"/>
              </a:lnSpc>
              <a:buNone/>
            </a:pPr>
            <a:r>
              <a:rPr lang="en-US" sz="3400" b="1" dirty="0">
                <a:solidFill>
                  <a:srgbClr val="FFFFFF"/>
                </a:solidFill>
                <a:latin typeface="Poppins" pitchFamily="34" charset="0"/>
                <a:ea typeface="Poppins" pitchFamily="34" charset="-122"/>
                <a:cs typeface="Poppins" pitchFamily="34" charset="-120"/>
              </a:rPr>
              <a:t>Your turn: </a:t>
            </a:r>
            <a:r>
              <a:rPr lang="en-US" sz="3400" b="1" dirty="0">
                <a:solidFill>
                  <a:srgbClr val="FF7800"/>
                </a:solidFill>
                <a:latin typeface="Poppins" pitchFamily="34" charset="0"/>
                <a:ea typeface="Poppins" pitchFamily="34" charset="-122"/>
                <a:cs typeface="Poppins" pitchFamily="34" charset="-120"/>
              </a:rPr>
              <a:t>5 minutes, one workflow</a:t>
            </a:r>
            <a:endParaRPr lang="en-US" sz="3400" dirty="0"/>
          </a:p>
        </p:txBody>
      </p:sp>
      <p:sp>
        <p:nvSpPr>
          <p:cNvPr id="6" name="Text 4"/>
          <p:cNvSpPr/>
          <p:nvPr/>
        </p:nvSpPr>
        <p:spPr>
          <a:xfrm>
            <a:off x="548640" y="4114800"/>
            <a:ext cx="8686800" cy="914400"/>
          </a:xfrm>
          <a:prstGeom prst="rect">
            <a:avLst/>
          </a:prstGeom>
          <a:noFill/>
          <a:ln/>
        </p:spPr>
        <p:txBody>
          <a:bodyPr wrap="square" rtlCol="0" anchor="ctr"/>
          <a:lstStyle/>
          <a:p>
            <a:pPr marL="0" indent="0">
              <a:lnSpc>
                <a:spcPts val="2000"/>
              </a:lnSpc>
              <a:buNone/>
            </a:pPr>
            <a:r>
              <a:rPr lang="en-US" sz="1500" dirty="0">
                <a:solidFill>
                  <a:srgbClr val="C6CCD4"/>
                </a:solidFill>
                <a:latin typeface="Poppins" pitchFamily="34" charset="0"/>
                <a:ea typeface="Poppins" pitchFamily="34" charset="-122"/>
                <a:cs typeface="Poppins" pitchFamily="34" charset="-120"/>
              </a:rPr>
              <a:t>Pick one recurring task in your firm. Which of Eliminate, Automate, or Delegate applies first? Talk it through with the table next to you.</a:t>
            </a:r>
            <a:endParaRPr lang="en-US" sz="1500" dirty="0"/>
          </a:p>
        </p:txBody>
      </p:sp>
      <p:sp>
        <p:nvSpPr>
          <p:cNvPr id="8" name="Text 6"/>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9AA5B1"/>
                </a:solidFill>
                <a:latin typeface="Poppins" pitchFamily="34" charset="0"/>
                <a:ea typeface="Poppins" pitchFamily="34" charset="-122"/>
                <a:cs typeface="Poppins"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KEY TAKEAWAYS</a:t>
            </a:r>
            <a:endParaRPr lang="en-US" sz="1100" dirty="0"/>
          </a:p>
        </p:txBody>
      </p:sp>
      <p:sp>
        <p:nvSpPr>
          <p:cNvPr id="3" name="Text 1"/>
          <p:cNvSpPr/>
          <p:nvPr/>
        </p:nvSpPr>
        <p:spPr>
          <a:xfrm>
            <a:off x="548640" y="777240"/>
            <a:ext cx="10058400" cy="640080"/>
          </a:xfrm>
          <a:prstGeom prst="rect">
            <a:avLst/>
          </a:prstGeom>
          <a:noFill/>
          <a:ln/>
        </p:spPr>
        <p:txBody>
          <a:bodyPr wrap="square" rtlCol="0" anchor="ctr"/>
          <a:lstStyle/>
          <a:p>
            <a:pPr marL="0" indent="0">
              <a:buNone/>
            </a:pPr>
            <a:r>
              <a:rPr lang="en-US" sz="2600" b="1" dirty="0">
                <a:solidFill>
                  <a:srgbClr val="2B3747"/>
                </a:solidFill>
                <a:latin typeface="Poppins" pitchFamily="34" charset="0"/>
                <a:ea typeface="Poppins" pitchFamily="34" charset="-122"/>
                <a:cs typeface="Poppins" pitchFamily="34" charset="-120"/>
              </a:rPr>
              <a:t>Two frameworks, worth screenshotting.</a:t>
            </a:r>
            <a:endParaRPr lang="en-US" sz="2600" dirty="0"/>
          </a:p>
        </p:txBody>
      </p:sp>
      <p:sp>
        <p:nvSpPr>
          <p:cNvPr id="4" name="Shape 2"/>
          <p:cNvSpPr/>
          <p:nvPr/>
        </p:nvSpPr>
        <p:spPr>
          <a:xfrm>
            <a:off x="548640" y="1783080"/>
            <a:ext cx="5257800" cy="3977640"/>
          </a:xfrm>
          <a:prstGeom prst="roundRect">
            <a:avLst>
              <a:gd name="adj" fmla="val 1839"/>
            </a:avLst>
          </a:prstGeom>
          <a:solidFill>
            <a:srgbClr val="FFFFFF"/>
          </a:solidFill>
          <a:ln w="12700">
            <a:solidFill>
              <a:srgbClr val="D9D2C3"/>
            </a:solidFill>
            <a:prstDash val="solid"/>
          </a:ln>
        </p:spPr>
        <p:txBody>
          <a:bodyPr/>
          <a:lstStyle/>
          <a:p>
            <a:endParaRPr lang="en-US"/>
          </a:p>
        </p:txBody>
      </p:sp>
      <p:sp>
        <p:nvSpPr>
          <p:cNvPr id="5" name="Text 3"/>
          <p:cNvSpPr/>
          <p:nvPr/>
        </p:nvSpPr>
        <p:spPr>
          <a:xfrm>
            <a:off x="868680" y="2011680"/>
            <a:ext cx="4663440" cy="320040"/>
          </a:xfrm>
          <a:prstGeom prst="rect">
            <a:avLst/>
          </a:prstGeom>
          <a:noFill/>
          <a:ln/>
        </p:spPr>
        <p:txBody>
          <a:bodyPr wrap="square" rtlCol="0" anchor="ctr"/>
          <a:lstStyle/>
          <a:p>
            <a:pPr marL="0" indent="0">
              <a:buNone/>
            </a:pPr>
            <a:r>
              <a:rPr lang="en-US" sz="1000" b="1" kern="0" spc="100" dirty="0">
                <a:solidFill>
                  <a:srgbClr val="FF7800"/>
                </a:solidFill>
                <a:latin typeface="Poppins" pitchFamily="34" charset="0"/>
                <a:ea typeface="Poppins" pitchFamily="34" charset="-122"/>
                <a:cs typeface="Poppins" pitchFamily="34" charset="-120"/>
              </a:rPr>
              <a:t>BEFORE YOU TOUCH A WORKFLOW</a:t>
            </a:r>
            <a:endParaRPr lang="en-US" sz="1000" dirty="0"/>
          </a:p>
        </p:txBody>
      </p:sp>
      <p:sp>
        <p:nvSpPr>
          <p:cNvPr id="6" name="Text 4"/>
          <p:cNvSpPr/>
          <p:nvPr/>
        </p:nvSpPr>
        <p:spPr>
          <a:xfrm>
            <a:off x="868680" y="2514600"/>
            <a:ext cx="4663440" cy="365760"/>
          </a:xfrm>
          <a:prstGeom prst="rect">
            <a:avLst/>
          </a:prstGeom>
          <a:noFill/>
          <a:ln/>
        </p:spPr>
        <p:txBody>
          <a:bodyPr wrap="square" rtlCol="0" anchor="ctr"/>
          <a:lstStyle/>
          <a:p>
            <a:pPr marL="0" indent="0">
              <a:buNone/>
            </a:pPr>
            <a:r>
              <a:rPr lang="en-US" sz="1600" b="1" dirty="0">
                <a:solidFill>
                  <a:srgbClr val="2B3747"/>
                </a:solidFill>
                <a:latin typeface="Poppins" pitchFamily="34" charset="0"/>
                <a:ea typeface="Poppins" pitchFamily="34" charset="-122"/>
                <a:cs typeface="Poppins" pitchFamily="34" charset="-120"/>
              </a:rPr>
              <a:t>Eliminate</a:t>
            </a:r>
            <a:endParaRPr lang="en-US" sz="1600" dirty="0"/>
          </a:p>
        </p:txBody>
      </p:sp>
      <p:sp>
        <p:nvSpPr>
          <p:cNvPr id="7" name="Text 5"/>
          <p:cNvSpPr/>
          <p:nvPr/>
        </p:nvSpPr>
        <p:spPr>
          <a:xfrm>
            <a:off x="868680" y="2898648"/>
            <a:ext cx="4663440" cy="457200"/>
          </a:xfrm>
          <a:prstGeom prst="rect">
            <a:avLst/>
          </a:prstGeom>
          <a:noFill/>
          <a:ln/>
        </p:spPr>
        <p:txBody>
          <a:bodyPr wrap="square" rtlCol="0" anchor="ctr"/>
          <a:lstStyle/>
          <a:p>
            <a:pPr marL="0" indent="0">
              <a:buNone/>
            </a:pPr>
            <a:r>
              <a:rPr lang="en-US" sz="1200" dirty="0">
                <a:solidFill>
                  <a:srgbClr val="6B7684"/>
                </a:solidFill>
                <a:latin typeface="Poppins" pitchFamily="34" charset="0"/>
                <a:ea typeface="Poppins" pitchFamily="34" charset="-122"/>
                <a:cs typeface="Poppins" pitchFamily="34" charset="-120"/>
              </a:rPr>
              <a:t>Do we need this at all?</a:t>
            </a:r>
            <a:endParaRPr lang="en-US" sz="1200" dirty="0"/>
          </a:p>
        </p:txBody>
      </p:sp>
      <p:sp>
        <p:nvSpPr>
          <p:cNvPr id="8" name="Text 6"/>
          <p:cNvSpPr/>
          <p:nvPr/>
        </p:nvSpPr>
        <p:spPr>
          <a:xfrm>
            <a:off x="868680" y="3520440"/>
            <a:ext cx="4663440" cy="365760"/>
          </a:xfrm>
          <a:prstGeom prst="rect">
            <a:avLst/>
          </a:prstGeom>
          <a:noFill/>
          <a:ln/>
        </p:spPr>
        <p:txBody>
          <a:bodyPr wrap="square" rtlCol="0" anchor="ctr"/>
          <a:lstStyle/>
          <a:p>
            <a:pPr marL="0" indent="0">
              <a:buNone/>
            </a:pPr>
            <a:r>
              <a:rPr lang="en-US" sz="1600" b="1" dirty="0">
                <a:solidFill>
                  <a:srgbClr val="2B3747"/>
                </a:solidFill>
                <a:latin typeface="Poppins" pitchFamily="34" charset="0"/>
                <a:ea typeface="Poppins" pitchFamily="34" charset="-122"/>
                <a:cs typeface="Poppins" pitchFamily="34" charset="-120"/>
              </a:rPr>
              <a:t>Automate</a:t>
            </a:r>
            <a:endParaRPr lang="en-US" sz="1600" dirty="0"/>
          </a:p>
        </p:txBody>
      </p:sp>
      <p:sp>
        <p:nvSpPr>
          <p:cNvPr id="9" name="Text 7"/>
          <p:cNvSpPr/>
          <p:nvPr/>
        </p:nvSpPr>
        <p:spPr>
          <a:xfrm>
            <a:off x="868680" y="3904488"/>
            <a:ext cx="4663440" cy="457200"/>
          </a:xfrm>
          <a:prstGeom prst="rect">
            <a:avLst/>
          </a:prstGeom>
          <a:noFill/>
          <a:ln/>
        </p:spPr>
        <p:txBody>
          <a:bodyPr wrap="square" rtlCol="0" anchor="ctr"/>
          <a:lstStyle/>
          <a:p>
            <a:pPr marL="0" indent="0">
              <a:buNone/>
            </a:pPr>
            <a:r>
              <a:rPr lang="en-US" sz="1200" dirty="0">
                <a:solidFill>
                  <a:srgbClr val="6B7684"/>
                </a:solidFill>
                <a:latin typeface="Poppins" pitchFamily="34" charset="0"/>
                <a:ea typeface="Poppins" pitchFamily="34" charset="-122"/>
                <a:cs typeface="Poppins" pitchFamily="34" charset="-120"/>
              </a:rPr>
              <a:t>Can it run with no input?</a:t>
            </a:r>
            <a:endParaRPr lang="en-US" sz="1200" dirty="0"/>
          </a:p>
        </p:txBody>
      </p:sp>
      <p:sp>
        <p:nvSpPr>
          <p:cNvPr id="10" name="Text 8"/>
          <p:cNvSpPr/>
          <p:nvPr/>
        </p:nvSpPr>
        <p:spPr>
          <a:xfrm>
            <a:off x="868680" y="4526280"/>
            <a:ext cx="4663440" cy="365760"/>
          </a:xfrm>
          <a:prstGeom prst="rect">
            <a:avLst/>
          </a:prstGeom>
          <a:noFill/>
          <a:ln/>
        </p:spPr>
        <p:txBody>
          <a:bodyPr wrap="square" rtlCol="0" anchor="ctr"/>
          <a:lstStyle/>
          <a:p>
            <a:pPr marL="0" indent="0">
              <a:buNone/>
            </a:pPr>
            <a:r>
              <a:rPr lang="en-US" sz="1600" b="1" dirty="0">
                <a:solidFill>
                  <a:srgbClr val="2B3747"/>
                </a:solidFill>
                <a:latin typeface="Poppins" pitchFamily="34" charset="0"/>
                <a:ea typeface="Poppins" pitchFamily="34" charset="-122"/>
                <a:cs typeface="Poppins" pitchFamily="34" charset="-120"/>
              </a:rPr>
              <a:t>Delegate</a:t>
            </a:r>
            <a:endParaRPr lang="en-US" sz="1600" dirty="0"/>
          </a:p>
        </p:txBody>
      </p:sp>
      <p:sp>
        <p:nvSpPr>
          <p:cNvPr id="11" name="Text 9"/>
          <p:cNvSpPr/>
          <p:nvPr/>
        </p:nvSpPr>
        <p:spPr>
          <a:xfrm>
            <a:off x="868680" y="4910328"/>
            <a:ext cx="4663440" cy="457200"/>
          </a:xfrm>
          <a:prstGeom prst="rect">
            <a:avLst/>
          </a:prstGeom>
          <a:noFill/>
          <a:ln/>
        </p:spPr>
        <p:txBody>
          <a:bodyPr wrap="square" rtlCol="0" anchor="ctr"/>
          <a:lstStyle/>
          <a:p>
            <a:pPr marL="0" indent="0">
              <a:buNone/>
            </a:pPr>
            <a:r>
              <a:rPr lang="en-US" sz="1200" dirty="0">
                <a:solidFill>
                  <a:srgbClr val="6B7684"/>
                </a:solidFill>
                <a:latin typeface="Poppins" pitchFamily="34" charset="0"/>
                <a:ea typeface="Poppins" pitchFamily="34" charset="-122"/>
                <a:cs typeface="Poppins" pitchFamily="34" charset="-120"/>
              </a:rPr>
              <a:t>Who — or what system — owns what's left?</a:t>
            </a:r>
            <a:endParaRPr lang="en-US" sz="1200" dirty="0"/>
          </a:p>
        </p:txBody>
      </p:sp>
      <p:sp>
        <p:nvSpPr>
          <p:cNvPr id="12" name="Shape 10"/>
          <p:cNvSpPr/>
          <p:nvPr/>
        </p:nvSpPr>
        <p:spPr>
          <a:xfrm>
            <a:off x="6035040" y="1783080"/>
            <a:ext cx="5394960" cy="3977640"/>
          </a:xfrm>
          <a:prstGeom prst="roundRect">
            <a:avLst>
              <a:gd name="adj" fmla="val 1839"/>
            </a:avLst>
          </a:prstGeom>
          <a:solidFill>
            <a:srgbClr val="2B3747"/>
          </a:solidFill>
          <a:ln/>
        </p:spPr>
        <p:txBody>
          <a:bodyPr/>
          <a:lstStyle/>
          <a:p>
            <a:endParaRPr lang="en-US"/>
          </a:p>
        </p:txBody>
      </p:sp>
      <p:sp>
        <p:nvSpPr>
          <p:cNvPr id="13" name="Text 11"/>
          <p:cNvSpPr/>
          <p:nvPr/>
        </p:nvSpPr>
        <p:spPr>
          <a:xfrm>
            <a:off x="6355080" y="2011680"/>
            <a:ext cx="4754880" cy="320040"/>
          </a:xfrm>
          <a:prstGeom prst="rect">
            <a:avLst/>
          </a:prstGeom>
          <a:noFill/>
          <a:ln/>
        </p:spPr>
        <p:txBody>
          <a:bodyPr wrap="square" rtlCol="0" anchor="ctr"/>
          <a:lstStyle/>
          <a:p>
            <a:pPr marL="0" indent="0">
              <a:buNone/>
            </a:pPr>
            <a:r>
              <a:rPr lang="en-US" sz="1000" b="1" kern="0" spc="100" dirty="0">
                <a:solidFill>
                  <a:srgbClr val="6FA73F"/>
                </a:solidFill>
                <a:latin typeface="Poppins" pitchFamily="34" charset="0"/>
                <a:ea typeface="Poppins" pitchFamily="34" charset="-122"/>
                <a:cs typeface="Poppins" pitchFamily="34" charset="-120"/>
              </a:rPr>
              <a:t>HOW WE ACTION A CHANGE</a:t>
            </a:r>
            <a:endParaRPr lang="en-US" sz="1000" dirty="0"/>
          </a:p>
        </p:txBody>
      </p:sp>
      <p:sp>
        <p:nvSpPr>
          <p:cNvPr id="14" name="Text 12"/>
          <p:cNvSpPr/>
          <p:nvPr/>
        </p:nvSpPr>
        <p:spPr>
          <a:xfrm>
            <a:off x="6355080" y="2514600"/>
            <a:ext cx="4754880" cy="365760"/>
          </a:xfrm>
          <a:prstGeom prst="rect">
            <a:avLst/>
          </a:prstGeom>
          <a:noFill/>
          <a:ln/>
        </p:spPr>
        <p:txBody>
          <a:bodyPr wrap="square" rtlCol="0" anchor="ctr"/>
          <a:lstStyle/>
          <a:p>
            <a:pPr marL="0" indent="0">
              <a:buNone/>
            </a:pPr>
            <a:r>
              <a:rPr lang="en-US" sz="1600" b="1" dirty="0">
                <a:solidFill>
                  <a:srgbClr val="FFFFFF"/>
                </a:solidFill>
                <a:latin typeface="Poppins" pitchFamily="34" charset="0"/>
                <a:ea typeface="Poppins" pitchFamily="34" charset="-122"/>
                <a:cs typeface="Poppins" pitchFamily="34" charset="-120"/>
              </a:rPr>
              <a:t>Research</a:t>
            </a:r>
            <a:endParaRPr lang="en-US" sz="1600" dirty="0"/>
          </a:p>
        </p:txBody>
      </p:sp>
      <p:sp>
        <p:nvSpPr>
          <p:cNvPr id="15" name="Text 13"/>
          <p:cNvSpPr/>
          <p:nvPr/>
        </p:nvSpPr>
        <p:spPr>
          <a:xfrm>
            <a:off x="6355080" y="2898648"/>
            <a:ext cx="4754880" cy="457200"/>
          </a:xfrm>
          <a:prstGeom prst="rect">
            <a:avLst/>
          </a:prstGeom>
          <a:noFill/>
          <a:ln/>
        </p:spPr>
        <p:txBody>
          <a:bodyPr wrap="square" rtlCol="0" anchor="ctr"/>
          <a:lstStyle/>
          <a:p>
            <a:pPr marL="0" indent="0">
              <a:buNone/>
            </a:pPr>
            <a:r>
              <a:rPr lang="en-US" sz="1200" dirty="0">
                <a:solidFill>
                  <a:srgbClr val="C6CCD4"/>
                </a:solidFill>
                <a:latin typeface="Poppins" pitchFamily="34" charset="0"/>
                <a:ea typeface="Poppins" pitchFamily="34" charset="-122"/>
                <a:cs typeface="Poppins" pitchFamily="34" charset="-120"/>
              </a:rPr>
              <a:t>Know the problem and your own systems first.</a:t>
            </a:r>
            <a:endParaRPr lang="en-US" sz="1200" dirty="0"/>
          </a:p>
        </p:txBody>
      </p:sp>
      <p:sp>
        <p:nvSpPr>
          <p:cNvPr id="16" name="Text 14"/>
          <p:cNvSpPr/>
          <p:nvPr/>
        </p:nvSpPr>
        <p:spPr>
          <a:xfrm>
            <a:off x="6355080" y="3520440"/>
            <a:ext cx="4754880" cy="365760"/>
          </a:xfrm>
          <a:prstGeom prst="rect">
            <a:avLst/>
          </a:prstGeom>
          <a:noFill/>
          <a:ln/>
        </p:spPr>
        <p:txBody>
          <a:bodyPr wrap="square" rtlCol="0" anchor="ctr"/>
          <a:lstStyle/>
          <a:p>
            <a:pPr marL="0" indent="0">
              <a:buNone/>
            </a:pPr>
            <a:r>
              <a:rPr lang="en-US" sz="1600" b="1" dirty="0">
                <a:solidFill>
                  <a:srgbClr val="FFFFFF"/>
                </a:solidFill>
                <a:latin typeface="Poppins" pitchFamily="34" charset="0"/>
                <a:ea typeface="Poppins" pitchFamily="34" charset="-122"/>
                <a:cs typeface="Poppins" pitchFamily="34" charset="-120"/>
              </a:rPr>
              <a:t>Build</a:t>
            </a:r>
            <a:endParaRPr lang="en-US" sz="1600" dirty="0"/>
          </a:p>
        </p:txBody>
      </p:sp>
      <p:sp>
        <p:nvSpPr>
          <p:cNvPr id="17" name="Text 15"/>
          <p:cNvSpPr/>
          <p:nvPr/>
        </p:nvSpPr>
        <p:spPr>
          <a:xfrm>
            <a:off x="6355080" y="3904488"/>
            <a:ext cx="4754880" cy="457200"/>
          </a:xfrm>
          <a:prstGeom prst="rect">
            <a:avLst/>
          </a:prstGeom>
          <a:noFill/>
          <a:ln/>
        </p:spPr>
        <p:txBody>
          <a:bodyPr wrap="square" rtlCol="0" anchor="ctr"/>
          <a:lstStyle/>
          <a:p>
            <a:pPr marL="0" indent="0">
              <a:buNone/>
            </a:pPr>
            <a:r>
              <a:rPr lang="en-US" sz="1200" dirty="0">
                <a:solidFill>
                  <a:srgbClr val="C6CCD4"/>
                </a:solidFill>
                <a:latin typeface="Poppins" pitchFamily="34" charset="0"/>
                <a:ea typeface="Poppins" pitchFamily="34" charset="-122"/>
                <a:cs typeface="Poppins" pitchFamily="34" charset="-120"/>
              </a:rPr>
              <a:t>Map the solution — MVS and moonshot together.</a:t>
            </a:r>
            <a:endParaRPr lang="en-US" sz="1200" dirty="0"/>
          </a:p>
        </p:txBody>
      </p:sp>
      <p:sp>
        <p:nvSpPr>
          <p:cNvPr id="18" name="Text 16"/>
          <p:cNvSpPr/>
          <p:nvPr/>
        </p:nvSpPr>
        <p:spPr>
          <a:xfrm>
            <a:off x="6355080" y="4526280"/>
            <a:ext cx="4754880" cy="365760"/>
          </a:xfrm>
          <a:prstGeom prst="rect">
            <a:avLst/>
          </a:prstGeom>
          <a:noFill/>
          <a:ln/>
        </p:spPr>
        <p:txBody>
          <a:bodyPr wrap="square" rtlCol="0" anchor="ctr"/>
          <a:lstStyle/>
          <a:p>
            <a:pPr marL="0" indent="0">
              <a:buNone/>
            </a:pPr>
            <a:r>
              <a:rPr lang="en-US" sz="1600" b="1" dirty="0">
                <a:solidFill>
                  <a:srgbClr val="FFFFFF"/>
                </a:solidFill>
                <a:latin typeface="Poppins" pitchFamily="34" charset="0"/>
                <a:ea typeface="Poppins" pitchFamily="34" charset="-122"/>
                <a:cs typeface="Poppins" pitchFamily="34" charset="-120"/>
              </a:rPr>
              <a:t>Test</a:t>
            </a:r>
            <a:endParaRPr lang="en-US" sz="1600" dirty="0"/>
          </a:p>
        </p:txBody>
      </p:sp>
      <p:sp>
        <p:nvSpPr>
          <p:cNvPr id="19" name="Text 17"/>
          <p:cNvSpPr/>
          <p:nvPr/>
        </p:nvSpPr>
        <p:spPr>
          <a:xfrm>
            <a:off x="6355080" y="4910328"/>
            <a:ext cx="4754880" cy="457200"/>
          </a:xfrm>
          <a:prstGeom prst="rect">
            <a:avLst/>
          </a:prstGeom>
          <a:noFill/>
          <a:ln/>
        </p:spPr>
        <p:txBody>
          <a:bodyPr wrap="square" rtlCol="0" anchor="ctr"/>
          <a:lstStyle/>
          <a:p>
            <a:pPr marL="0" indent="0">
              <a:buNone/>
            </a:pPr>
            <a:r>
              <a:rPr lang="en-US" sz="1200" dirty="0">
                <a:solidFill>
                  <a:srgbClr val="C6CCD4"/>
                </a:solidFill>
                <a:latin typeface="Poppins" pitchFamily="34" charset="0"/>
                <a:ea typeface="Poppins" pitchFamily="34" charset="-122"/>
                <a:cs typeface="Poppins" pitchFamily="34" charset="-120"/>
              </a:rPr>
              <a:t>Expect to loop back to Build. That's the process working.</a:t>
            </a:r>
            <a:endParaRPr lang="en-US" sz="1200" dirty="0"/>
          </a:p>
        </p:txBody>
      </p:sp>
      <p:sp>
        <p:nvSpPr>
          <p:cNvPr id="20" name="Text 18"/>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WRAP UP</a:t>
            </a:r>
            <a:endParaRPr lang="en-US" sz="900" dirty="0"/>
          </a:p>
        </p:txBody>
      </p:sp>
      <p:sp>
        <p:nvSpPr>
          <p:cNvPr id="21" name="Text 19"/>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1EA"/>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TAKE THESE WITH YOU</a:t>
            </a:r>
            <a:endParaRPr lang="en-US" sz="1100" dirty="0"/>
          </a:p>
        </p:txBody>
      </p:sp>
      <p:sp>
        <p:nvSpPr>
          <p:cNvPr id="3" name="Text 1"/>
          <p:cNvSpPr/>
          <p:nvPr/>
        </p:nvSpPr>
        <p:spPr>
          <a:xfrm>
            <a:off x="548640" y="777240"/>
            <a:ext cx="9144000" cy="640080"/>
          </a:xfrm>
          <a:prstGeom prst="rect">
            <a:avLst/>
          </a:prstGeom>
          <a:noFill/>
          <a:ln/>
        </p:spPr>
        <p:txBody>
          <a:bodyPr wrap="square" rtlCol="0" anchor="ctr"/>
          <a:lstStyle/>
          <a:p>
            <a:pPr marL="0" indent="0">
              <a:buNone/>
            </a:pPr>
            <a:r>
              <a:rPr lang="en-US" sz="2800" b="1" dirty="0">
                <a:solidFill>
                  <a:srgbClr val="2B3747"/>
                </a:solidFill>
                <a:latin typeface="Poppins" pitchFamily="34" charset="0"/>
                <a:ea typeface="Poppins" pitchFamily="34" charset="-122"/>
                <a:cs typeface="Poppins" pitchFamily="34" charset="-120"/>
              </a:rPr>
              <a:t>Resources &amp; links.</a:t>
            </a:r>
            <a:endParaRPr lang="en-US" sz="2800" dirty="0"/>
          </a:p>
        </p:txBody>
      </p:sp>
      <p:sp>
        <p:nvSpPr>
          <p:cNvPr id="4" name="Shape 2"/>
          <p:cNvSpPr/>
          <p:nvPr/>
        </p:nvSpPr>
        <p:spPr>
          <a:xfrm>
            <a:off x="548640" y="1920240"/>
            <a:ext cx="3520440" cy="2651760"/>
          </a:xfrm>
          <a:prstGeom prst="roundRect">
            <a:avLst>
              <a:gd name="adj" fmla="val 2759"/>
            </a:avLst>
          </a:prstGeom>
          <a:solidFill>
            <a:srgbClr val="FFFFFF"/>
          </a:solidFill>
          <a:ln w="12700">
            <a:solidFill>
              <a:srgbClr val="D9D2C3"/>
            </a:solidFill>
            <a:prstDash val="solid"/>
          </a:ln>
        </p:spPr>
        <p:txBody>
          <a:bodyPr/>
          <a:lstStyle/>
          <a:p>
            <a:endParaRPr lang="en-US"/>
          </a:p>
        </p:txBody>
      </p:sp>
      <p:sp>
        <p:nvSpPr>
          <p:cNvPr id="5" name="Shape 3"/>
          <p:cNvSpPr/>
          <p:nvPr/>
        </p:nvSpPr>
        <p:spPr>
          <a:xfrm>
            <a:off x="822960" y="2194560"/>
            <a:ext cx="457200" cy="457200"/>
          </a:xfrm>
          <a:prstGeom prst="ellipse">
            <a:avLst/>
          </a:prstGeom>
          <a:solidFill>
            <a:srgbClr val="FF7800"/>
          </a:solidFill>
          <a:ln/>
        </p:spPr>
        <p:txBody>
          <a:bodyPr/>
          <a:lstStyle/>
          <a:p>
            <a:endParaRPr lang="en-US"/>
          </a:p>
        </p:txBody>
      </p:sp>
      <p:sp>
        <p:nvSpPr>
          <p:cNvPr id="6" name="Text 4"/>
          <p:cNvSpPr/>
          <p:nvPr/>
        </p:nvSpPr>
        <p:spPr>
          <a:xfrm>
            <a:off x="822960" y="2194560"/>
            <a:ext cx="457200" cy="457200"/>
          </a:xfrm>
          <a:prstGeom prst="rect">
            <a:avLst/>
          </a:prstGeom>
          <a:noFill/>
          <a:ln/>
        </p:spPr>
        <p:txBody>
          <a:bodyPr wrap="square"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1</a:t>
            </a:r>
            <a:endParaRPr lang="en-US" sz="1500" dirty="0"/>
          </a:p>
        </p:txBody>
      </p:sp>
      <p:sp>
        <p:nvSpPr>
          <p:cNvPr id="7" name="Text 5"/>
          <p:cNvSpPr/>
          <p:nvPr/>
        </p:nvSpPr>
        <p:spPr>
          <a:xfrm>
            <a:off x="822960" y="2834640"/>
            <a:ext cx="2971800" cy="640080"/>
          </a:xfrm>
          <a:prstGeom prst="rect">
            <a:avLst/>
          </a:prstGeom>
          <a:noFill/>
          <a:ln/>
        </p:spPr>
        <p:txBody>
          <a:bodyPr wrap="square" rtlCol="0" anchor="ctr"/>
          <a:lstStyle/>
          <a:p>
            <a:pPr marL="0" indent="0">
              <a:lnSpc>
                <a:spcPts val="1900"/>
              </a:lnSpc>
              <a:buNone/>
            </a:pPr>
            <a:r>
              <a:rPr lang="en-US" sz="1500" b="1" dirty="0">
                <a:solidFill>
                  <a:srgbClr val="2B3747"/>
                </a:solidFill>
                <a:latin typeface="Poppins" pitchFamily="34" charset="0"/>
                <a:ea typeface="Poppins" pitchFamily="34" charset="-122"/>
                <a:cs typeface="Poppins" pitchFamily="34" charset="-120"/>
              </a:rPr>
              <a:t>YouTube playlist</a:t>
            </a:r>
            <a:endParaRPr lang="en-US" sz="1500" dirty="0"/>
          </a:p>
        </p:txBody>
      </p:sp>
      <p:sp>
        <p:nvSpPr>
          <p:cNvPr id="8" name="Text 6"/>
          <p:cNvSpPr/>
          <p:nvPr/>
        </p:nvSpPr>
        <p:spPr>
          <a:xfrm>
            <a:off x="822960" y="3474720"/>
            <a:ext cx="2971800" cy="914400"/>
          </a:xfrm>
          <a:prstGeom prst="rect">
            <a:avLst/>
          </a:prstGeom>
          <a:noFill/>
          <a:ln/>
        </p:spPr>
        <p:txBody>
          <a:bodyPr wrap="square" rtlCol="0" anchor="ctr"/>
          <a:lstStyle/>
          <a:p>
            <a:pPr marL="0" indent="0">
              <a:lnSpc>
                <a:spcPts val="1500"/>
              </a:lnSpc>
              <a:buNone/>
            </a:pPr>
            <a:r>
              <a:rPr lang="en-US" sz="1150" dirty="0">
                <a:solidFill>
                  <a:srgbClr val="6B7684"/>
                </a:solidFill>
                <a:latin typeface="Poppins" pitchFamily="34" charset="0"/>
                <a:ea typeface="Poppins" pitchFamily="34" charset="-122"/>
                <a:cs typeface="Poppins" pitchFamily="34" charset="-120"/>
              </a:rPr>
              <a:t>Full AI demos referenced throughout today's talk.</a:t>
            </a:r>
            <a:endParaRPr lang="en-US" sz="1150" dirty="0"/>
          </a:p>
        </p:txBody>
      </p:sp>
      <p:sp>
        <p:nvSpPr>
          <p:cNvPr id="9" name="Shape 7"/>
          <p:cNvSpPr/>
          <p:nvPr/>
        </p:nvSpPr>
        <p:spPr>
          <a:xfrm>
            <a:off x="4297680" y="1920240"/>
            <a:ext cx="3520440" cy="2651760"/>
          </a:xfrm>
          <a:prstGeom prst="roundRect">
            <a:avLst>
              <a:gd name="adj" fmla="val 2759"/>
            </a:avLst>
          </a:prstGeom>
          <a:solidFill>
            <a:srgbClr val="FFFFFF"/>
          </a:solidFill>
          <a:ln w="12700">
            <a:solidFill>
              <a:srgbClr val="D9D2C3"/>
            </a:solidFill>
            <a:prstDash val="solid"/>
          </a:ln>
        </p:spPr>
        <p:txBody>
          <a:bodyPr/>
          <a:lstStyle/>
          <a:p>
            <a:endParaRPr lang="en-US"/>
          </a:p>
        </p:txBody>
      </p:sp>
      <p:sp>
        <p:nvSpPr>
          <p:cNvPr id="10" name="Shape 8"/>
          <p:cNvSpPr/>
          <p:nvPr/>
        </p:nvSpPr>
        <p:spPr>
          <a:xfrm>
            <a:off x="4572000" y="2194560"/>
            <a:ext cx="457200" cy="457200"/>
          </a:xfrm>
          <a:prstGeom prst="ellipse">
            <a:avLst/>
          </a:prstGeom>
          <a:solidFill>
            <a:srgbClr val="FF7800"/>
          </a:solidFill>
          <a:ln/>
        </p:spPr>
        <p:txBody>
          <a:bodyPr/>
          <a:lstStyle/>
          <a:p>
            <a:endParaRPr lang="en-US"/>
          </a:p>
        </p:txBody>
      </p:sp>
      <p:sp>
        <p:nvSpPr>
          <p:cNvPr id="11" name="Text 9"/>
          <p:cNvSpPr/>
          <p:nvPr/>
        </p:nvSpPr>
        <p:spPr>
          <a:xfrm>
            <a:off x="4572000" y="2194560"/>
            <a:ext cx="457200" cy="457200"/>
          </a:xfrm>
          <a:prstGeom prst="rect">
            <a:avLst/>
          </a:prstGeom>
          <a:noFill/>
          <a:ln/>
        </p:spPr>
        <p:txBody>
          <a:bodyPr wrap="square"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2</a:t>
            </a:r>
            <a:endParaRPr lang="en-US" sz="1500" dirty="0"/>
          </a:p>
        </p:txBody>
      </p:sp>
      <p:sp>
        <p:nvSpPr>
          <p:cNvPr id="12" name="Text 10"/>
          <p:cNvSpPr/>
          <p:nvPr/>
        </p:nvSpPr>
        <p:spPr>
          <a:xfrm>
            <a:off x="4572000" y="2834640"/>
            <a:ext cx="2971800" cy="640080"/>
          </a:xfrm>
          <a:prstGeom prst="rect">
            <a:avLst/>
          </a:prstGeom>
          <a:noFill/>
          <a:ln/>
        </p:spPr>
        <p:txBody>
          <a:bodyPr wrap="square" rtlCol="0" anchor="ctr"/>
          <a:lstStyle/>
          <a:p>
            <a:pPr marL="0" indent="0">
              <a:lnSpc>
                <a:spcPts val="1900"/>
              </a:lnSpc>
              <a:buNone/>
            </a:pPr>
            <a:r>
              <a:rPr lang="en-US" sz="1500" b="1" dirty="0">
                <a:solidFill>
                  <a:srgbClr val="2B3747"/>
                </a:solidFill>
                <a:latin typeface="Poppins" pitchFamily="34" charset="0"/>
                <a:ea typeface="Poppins" pitchFamily="34" charset="-122"/>
                <a:cs typeface="Poppins" pitchFamily="34" charset="-120"/>
              </a:rPr>
              <a:t>LinkedIn — @beaugaudron</a:t>
            </a:r>
            <a:endParaRPr lang="en-US" sz="1500" dirty="0"/>
          </a:p>
        </p:txBody>
      </p:sp>
      <p:sp>
        <p:nvSpPr>
          <p:cNvPr id="13" name="Text 11"/>
          <p:cNvSpPr/>
          <p:nvPr/>
        </p:nvSpPr>
        <p:spPr>
          <a:xfrm>
            <a:off x="4572000" y="3474720"/>
            <a:ext cx="2971800" cy="914400"/>
          </a:xfrm>
          <a:prstGeom prst="rect">
            <a:avLst/>
          </a:prstGeom>
          <a:noFill/>
          <a:ln/>
        </p:spPr>
        <p:txBody>
          <a:bodyPr wrap="square" rtlCol="0" anchor="ctr"/>
          <a:lstStyle/>
          <a:p>
            <a:pPr marL="0" indent="0">
              <a:lnSpc>
                <a:spcPts val="1500"/>
              </a:lnSpc>
              <a:buNone/>
            </a:pPr>
            <a:r>
              <a:rPr lang="en-US" sz="1150" dirty="0">
                <a:solidFill>
                  <a:srgbClr val="6B7684"/>
                </a:solidFill>
                <a:latin typeface="Poppins" pitchFamily="34" charset="0"/>
                <a:ea typeface="Poppins" pitchFamily="34" charset="-122"/>
                <a:cs typeface="Poppins" pitchFamily="34" charset="-120"/>
              </a:rPr>
              <a:t>Recent videos and posts on the workflows we've shipped.</a:t>
            </a:r>
            <a:endParaRPr lang="en-US" sz="1150" dirty="0"/>
          </a:p>
        </p:txBody>
      </p:sp>
      <p:sp>
        <p:nvSpPr>
          <p:cNvPr id="14" name="Shape 12"/>
          <p:cNvSpPr/>
          <p:nvPr/>
        </p:nvSpPr>
        <p:spPr>
          <a:xfrm>
            <a:off x="8046720" y="1920240"/>
            <a:ext cx="3520440" cy="2651760"/>
          </a:xfrm>
          <a:prstGeom prst="roundRect">
            <a:avLst>
              <a:gd name="adj" fmla="val 2759"/>
            </a:avLst>
          </a:prstGeom>
          <a:solidFill>
            <a:srgbClr val="FFFFFF"/>
          </a:solidFill>
          <a:ln w="12700">
            <a:solidFill>
              <a:srgbClr val="D9D2C3"/>
            </a:solidFill>
            <a:prstDash val="solid"/>
          </a:ln>
        </p:spPr>
        <p:txBody>
          <a:bodyPr/>
          <a:lstStyle/>
          <a:p>
            <a:endParaRPr lang="en-US"/>
          </a:p>
        </p:txBody>
      </p:sp>
      <p:sp>
        <p:nvSpPr>
          <p:cNvPr id="15" name="Shape 13"/>
          <p:cNvSpPr/>
          <p:nvPr/>
        </p:nvSpPr>
        <p:spPr>
          <a:xfrm>
            <a:off x="8321040" y="2194560"/>
            <a:ext cx="457200" cy="457200"/>
          </a:xfrm>
          <a:prstGeom prst="ellipse">
            <a:avLst/>
          </a:prstGeom>
          <a:solidFill>
            <a:srgbClr val="FF7800"/>
          </a:solidFill>
          <a:ln/>
        </p:spPr>
        <p:txBody>
          <a:bodyPr/>
          <a:lstStyle/>
          <a:p>
            <a:endParaRPr lang="en-US"/>
          </a:p>
        </p:txBody>
      </p:sp>
      <p:sp>
        <p:nvSpPr>
          <p:cNvPr id="16" name="Text 14"/>
          <p:cNvSpPr/>
          <p:nvPr/>
        </p:nvSpPr>
        <p:spPr>
          <a:xfrm>
            <a:off x="8321040" y="2194560"/>
            <a:ext cx="457200" cy="457200"/>
          </a:xfrm>
          <a:prstGeom prst="rect">
            <a:avLst/>
          </a:prstGeom>
          <a:noFill/>
          <a:ln/>
        </p:spPr>
        <p:txBody>
          <a:bodyPr wrap="square"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3</a:t>
            </a:r>
            <a:endParaRPr lang="en-US" sz="1500" dirty="0"/>
          </a:p>
        </p:txBody>
      </p:sp>
      <p:sp>
        <p:nvSpPr>
          <p:cNvPr id="17" name="Text 15"/>
          <p:cNvSpPr/>
          <p:nvPr/>
        </p:nvSpPr>
        <p:spPr>
          <a:xfrm>
            <a:off x="8321040" y="2834640"/>
            <a:ext cx="3246120" cy="640080"/>
          </a:xfrm>
          <a:prstGeom prst="rect">
            <a:avLst/>
          </a:prstGeom>
          <a:noFill/>
          <a:ln/>
        </p:spPr>
        <p:txBody>
          <a:bodyPr wrap="square" rtlCol="0" anchor="ctr"/>
          <a:lstStyle/>
          <a:p>
            <a:pPr marL="0" indent="0">
              <a:lnSpc>
                <a:spcPts val="1900"/>
              </a:lnSpc>
              <a:buNone/>
            </a:pPr>
            <a:r>
              <a:rPr lang="en-US" sz="1500" b="1" dirty="0">
                <a:solidFill>
                  <a:srgbClr val="2B3747"/>
                </a:solidFill>
                <a:latin typeface="Poppins" pitchFamily="34" charset="0"/>
                <a:ea typeface="Poppins" pitchFamily="34" charset="-122"/>
                <a:cs typeface="Poppins" pitchFamily="34" charset="-120"/>
              </a:rPr>
              <a:t>Skill template (download)</a:t>
            </a:r>
          </a:p>
          <a:p>
            <a:pPr marL="0" indent="0">
              <a:lnSpc>
                <a:spcPts val="1900"/>
              </a:lnSpc>
              <a:buNone/>
            </a:pPr>
            <a:r>
              <a:rPr lang="en-US" sz="1500" b="1" dirty="0">
                <a:solidFill>
                  <a:srgbClr val="2B3747"/>
                </a:solidFill>
                <a:latin typeface="Poppins" pitchFamily="34" charset="0"/>
                <a:cs typeface="Poppins" pitchFamily="34" charset="-120"/>
              </a:rPr>
              <a:t>github.com/</a:t>
            </a:r>
            <a:r>
              <a:rPr lang="en-US" sz="1500" b="1" dirty="0" err="1">
                <a:solidFill>
                  <a:srgbClr val="2B3747"/>
                </a:solidFill>
                <a:latin typeface="Poppins" pitchFamily="34" charset="0"/>
                <a:cs typeface="Poppins" pitchFamily="34" charset="-120"/>
              </a:rPr>
              <a:t>growthwise</a:t>
            </a:r>
            <a:r>
              <a:rPr lang="en-US" sz="1500" b="1" dirty="0">
                <a:solidFill>
                  <a:srgbClr val="2B3747"/>
                </a:solidFill>
                <a:latin typeface="Poppins" pitchFamily="34" charset="0"/>
                <a:cs typeface="Poppins" pitchFamily="34" charset="-120"/>
              </a:rPr>
              <a:t>/</a:t>
            </a:r>
            <a:r>
              <a:rPr lang="en-US" sz="1500" b="1" dirty="0" err="1">
                <a:solidFill>
                  <a:srgbClr val="2B3747"/>
                </a:solidFill>
                <a:latin typeface="Poppins" pitchFamily="34" charset="0"/>
                <a:cs typeface="Poppins" pitchFamily="34" charset="-120"/>
              </a:rPr>
              <a:t>snare_summit</a:t>
            </a:r>
            <a:endParaRPr lang="en-US" sz="1500" dirty="0"/>
          </a:p>
        </p:txBody>
      </p:sp>
      <p:sp>
        <p:nvSpPr>
          <p:cNvPr id="18" name="Text 16"/>
          <p:cNvSpPr/>
          <p:nvPr/>
        </p:nvSpPr>
        <p:spPr>
          <a:xfrm>
            <a:off x="8321040" y="3474720"/>
            <a:ext cx="2971800" cy="914400"/>
          </a:xfrm>
          <a:prstGeom prst="rect">
            <a:avLst/>
          </a:prstGeom>
          <a:noFill/>
          <a:ln/>
        </p:spPr>
        <p:txBody>
          <a:bodyPr wrap="square" rtlCol="0" anchor="ctr"/>
          <a:lstStyle/>
          <a:p>
            <a:pPr marL="0" indent="0">
              <a:lnSpc>
                <a:spcPts val="1500"/>
              </a:lnSpc>
              <a:buNone/>
            </a:pPr>
            <a:r>
              <a:rPr lang="en-US" sz="1150" dirty="0">
                <a:solidFill>
                  <a:srgbClr val="6B7684"/>
                </a:solidFill>
                <a:latin typeface="Poppins" pitchFamily="34" charset="0"/>
                <a:ea typeface="Poppins" pitchFamily="34" charset="-122"/>
                <a:cs typeface="Poppins" pitchFamily="34" charset="-120"/>
              </a:rPr>
              <a:t>The reviewer skill template — try it on your own reports.</a:t>
            </a:r>
            <a:endParaRPr lang="en-US" sz="1150" dirty="0"/>
          </a:p>
        </p:txBody>
      </p:sp>
      <p:sp>
        <p:nvSpPr>
          <p:cNvPr id="19" name="Text 17"/>
          <p:cNvSpPr/>
          <p:nvPr/>
        </p:nvSpPr>
        <p:spPr>
          <a:xfrm>
            <a:off x="548640" y="4892040"/>
            <a:ext cx="10698480" cy="457200"/>
          </a:xfrm>
          <a:prstGeom prst="rect">
            <a:avLst/>
          </a:prstGeom>
          <a:noFill/>
          <a:ln/>
        </p:spPr>
        <p:txBody>
          <a:bodyPr wrap="square" rtlCol="0" anchor="ctr"/>
          <a:lstStyle/>
          <a:p>
            <a:pPr marL="0" indent="0">
              <a:buNone/>
            </a:pPr>
            <a:r>
              <a:rPr lang="en-US" sz="1200" i="1" dirty="0">
                <a:solidFill>
                  <a:srgbClr val="6B7684"/>
                </a:solidFill>
                <a:latin typeface="Poppins" pitchFamily="34" charset="0"/>
                <a:ea typeface="Poppins" pitchFamily="34" charset="-122"/>
                <a:cs typeface="Poppins" pitchFamily="34" charset="-120"/>
              </a:rPr>
              <a:t>All links are in the event chat — no need to scan or type anything out.</a:t>
            </a:r>
            <a:endParaRPr lang="en-US" sz="1200" dirty="0"/>
          </a:p>
        </p:txBody>
      </p:sp>
      <p:sp>
        <p:nvSpPr>
          <p:cNvPr id="20" name="Text 18"/>
          <p:cNvSpPr/>
          <p:nvPr/>
        </p:nvSpPr>
        <p:spPr>
          <a:xfrm>
            <a:off x="457200" y="6400800"/>
            <a:ext cx="6400800" cy="274320"/>
          </a:xfrm>
          <a:prstGeom prst="rect">
            <a:avLst/>
          </a:prstGeom>
          <a:noFill/>
          <a:ln/>
        </p:spPr>
        <p:txBody>
          <a:bodyPr wrap="square" rtlCol="0" anchor="ctr"/>
          <a:lstStyle/>
          <a:p>
            <a:pPr marL="0" indent="0" algn="l">
              <a:buNone/>
            </a:pPr>
            <a:r>
              <a:rPr lang="en-US" sz="900" b="1" kern="0" spc="100" dirty="0">
                <a:solidFill>
                  <a:srgbClr val="6B7684"/>
                </a:solidFill>
                <a:latin typeface="Poppins" pitchFamily="34" charset="0"/>
                <a:ea typeface="Poppins" pitchFamily="34" charset="-122"/>
                <a:cs typeface="Poppins" pitchFamily="34" charset="-120"/>
              </a:rPr>
              <a:t>WRAP UP</a:t>
            </a:r>
            <a:endParaRPr lang="en-US" sz="900" dirty="0"/>
          </a:p>
        </p:txBody>
      </p:sp>
      <p:sp>
        <p:nvSpPr>
          <p:cNvPr id="21" name="Text 19"/>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6B7684"/>
                </a:solidFill>
                <a:latin typeface="Poppins" pitchFamily="34" charset="0"/>
                <a:ea typeface="Poppins" pitchFamily="34" charset="-122"/>
                <a:cs typeface="Poppins"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B3747"/>
        </a:solidFill>
        <a:effectLst/>
      </p:bgPr>
    </p:bg>
    <p:spTree>
      <p:nvGrpSpPr>
        <p:cNvPr id="1" name=""/>
        <p:cNvGrpSpPr/>
        <p:nvPr/>
      </p:nvGrpSpPr>
      <p:grpSpPr>
        <a:xfrm>
          <a:off x="0" y="0"/>
          <a:ext cx="0" cy="0"/>
          <a:chOff x="0" y="0"/>
          <a:chExt cx="0" cy="0"/>
        </a:xfrm>
      </p:grpSpPr>
      <p:sp>
        <p:nvSpPr>
          <p:cNvPr id="2" name="Shape 0"/>
          <p:cNvSpPr/>
          <p:nvPr/>
        </p:nvSpPr>
        <p:spPr>
          <a:xfrm>
            <a:off x="10725912" y="-1280160"/>
            <a:ext cx="3108960" cy="3108960"/>
          </a:xfrm>
          <a:prstGeom prst="ellipse">
            <a:avLst/>
          </a:prstGeom>
          <a:solidFill>
            <a:srgbClr val="FF7800"/>
          </a:solidFill>
          <a:ln/>
        </p:spPr>
        <p:txBody>
          <a:bodyPr/>
          <a:lstStyle/>
          <a:p>
            <a:endParaRPr lang="en-US"/>
          </a:p>
        </p:txBody>
      </p:sp>
      <p:sp>
        <p:nvSpPr>
          <p:cNvPr id="3" name="Shape 1"/>
          <p:cNvSpPr/>
          <p:nvPr/>
        </p:nvSpPr>
        <p:spPr>
          <a:xfrm>
            <a:off x="-1387626" y="5394960"/>
            <a:ext cx="2560320" cy="2560320"/>
          </a:xfrm>
          <a:prstGeom prst="ellipse">
            <a:avLst/>
          </a:prstGeom>
          <a:solidFill>
            <a:srgbClr val="6FA73F"/>
          </a:solidFill>
          <a:ln/>
        </p:spPr>
        <p:txBody>
          <a:bodyPr/>
          <a:lstStyle/>
          <a:p>
            <a:endParaRPr lang="en-US"/>
          </a:p>
        </p:txBody>
      </p:sp>
      <p:sp>
        <p:nvSpPr>
          <p:cNvPr id="4" name="Text 2"/>
          <p:cNvSpPr/>
          <p:nvPr/>
        </p:nvSpPr>
        <p:spPr>
          <a:xfrm>
            <a:off x="548640" y="548640"/>
            <a:ext cx="5486400" cy="320040"/>
          </a:xfrm>
          <a:prstGeom prst="rect">
            <a:avLst/>
          </a:prstGeom>
          <a:noFill/>
          <a:ln/>
        </p:spPr>
        <p:txBody>
          <a:bodyPr wrap="square" rtlCol="0" anchor="ctr"/>
          <a:lstStyle/>
          <a:p>
            <a:pPr marL="0" indent="0">
              <a:buNone/>
            </a:pPr>
            <a:r>
              <a:rPr lang="en-US" sz="1100" b="1" kern="0" spc="150" dirty="0">
                <a:solidFill>
                  <a:srgbClr val="FF7800"/>
                </a:solidFill>
                <a:latin typeface="Poppins" pitchFamily="34" charset="0"/>
                <a:ea typeface="Poppins" pitchFamily="34" charset="-122"/>
                <a:cs typeface="Poppins" pitchFamily="34" charset="-120"/>
              </a:rPr>
              <a:t>THANK YOU</a:t>
            </a:r>
            <a:endParaRPr lang="en-US" sz="1100" dirty="0"/>
          </a:p>
        </p:txBody>
      </p:sp>
      <p:sp>
        <p:nvSpPr>
          <p:cNvPr id="5" name="Text 3"/>
          <p:cNvSpPr/>
          <p:nvPr/>
        </p:nvSpPr>
        <p:spPr>
          <a:xfrm>
            <a:off x="548640" y="2651760"/>
            <a:ext cx="9144000" cy="1280160"/>
          </a:xfrm>
          <a:prstGeom prst="rect">
            <a:avLst/>
          </a:prstGeom>
          <a:noFill/>
          <a:ln/>
        </p:spPr>
        <p:txBody>
          <a:bodyPr wrap="square" rtlCol="0" anchor="ctr"/>
          <a:lstStyle/>
          <a:p>
            <a:pPr marL="0" indent="0">
              <a:buNone/>
            </a:pPr>
            <a:r>
              <a:rPr lang="en-US" sz="4200" b="1" dirty="0">
                <a:solidFill>
                  <a:srgbClr val="FFFFFF"/>
                </a:solidFill>
                <a:latin typeface="Poppins" pitchFamily="34" charset="0"/>
                <a:ea typeface="Poppins" pitchFamily="34" charset="-122"/>
                <a:cs typeface="Poppins" pitchFamily="34" charset="-120"/>
              </a:rPr>
              <a:t>Questions?</a:t>
            </a:r>
            <a:endParaRPr lang="en-US" sz="4200" dirty="0"/>
          </a:p>
        </p:txBody>
      </p:sp>
      <p:sp>
        <p:nvSpPr>
          <p:cNvPr id="6" name="Text 4"/>
          <p:cNvSpPr/>
          <p:nvPr/>
        </p:nvSpPr>
        <p:spPr>
          <a:xfrm>
            <a:off x="548640" y="3840480"/>
            <a:ext cx="8229600" cy="457200"/>
          </a:xfrm>
          <a:prstGeom prst="rect">
            <a:avLst/>
          </a:prstGeom>
          <a:noFill/>
          <a:ln/>
        </p:spPr>
        <p:txBody>
          <a:bodyPr wrap="square" rtlCol="0" anchor="ctr"/>
          <a:lstStyle/>
          <a:p>
            <a:pPr marL="0" indent="0">
              <a:buNone/>
            </a:pPr>
            <a:r>
              <a:rPr lang="en-US" sz="1500" dirty="0">
                <a:solidFill>
                  <a:srgbClr val="C6CCD4"/>
                </a:solidFill>
                <a:latin typeface="Poppins" pitchFamily="34" charset="0"/>
                <a:ea typeface="Poppins" pitchFamily="34" charset="-122"/>
                <a:cs typeface="Poppins" pitchFamily="34" charset="-120"/>
              </a:rPr>
              <a:t>Beau Gaudron  ·  Growthwise</a:t>
            </a:r>
            <a:endParaRPr lang="en-US" sz="1500" dirty="0"/>
          </a:p>
        </p:txBody>
      </p:sp>
      <p:sp>
        <p:nvSpPr>
          <p:cNvPr id="7" name="Text 5"/>
          <p:cNvSpPr/>
          <p:nvPr/>
        </p:nvSpPr>
        <p:spPr>
          <a:xfrm>
            <a:off x="548640" y="4251960"/>
            <a:ext cx="8229600" cy="457200"/>
          </a:xfrm>
          <a:prstGeom prst="rect">
            <a:avLst/>
          </a:prstGeom>
          <a:noFill/>
          <a:ln/>
        </p:spPr>
        <p:txBody>
          <a:bodyPr wrap="square" rtlCol="0" anchor="ctr"/>
          <a:lstStyle/>
          <a:p>
            <a:pPr marL="0" indent="0">
              <a:buNone/>
            </a:pPr>
            <a:r>
              <a:rPr lang="en-US" sz="1300" dirty="0">
                <a:solidFill>
                  <a:srgbClr val="9AA5B1"/>
                </a:solidFill>
                <a:latin typeface="Poppins" pitchFamily="34" charset="0"/>
                <a:ea typeface="Poppins" pitchFamily="34" charset="-122"/>
                <a:cs typeface="Poppins" pitchFamily="34" charset="-120"/>
              </a:rPr>
              <a:t>LinkedIn: @beaugaudron  ·  growthwise.com.au</a:t>
            </a:r>
            <a:endParaRPr lang="en-US" sz="1300" dirty="0"/>
          </a:p>
        </p:txBody>
      </p:sp>
      <p:sp>
        <p:nvSpPr>
          <p:cNvPr id="9" name="Text 7"/>
          <p:cNvSpPr/>
          <p:nvPr/>
        </p:nvSpPr>
        <p:spPr>
          <a:xfrm>
            <a:off x="11274552" y="6400800"/>
            <a:ext cx="548640" cy="274320"/>
          </a:xfrm>
          <a:prstGeom prst="rect">
            <a:avLst/>
          </a:prstGeom>
          <a:noFill/>
          <a:ln/>
        </p:spPr>
        <p:txBody>
          <a:bodyPr wrap="square" rtlCol="0" anchor="ctr"/>
          <a:lstStyle/>
          <a:p>
            <a:pPr marL="0" indent="0" algn="r">
              <a:buNone/>
            </a:pPr>
            <a:r>
              <a:rPr lang="en-US" sz="900" b="1" dirty="0">
                <a:solidFill>
                  <a:srgbClr val="9AA5B1"/>
                </a:solidFill>
                <a:latin typeface="Poppins" pitchFamily="34" charset="0"/>
                <a:ea typeface="Poppins" pitchFamily="34" charset="-122"/>
                <a:cs typeface="Poppins" pitchFamily="34" charset="-120"/>
              </a:rPr>
              <a:t>24</a:t>
            </a:r>
            <a:endParaRPr lang="en-US" sz="900" dirty="0"/>
          </a:p>
        </p:txBody>
      </p:sp>
      <p:pic>
        <p:nvPicPr>
          <p:cNvPr id="11" name="Picture 10">
            <a:extLst>
              <a:ext uri="{FF2B5EF4-FFF2-40B4-BE49-F238E27FC236}">
                <a16:creationId xmlns:a16="http://schemas.microsoft.com/office/drawing/2014/main" id="{CA1C8846-A25D-5D91-7788-EDADB277E309}"/>
              </a:ext>
            </a:extLst>
          </p:cNvPr>
          <p:cNvPicPr>
            <a:picLocks noChangeAspect="1"/>
          </p:cNvPicPr>
          <p:nvPr/>
        </p:nvPicPr>
        <p:blipFill>
          <a:blip r:embed="rId3"/>
          <a:stretch>
            <a:fillRect/>
          </a:stretch>
        </p:blipFill>
        <p:spPr>
          <a:xfrm>
            <a:off x="5302678" y="6082245"/>
            <a:ext cx="1464723" cy="45422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TotalTime>
  <Words>2051</Words>
  <Application>Microsoft Office PowerPoint</Application>
  <PresentationFormat>Widescreen</PresentationFormat>
  <Paragraphs>312</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Beau Gaudron</cp:lastModifiedBy>
  <cp:revision>6</cp:revision>
  <dcterms:created xsi:type="dcterms:W3CDTF">2026-08-17T22:35:33Z</dcterms:created>
  <dcterms:modified xsi:type="dcterms:W3CDTF">2026-08-18T02:37:38Z</dcterms:modified>
</cp:coreProperties>
</file>